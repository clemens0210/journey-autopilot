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0"/>
  </p:notesMasterIdLst>
  <p:sldIdLst>
    <p:sldId id="282" r:id="rId2"/>
    <p:sldId id="296" r:id="rId3"/>
    <p:sldId id="286" r:id="rId4"/>
    <p:sldId id="325" r:id="rId5"/>
    <p:sldId id="311" r:id="rId6"/>
    <p:sldId id="284" r:id="rId7"/>
    <p:sldId id="314" r:id="rId8"/>
    <p:sldId id="363" r:id="rId9"/>
    <p:sldId id="350" r:id="rId10"/>
    <p:sldId id="289" r:id="rId11"/>
    <p:sldId id="317" r:id="rId12"/>
    <p:sldId id="337" r:id="rId13"/>
    <p:sldId id="361" r:id="rId14"/>
    <p:sldId id="362" r:id="rId15"/>
    <p:sldId id="352" r:id="rId16"/>
    <p:sldId id="353" r:id="rId17"/>
    <p:sldId id="333" r:id="rId18"/>
    <p:sldId id="342" r:id="rId19"/>
  </p:sldIdLst>
  <p:sldSz cx="12192000" cy="6858000"/>
  <p:notesSz cx="6858000" cy="9144000"/>
  <p:embeddedFontLst>
    <p:embeddedFont>
      <p:font typeface="Albert Sans Black" pitchFamily="2" charset="77"/>
      <p:bold r:id="rId21"/>
      <p:italic r:id="rId22"/>
      <p:boldItalic r:id="rId23"/>
    </p:embeddedFont>
    <p:embeddedFont>
      <p:font typeface="Albert Sans Medium" pitchFamily="2" charset="77"/>
      <p:regular r:id="rId24"/>
      <p:italic r:id="rId25"/>
    </p:embeddedFont>
    <p:embeddedFont>
      <p:font typeface="Albert Sans SemiBold" pitchFamily="2" charset="77"/>
      <p:regular r:id="rId26"/>
      <p:bold r:id="rId27"/>
      <p:italic r:id="rId28"/>
      <p:boldItalic r:id="rId29"/>
    </p:embeddedFont>
  </p:embeddedFontLst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849"/>
    <a:srgbClr val="2D9E5B"/>
    <a:srgbClr val="6B7682"/>
    <a:srgbClr val="B5532E"/>
    <a:srgbClr val="E15A52"/>
    <a:srgbClr val="D9A12C"/>
    <a:srgbClr val="00A1C0"/>
    <a:srgbClr val="005076"/>
    <a:srgbClr val="69B5F8"/>
    <a:srgbClr val="619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21569A-C1A1-4771-8BA5-E858E2821D29}" v="3" dt="2026-07-28T09:53:16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95"/>
  </p:normalViewPr>
  <p:slideViewPr>
    <p:cSldViewPr snapToGrid="0">
      <p:cViewPr>
        <p:scale>
          <a:sx n="104" d="100"/>
          <a:sy n="104" d="100"/>
        </p:scale>
        <p:origin x="144" y="4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ags" Target="tags/tag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E479C-8473-5649-B36A-750E7B20C633}" type="datetimeFigureOut">
              <a:rPr lang="de-DE" smtClean="0"/>
              <a:t>05.08.26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E2BE3-FDEB-B245-8AD9-FE155515E7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96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1196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07DF-0292-D973-AB72-8AE6D1F5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850F8FC-675C-7446-9A1A-35BF7A1E8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A750AD-D347-F89D-4873-8EC05D163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805C4A-2127-DB50-015E-4FA31E7EB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234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743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6E88-3BC7-C3EF-464A-B52CC97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78696E-CFC0-F9A3-8413-18F5ED98D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4087D0-C4A0-3003-7D5A-D405BC05D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42877E-3F04-6ECE-94FD-FA39AF275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043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535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73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200"/>
              <a:t>Claude Sonnet 4.6 </a:t>
            </a:r>
            <a:r>
              <a:rPr lang="de-DE" sz="1200" err="1"/>
              <a:t>answer</a:t>
            </a:r>
            <a:r>
              <a:rPr lang="de-DE" sz="1200"/>
              <a:t>: </a:t>
            </a:r>
            <a:r>
              <a:rPr lang="en-US" sz="1200"/>
              <a:t>I want to be genuinely helpful here, but I have to be straight with you:</a:t>
            </a:r>
          </a:p>
          <a:p>
            <a:pPr marL="0" indent="0">
              <a:buNone/>
            </a:pPr>
            <a:r>
              <a:rPr lang="en-US" sz="1200"/>
              <a:t>## I Can't Actually Help With This Right Now</a:t>
            </a:r>
          </a:p>
          <a:p>
            <a:pPr marL="0" indent="0">
              <a:buNone/>
            </a:pPr>
            <a:r>
              <a:rPr lang="en-US" sz="1200"/>
              <a:t>**Here's why:**</a:t>
            </a:r>
          </a:p>
          <a:p>
            <a:pPr marL="0" indent="0">
              <a:buNone/>
            </a:pPr>
            <a:r>
              <a:rPr lang="en-US" sz="1200"/>
              <a:t>- I have **no access to real-time train data** (current delays, live schedules)</a:t>
            </a:r>
          </a:p>
          <a:p>
            <a:pPr marL="0" indent="0">
              <a:buNone/>
            </a:pPr>
            <a:r>
              <a:rPr lang="en-US" sz="1200"/>
              <a:t>- I can't check **DB (Deutsche Bahn) live departures**</a:t>
            </a:r>
          </a:p>
          <a:p>
            <a:pPr marL="0" indent="0">
              <a:buNone/>
            </a:pPr>
            <a:r>
              <a:rPr lang="en-US" sz="1200"/>
              <a:t>- I don't know your **current location, time, or how delayed** the train is</a:t>
            </a:r>
          </a:p>
          <a:p>
            <a:pPr marL="0" indent="0">
              <a:buNone/>
            </a:pPr>
            <a:r>
              <a:rPr lang="en-US" sz="1200"/>
              <a:t>- I can't see **available alternatives** right now</a:t>
            </a:r>
          </a:p>
          <a:p>
            <a:pPr marL="0" indent="0">
              <a:buNone/>
            </a:pPr>
            <a:r>
              <a:rPr lang="en-US" sz="1200"/>
              <a:t>## What You Should Do RIGHT NOW</a:t>
            </a:r>
          </a:p>
          <a:p>
            <a:pPr marL="0" indent="0">
              <a:buNone/>
            </a:pPr>
            <a:r>
              <a:rPr lang="en-US" sz="1200"/>
              <a:t>**1. Check immediately:**</a:t>
            </a:r>
          </a:p>
          <a:p>
            <a:pPr marL="0" indent="0">
              <a:buNone/>
            </a:pPr>
            <a:r>
              <a:rPr lang="en-US" sz="1200"/>
              <a:t>- **DB Navigator app** or **bahn.de** → real-time connections</a:t>
            </a:r>
          </a:p>
          <a:p>
            <a:pPr marL="0" indent="0">
              <a:buNone/>
            </a:pPr>
            <a:r>
              <a:rPr lang="en-US" sz="1200"/>
              <a:t>- Ask **train staff** for the current estimated arrival</a:t>
            </a:r>
          </a:p>
          <a:p>
            <a:pPr marL="0" indent="0">
              <a:buNone/>
            </a:pPr>
            <a:r>
              <a:rPr lang="en-US" sz="1200"/>
              <a:t>**2. Call DB Hotline:**</a:t>
            </a:r>
          </a:p>
          <a:p>
            <a:pPr marL="0" indent="0">
              <a:buNone/>
            </a:pPr>
            <a:r>
              <a:rPr lang="en-US" sz="1200"/>
              <a:t>- 📞 **0800 150 7090** (free, 24/7)</a:t>
            </a:r>
          </a:p>
          <a:p>
            <a:pPr marL="0" indent="0">
              <a:buNone/>
            </a:pPr>
            <a:r>
              <a:rPr lang="en-US" sz="1200"/>
              <a:t>- They can rebook you on the fastest alternative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/>
              <a:t>**3. Consider alternatives if delay is severe:**</a:t>
            </a:r>
          </a:p>
          <a:p>
            <a:pPr marL="0" indent="0">
              <a:buNone/>
            </a:pPr>
            <a:r>
              <a:rPr lang="en-US" sz="1200"/>
              <a:t>- Earlier/faster ICE on the same route</a:t>
            </a:r>
          </a:p>
          <a:p>
            <a:pPr marL="0" indent="0">
              <a:buNone/>
            </a:pPr>
            <a:r>
              <a:rPr lang="en-US" sz="1200"/>
              <a:t>- **Flight** (Munich → Berlin ~1h, check Lufthansa/Ryanair)</a:t>
            </a:r>
          </a:p>
          <a:p>
            <a:pPr marL="0" indent="0">
              <a:buNone/>
            </a:pPr>
            <a:r>
              <a:rPr lang="en-US" sz="1200"/>
              <a:t>- Inform your Berlin contact **now** so they can prepare a backup plan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/>
              <a:t>**4. Protect yourself:**</a:t>
            </a:r>
          </a:p>
          <a:p>
            <a:pPr marL="0" indent="0">
              <a:buNone/>
            </a:pPr>
            <a:r>
              <a:rPr lang="en-US" sz="1200"/>
              <a:t>- If delay &gt;60min, you're entitled to **compensation under EU rail rules**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/>
              <a:t>---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/>
              <a:t>**The single most useful thing I'd need to help you plan:** What time is it now, and how delayed is the train? Even then, please verify with DB directly for live data.</a:t>
            </a:r>
            <a:endParaRPr lang="de-DE" sz="1200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7044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4BC67-9B79-EF75-0AF0-8F81DF93E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948"/>
            <a:ext cx="9561843" cy="2133241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accent1"/>
                </a:solidFill>
                <a:latin typeface="Albert Sans Black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526B7D-4039-F443-1E7D-319E5DF86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accent6"/>
                </a:solidFill>
                <a:latin typeface="Albert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7BBDAD-58CA-FBFC-962B-8788EF0E3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465" y="550977"/>
            <a:ext cx="3033077" cy="136769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02AF2BB-2CD2-4D94-98F3-D812D58D6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6880" y="5786120"/>
            <a:ext cx="1686560" cy="1071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lbert Sans Medium" pitchFamily="2" charset="0"/>
            </a:endParaRP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BD1182-8153-47B0-8C09-8B01CE0F6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</p:spPr>
        <p:txBody>
          <a:bodyPr/>
          <a:lstStyle>
            <a:lvl1pPr>
              <a:defRPr>
                <a:latin typeface="Albert Sans Medium" pitchFamily="2" charset="0"/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0AAD-253B-4D87-9A9A-18D772FDF4B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76228" y="6308734"/>
            <a:ext cx="1221711" cy="244830"/>
          </a:xfrm>
        </p:spPr>
        <p:txBody>
          <a:bodyPr/>
          <a:lstStyle>
            <a:lvl1pPr>
              <a:defRPr>
                <a:latin typeface="Albert Sans Medium" pitchFamily="2" charset="0"/>
              </a:defRPr>
            </a:lvl1pPr>
          </a:lstStyle>
          <a:p>
            <a:fld id="{C44814BE-1716-ED44-B468-38C40CBD7AB5}" type="datetime1">
              <a:rPr lang="de-DE" smtClean="0"/>
              <a:t>05.08.26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740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94" userDrawn="1">
          <p15:clr>
            <a:srgbClr val="FBAE40"/>
          </p15:clr>
        </p15:guide>
        <p15:guide id="4" orient="horz" pos="913" userDrawn="1">
          <p15:clr>
            <a:srgbClr val="FBAE40"/>
          </p15:clr>
        </p15:guide>
        <p15:guide id="5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849ABC20-F75F-4E1D-BD15-DBC9D6909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948"/>
            <a:ext cx="9561843" cy="2133241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Albert Sans Black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C0968FB3-E8DB-458A-A4F8-BFA34FFE8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lbert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lbert Sans Medium" pitchFamily="2" charset="0"/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lbert Sans Medium" pitchFamily="2" charset="0"/>
              </a:defRPr>
            </a:lvl1pPr>
          </a:lstStyle>
          <a:p>
            <a:fld id="{5560698C-4A67-E648-805B-AE7810B41442}" type="datetime1">
              <a:rPr lang="de-DE" smtClean="0"/>
              <a:t>05.08.26</a:t>
            </a:fld>
            <a:endParaRPr lang="de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lbert Sans Medium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FD1DD12-F043-4583-B836-133EAD4FE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603" y="554646"/>
            <a:ext cx="3016801" cy="136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bg>
      <p:bgPr>
        <a:solidFill>
          <a:srgbClr val="619E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162475E-C213-438E-BB37-4F3ED8A69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DC936E9E-59F5-471F-A631-941270C81F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616" t="-45931" r="12815" b="12339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15E9D18-F2CB-4662-8EBA-659941955F9A}"/>
                </a:ext>
              </a:extLst>
            </p:cNvPr>
            <p:cNvSpPr/>
            <p:nvPr userDrawn="1"/>
          </p:nvSpPr>
          <p:spPr>
            <a:xfrm>
              <a:off x="0" y="2168872"/>
              <a:ext cx="12192000" cy="2695227"/>
            </a:xfrm>
            <a:prstGeom prst="rect">
              <a:avLst/>
            </a:prstGeom>
            <a:gradFill flip="none" rotWithShape="1">
              <a:gsLst>
                <a:gs pos="0">
                  <a:srgbClr val="619ECF">
                    <a:alpha val="0"/>
                  </a:srgbClr>
                </a:gs>
                <a:gs pos="86000">
                  <a:srgbClr val="619ECF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  <a:latin typeface="Albert Sans Medium" pitchFamily="2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80ABACE3-7650-415C-BEB6-3AC3C3EFBBC7}"/>
                </a:ext>
              </a:extLst>
            </p:cNvPr>
            <p:cNvSpPr/>
            <p:nvPr userDrawn="1"/>
          </p:nvSpPr>
          <p:spPr>
            <a:xfrm>
              <a:off x="0" y="4162772"/>
              <a:ext cx="6838950" cy="2695227"/>
            </a:xfrm>
            <a:prstGeom prst="rect">
              <a:avLst/>
            </a:prstGeom>
            <a:gradFill flip="none" rotWithShape="1">
              <a:gsLst>
                <a:gs pos="75000">
                  <a:srgbClr val="002060">
                    <a:alpha val="0"/>
                  </a:srgbClr>
                </a:gs>
                <a:gs pos="100000">
                  <a:schemeClr val="accent1">
                    <a:lumMod val="100000"/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  <a:latin typeface="Albert Sans Medium" pitchFamily="2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524BC67-9B79-EF75-0AF0-8F81DF93E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716"/>
            <a:ext cx="9561843" cy="2133473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Albert Sans Black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526B7D-4039-F443-1E7D-319E5DF86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lbert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BD1182-8153-47B0-8C09-8B01CE0F6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40000"/>
                    </a:prstClr>
                  </a:outerShdw>
                </a:effectLst>
                <a:latin typeface="Albert Sans Medium" pitchFamily="2" charset="0"/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0AAD-253B-4D87-9A9A-18D772FDF4B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76228" y="6308734"/>
            <a:ext cx="1221711" cy="24483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40000"/>
                    </a:prstClr>
                  </a:outerShdw>
                </a:effectLst>
                <a:latin typeface="Albert Sans Medium" pitchFamily="2" charset="0"/>
              </a:defRPr>
            </a:lvl1pPr>
          </a:lstStyle>
          <a:p>
            <a:fld id="{0FDFD3AB-3111-7A42-80DC-9CE32E8A8094}" type="datetime1">
              <a:rPr lang="de-DE" smtClean="0"/>
              <a:t>05.08.26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7CBD1EB-984B-43BE-9711-A80AE54FB0C1}"/>
              </a:ext>
            </a:extLst>
          </p:cNvPr>
          <p:cNvSpPr txBox="1"/>
          <p:nvPr userDrawn="1"/>
        </p:nvSpPr>
        <p:spPr>
          <a:xfrm rot="16200000">
            <a:off x="11150600" y="2184400"/>
            <a:ext cx="1866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accent1"/>
                </a:solidFill>
                <a:latin typeface="Albert Sans Medium" pitchFamily="2" charset="0"/>
              </a:rPr>
              <a:t>Foto: Gregor Hübl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97F438F-8AFB-4F77-B370-9432B72DF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603" y="554646"/>
            <a:ext cx="3016801" cy="136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48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913">
          <p15:clr>
            <a:srgbClr val="FBAE40"/>
          </p15:clr>
        </p15:guide>
        <p15:guide id="5" orient="horz" pos="6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B3FC9CDE-4414-3EAA-F594-B1C3BC6D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3F2ED0D-59AA-1DCB-151E-733D18A5D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10954833" cy="416739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BD6E6C-07E6-4F88-B45C-2056E3E3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Institut / Lehrstuhl / Dezernat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E864DA7-6C02-419E-8405-6BE90083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AFC02-C414-3E45-90CC-D6832343114F}" type="datetime1">
              <a:rPr lang="de-DE" smtClean="0"/>
              <a:t>05.08.26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0C6C7F-0833-4D5B-A2C2-173B6B37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40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161F6ED-13E4-2CB0-1F6C-B6D2D7BDB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B3FC9CDE-4414-3EAA-F594-B1C3BC6D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3F2ED0D-59AA-1DCB-151E-733D18A5D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10954833" cy="4167393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BD6E6C-07E6-4F88-B45C-2056E3E3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E864DA7-6C02-419E-8405-6BE90083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9D0A7E8-3E9C-ED46-B394-54AAD68B5B2E}" type="datetime1">
              <a:rPr lang="de-DE" smtClean="0"/>
              <a:t>05.08.26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0C6C7F-0833-4D5B-A2C2-173B6B37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FEA7462-08A9-294E-A8E9-D2EABF07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80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1D6858F6-5929-23CF-45F8-6B80487D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2830F-D331-528E-5294-480952523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5202867" cy="416739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9DA8AEF-4502-44C8-BCAE-522C934A6EA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38271" y="1930624"/>
            <a:ext cx="5202867" cy="416739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E977AD6-F42B-468B-AD89-A2B1DA6E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Institut / Lehrstuhl / Dezernat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947893-609E-4FD1-A221-D8EA9C77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9B90-18C8-F24B-93D1-A1E1E5CD2E4F}" type="datetime1">
              <a:rPr lang="de-DE" smtClean="0"/>
              <a:t>05.08.26</a:t>
            </a:fld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C5764AD6-4554-4A6B-9E6D-4A131628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850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93FE31-9B45-80CA-27CA-5035B2AB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1D6858F6-5929-23CF-45F8-6B80487D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2830F-D331-528E-5294-480952523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5202867" cy="4167393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9DA8AEF-4502-44C8-BCAE-522C934A6EA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38271" y="1930624"/>
            <a:ext cx="5202867" cy="4167393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E977AD6-F42B-468B-AD89-A2B1DA6E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947893-609E-4FD1-A221-D8EA9C77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19D226-03DD-5E47-A131-7483BE819653}" type="datetime1">
              <a:rPr lang="de-DE" smtClean="0"/>
              <a:t>05.08.26</a:t>
            </a:fld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C5764AD6-4554-4A6B-9E6D-4A131628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951F892-950A-7624-D809-6277A726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2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689688D5-31CC-8F2D-A204-458401BB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2830F-D331-528E-5294-480952523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5181600" cy="416739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FCA0A4F3-F587-7736-0D65-8C49FA103C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925638"/>
            <a:ext cx="6096000" cy="4167187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de-DE"/>
              <a:t>Hier können Sie ein Bild einfügen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5C21017-6096-429D-B5EA-A79AA139C5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7738" y="6092825"/>
            <a:ext cx="4343400" cy="215909"/>
          </a:xfrm>
        </p:spPr>
        <p:txBody>
          <a:bodyPr anchor="ctr">
            <a:noAutofit/>
          </a:bodyPr>
          <a:lstStyle>
            <a:lvl1pPr marL="0" indent="0" algn="r">
              <a:buNone/>
              <a:defRPr sz="800">
                <a:solidFill>
                  <a:schemeClr val="bg2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Foto: Bildnachweis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94070B-692A-47CC-9F84-5FC408B781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Institut / Lehrstuhl / Dezernat 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9300D5A-2358-4BDE-8AD0-414C4ED611F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4887DAD-7431-6746-8BC3-E81692C84D00}" type="datetime1">
              <a:rPr lang="de-DE" smtClean="0"/>
              <a:t>05.08.26</a:t>
            </a:fld>
            <a:endParaRPr lang="de-DE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6F22E22-B305-4BA3-A40C-CD4F970AE3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26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FF2007F-67D9-3AED-CE99-8BC61C37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89688D5-31CC-8F2D-A204-458401BB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2830F-D331-528E-5294-480952523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5181600" cy="4167393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FCA0A4F3-F587-7736-0D65-8C49FA103C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925638"/>
            <a:ext cx="6096000" cy="4167187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de-DE"/>
              <a:t>Hier können Sie ein Bild einfügen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5C21017-6096-429D-B5EA-A79AA139C5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7738" y="6092825"/>
            <a:ext cx="4343400" cy="215909"/>
          </a:xfrm>
        </p:spPr>
        <p:txBody>
          <a:bodyPr anchor="ctr">
            <a:noAutofit/>
          </a:bodyPr>
          <a:lstStyle>
            <a:lvl1pPr marL="0" indent="0" algn="r">
              <a:buNone/>
              <a:defRPr sz="8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Foto: Bildnachweis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94070B-692A-47CC-9F84-5FC408B781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9300D5A-2358-4BDE-8AD0-414C4ED611F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6EDCC9-6301-244E-89B3-9BF6866808EA}" type="datetime1">
              <a:rPr lang="de-DE" smtClean="0"/>
              <a:t>05.08.26</a:t>
            </a:fld>
            <a:endParaRPr lang="de-DE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6F22E22-B305-4BA3-A40C-CD4F970AE3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67D268-8FE9-8E82-B013-52CACE8C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1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bg1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846603"/>
            <a:ext cx="8202613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4C4BB-977F-7F42-A2BF-5B08FAE1D6AC}" type="datetime1">
              <a:rPr lang="de-DE" smtClean="0"/>
              <a:t>05.08.26</a:t>
            </a:fld>
            <a:endParaRPr lang="de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9C29918-CB2F-4B95-8F78-CDB747560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6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accent4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2846603"/>
            <a:ext cx="8202612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 </a:t>
            </a:r>
            <a:r>
              <a:rPr lang="de-DE" err="1"/>
              <a:t>format</a:t>
            </a:r>
            <a:r>
              <a:rPr lang="de-DE"/>
              <a:t>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480F70C-0444-B444-9BEC-5F34AD6D1E28}" type="datetime1">
              <a:rPr lang="de-DE" smtClean="0"/>
              <a:t>05.08.26</a:t>
            </a:fld>
            <a:endParaRPr lang="de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2A2A40-5F05-4D0F-A092-D8D65B26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71216" y="-1026339"/>
            <a:ext cx="4300683" cy="4300683"/>
          </a:xfrm>
          <a:prstGeom prst="ellipse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670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1.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bg1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846603"/>
            <a:ext cx="5210175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 </a:t>
            </a:r>
            <a:r>
              <a:rPr lang="de-DE" err="1"/>
              <a:t>format</a:t>
            </a:r>
            <a:r>
              <a:rPr lang="de-DE"/>
              <a:t>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C4A378-4146-DC45-9FA4-BFB3A67ED5CD}" type="datetime1">
              <a:rPr lang="de-DE" smtClean="0"/>
              <a:t>05.08.26</a:t>
            </a:fld>
            <a:endParaRPr lang="de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8EFC909-035C-4262-9908-EF1702D9EF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3212" y="968591"/>
            <a:ext cx="4730751" cy="4730749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>
                <a:solidFill>
                  <a:schemeClr val="accent3"/>
                </a:solidFill>
              </a:defRPr>
            </a:lvl1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de-DE"/>
              <a:t>Hier können Sie ein Bild einfügen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DCBB7A7-D78F-49F8-BEF4-049208F844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7738" y="6092825"/>
            <a:ext cx="4343400" cy="215909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Foto: Hier können Sie einen Bildnachweis einfügen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D4CF2CF-DA22-47FD-B9AC-5AD97AF32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98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accent4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846603"/>
            <a:ext cx="5210175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 </a:t>
            </a:r>
            <a:r>
              <a:rPr lang="de-DE" err="1"/>
              <a:t>format</a:t>
            </a:r>
            <a:r>
              <a:rPr lang="de-DE"/>
              <a:t>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165D24D-ACB2-B049-BEA9-93570D3DE868}" type="datetime1">
              <a:rPr lang="de-DE" smtClean="0"/>
              <a:t>05.08.26</a:t>
            </a:fld>
            <a:endParaRPr lang="de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8EFC909-035C-4262-9908-EF1702D9EF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3212" y="968591"/>
            <a:ext cx="4730751" cy="4730749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>
                <a:solidFill>
                  <a:schemeClr val="accent4"/>
                </a:solidFill>
              </a:defRPr>
            </a:lvl1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de-DE"/>
              <a:t>Hier können Sie ein Bild einfügen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DCBB7A7-D78F-49F8-BEF4-049208F844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7738" y="6092825"/>
            <a:ext cx="4343400" cy="215909"/>
          </a:xfrm>
        </p:spPr>
        <p:txBody>
          <a:bodyPr anchor="ctr">
            <a:noAutofit/>
          </a:bodyPr>
          <a:lstStyle>
            <a:lvl1pPr marL="0" marR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 sz="800">
                <a:solidFill>
                  <a:schemeClr val="bg2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Foto: Hier können Sie einen Bildnachweis einfügen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6D148F8-63C5-46C5-A34B-F98FD4597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71216" y="-1026339"/>
            <a:ext cx="4300683" cy="4300683"/>
          </a:xfrm>
          <a:prstGeom prst="ellipse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2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470D71-D16E-50A0-925D-BA830252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F9142C-32A3-29E3-FA58-AB5F5D1D7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600" y="1922400"/>
            <a:ext cx="10953538" cy="41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9B9DB8-3727-FEA1-3D37-DE24327B5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6227" y="6323366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 Medium" pitchFamily="2" charset="0"/>
              </a:defRPr>
            </a:lvl1pPr>
          </a:lstStyle>
          <a:p>
            <a:fld id="{68EB6843-3694-E543-9CD4-D5EBE2D591DF}" type="datetime1">
              <a:rPr lang="de-DE" smtClean="0"/>
              <a:t>05.08.26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071991-F9E6-D3A5-AE88-C9E13C745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7938" y="6323366"/>
            <a:ext cx="2743200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100" b="1" i="0">
                <a:solidFill>
                  <a:schemeClr val="bg2"/>
                </a:solidFill>
                <a:latin typeface="Albert Sans Black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625F8F00-DDB6-EAC2-94F0-6E3DE7068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323366"/>
            <a:ext cx="5169436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 Medium" pitchFamily="2" charset="0"/>
              </a:defRPr>
            </a:lvl1pPr>
          </a:lstStyle>
          <a:p>
            <a:r>
              <a:rPr lang="de-DE"/>
              <a:t>Institut / Lehrstuhl / Dezernat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F3BDEE-35A9-44DE-B226-BF27396B4EF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22141" y="6136103"/>
            <a:ext cx="1373522" cy="6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6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1" r:id="rId3"/>
    <p:sldLayoutId id="2147483650" r:id="rId4"/>
    <p:sldLayoutId id="2147483666" r:id="rId5"/>
    <p:sldLayoutId id="2147483660" r:id="rId6"/>
    <p:sldLayoutId id="2147483667" r:id="rId7"/>
    <p:sldLayoutId id="2147483652" r:id="rId8"/>
    <p:sldLayoutId id="2147483668" r:id="rId9"/>
    <p:sldLayoutId id="2147483651" r:id="rId10"/>
    <p:sldLayoutId id="2147483664" r:id="rId11"/>
    <p:sldLayoutId id="2147483662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baseline="0">
          <a:solidFill>
            <a:schemeClr val="accent1"/>
          </a:solidFill>
          <a:latin typeface="Albert Sans Black" pitchFamily="2" charset="0"/>
          <a:ea typeface="+mj-ea"/>
          <a:cs typeface="+mj-cs"/>
        </a:defRPr>
      </a:lvl1pPr>
    </p:titleStyle>
    <p:bodyStyle>
      <a:lvl1pPr marL="2286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 Medium" pitchFamily="2" charset="0"/>
          <a:ea typeface="+mn-ea"/>
          <a:cs typeface="Albert Sans Medium" pitchFamily="2" charset="0"/>
        </a:defRPr>
      </a:lvl1pPr>
      <a:lvl2pPr marL="446400" indent="-228600" algn="l" defTabSz="73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 Medium" pitchFamily="2" charset="0"/>
          <a:ea typeface="+mn-ea"/>
          <a:cs typeface="Albert Sans Medium" pitchFamily="2" charset="0"/>
        </a:defRPr>
      </a:lvl2pPr>
      <a:lvl3pPr marL="6750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 Medium" pitchFamily="2" charset="0"/>
          <a:ea typeface="+mn-ea"/>
          <a:cs typeface="Albert Sans Medium" pitchFamily="2" charset="0"/>
        </a:defRPr>
      </a:lvl3pPr>
      <a:lvl4pPr marL="8802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 Medium" pitchFamily="2" charset="0"/>
          <a:ea typeface="+mn-ea"/>
          <a:cs typeface="Albert Sans Medium" pitchFamily="2" charset="0"/>
        </a:defRPr>
      </a:lvl4pPr>
      <a:lvl5pPr marL="11214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 Medium" pitchFamily="2" charset="0"/>
          <a:ea typeface="+mn-ea"/>
          <a:cs typeface="Albert Sans Medium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  <p15:guide id="5" orient="horz" pos="1207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5" Type="http://schemas.openxmlformats.org/officeDocument/2006/relationships/image" Target="../media/image7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microsoft.com/office/2007/relationships/hdphoto" Target="../media/hdphoto1.wdp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5.png"/><Relationship Id="rId4" Type="http://schemas.microsoft.com/office/2007/relationships/hdphoto" Target="../media/hdphoto1.wdp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4ACEFF85-51A8-4DF8-B5ED-F433085BF5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/>
              <a:t>Project Presentation</a:t>
            </a:r>
          </a:p>
        </p:txBody>
      </p:sp>
      <p:sp>
        <p:nvSpPr>
          <p:cNvPr id="11" name="Untertitel 10">
            <a:extLst>
              <a:ext uri="{FF2B5EF4-FFF2-40B4-BE49-F238E27FC236}">
                <a16:creationId xmlns:a16="http://schemas.microsoft.com/office/drawing/2014/main" id="{72AA3709-7964-4DD8-AB39-1F377BB56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Building a Journey Autopilot with BCG &amp; DB</a:t>
            </a:r>
          </a:p>
        </p:txBody>
      </p:sp>
      <p:pic>
        <p:nvPicPr>
          <p:cNvPr id="3" name="Grafik 2" descr="Insiderbericht: IT-Manager bei BCG Platinion | SQUEAKER">
            <a:extLst>
              <a:ext uri="{FF2B5EF4-FFF2-40B4-BE49-F238E27FC236}">
                <a16:creationId xmlns:a16="http://schemas.microsoft.com/office/drawing/2014/main" id="{805BCBC6-AF00-767D-5704-160E62C4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479" y="723535"/>
            <a:ext cx="3015659" cy="84226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8E585BD-1B33-EB82-7B90-1B032E61D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661" y="808074"/>
            <a:ext cx="1093652" cy="765556"/>
          </a:xfrm>
          <a:prstGeom prst="rect">
            <a:avLst/>
          </a:prstGeom>
        </p:spPr>
      </p:pic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96A94CDE-F183-F40C-2280-D3A8696313A6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88001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8D69A-C4DB-4BFB-C3B0-C0C913BE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The Team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395BFC2-F6F7-7E4C-992C-B64B3238390B}"/>
              </a:ext>
            </a:extLst>
          </p:cNvPr>
          <p:cNvSpPr txBox="1"/>
          <p:nvPr/>
        </p:nvSpPr>
        <p:spPr>
          <a:xfrm>
            <a:off x="609917" y="4419890"/>
            <a:ext cx="2241036" cy="34860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b="1" noProof="1">
                <a:solidFill>
                  <a:srgbClr val="005176"/>
                </a:solidFill>
              </a:rPr>
              <a:t>Laurin Breuer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8DF50C5-686F-F948-83B0-E7B89C142FE9}"/>
              </a:ext>
            </a:extLst>
          </p:cNvPr>
          <p:cNvSpPr txBox="1"/>
          <p:nvPr/>
        </p:nvSpPr>
        <p:spPr>
          <a:xfrm>
            <a:off x="2849929" y="4419890"/>
            <a:ext cx="2241036" cy="34860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b="1" noProof="1">
                <a:solidFill>
                  <a:srgbClr val="005176"/>
                </a:solidFill>
              </a:rPr>
              <a:t>Martin Nikoljacic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494D012-346E-DB4C-9D87-59B91B40F09F}"/>
              </a:ext>
            </a:extLst>
          </p:cNvPr>
          <p:cNvSpPr txBox="1"/>
          <p:nvPr/>
        </p:nvSpPr>
        <p:spPr>
          <a:xfrm>
            <a:off x="5089941" y="4419890"/>
            <a:ext cx="2241036" cy="34860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b="1" noProof="1">
                <a:solidFill>
                  <a:srgbClr val="005176"/>
                </a:solidFill>
              </a:rPr>
              <a:t>Christian Sahler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6ED34C1-B436-2D4F-BB06-E07E82173012}"/>
              </a:ext>
            </a:extLst>
          </p:cNvPr>
          <p:cNvSpPr txBox="1"/>
          <p:nvPr/>
        </p:nvSpPr>
        <p:spPr>
          <a:xfrm>
            <a:off x="7329953" y="4419890"/>
            <a:ext cx="2241036" cy="34860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b="1" noProof="1">
                <a:solidFill>
                  <a:srgbClr val="005176"/>
                </a:solidFill>
              </a:rPr>
              <a:t>Clemens Schädel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22B5AC8-18F2-394A-895D-E656FA6C531D}"/>
              </a:ext>
            </a:extLst>
          </p:cNvPr>
          <p:cNvSpPr txBox="1"/>
          <p:nvPr/>
        </p:nvSpPr>
        <p:spPr>
          <a:xfrm>
            <a:off x="9569964" y="4419890"/>
            <a:ext cx="2241035" cy="34860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b="1" noProof="1">
                <a:solidFill>
                  <a:srgbClr val="005176"/>
                </a:solidFill>
              </a:rPr>
              <a:t>Hendrik Mehl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286376-EAB5-B5C7-9794-215E86731A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75" t="1223" r="19381" b="13510"/>
          <a:stretch>
            <a:fillRect/>
          </a:stretch>
        </p:blipFill>
        <p:spPr>
          <a:xfrm>
            <a:off x="798035" y="2422161"/>
            <a:ext cx="1864800" cy="1864800"/>
          </a:xfrm>
          <a:prstGeom prst="ellipse">
            <a:avLst/>
          </a:prstGeom>
          <a:solidFill>
            <a:srgbClr val="EAF2F5"/>
          </a:solidFill>
          <a:ln w="3810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1031B70-4869-905C-A5C4-2F25DF69AE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24" t="1706" r="9429" b="15349"/>
          <a:stretch>
            <a:fillRect/>
          </a:stretch>
        </p:blipFill>
        <p:spPr>
          <a:xfrm>
            <a:off x="3038047" y="2422161"/>
            <a:ext cx="1864800" cy="1864800"/>
          </a:xfrm>
          <a:prstGeom prst="ellipse">
            <a:avLst/>
          </a:prstGeom>
          <a:solidFill>
            <a:srgbClr val="EAF2F5"/>
          </a:solidFill>
          <a:ln w="3810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10" name="Grafik 9" descr="Profilfoto">
            <a:extLst>
              <a:ext uri="{FF2B5EF4-FFF2-40B4-BE49-F238E27FC236}">
                <a16:creationId xmlns:a16="http://schemas.microsoft.com/office/drawing/2014/main" id="{F7CED514-0ED9-DADF-716E-E17A9F2D58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57" t="2129" r="1373" b="4701"/>
          <a:stretch>
            <a:fillRect/>
          </a:stretch>
        </p:blipFill>
        <p:spPr>
          <a:xfrm>
            <a:off x="9758081" y="2422161"/>
            <a:ext cx="1864800" cy="1864800"/>
          </a:xfrm>
          <a:prstGeom prst="ellipse">
            <a:avLst/>
          </a:prstGeom>
          <a:solidFill>
            <a:srgbClr val="EAF2F5"/>
          </a:solidFill>
          <a:ln w="3810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34DC9403-A53C-AD68-1735-F8FFC12C6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8061" y="550977"/>
            <a:ext cx="3033077" cy="1367691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63132A8E-E588-D956-0056-CF467E2B922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90" t="5757" r="-590" b="19341"/>
          <a:stretch>
            <a:fillRect/>
          </a:stretch>
        </p:blipFill>
        <p:spPr>
          <a:xfrm>
            <a:off x="5278059" y="2422161"/>
            <a:ext cx="1864800" cy="1864800"/>
          </a:xfrm>
          <a:prstGeom prst="ellipse">
            <a:avLst/>
          </a:prstGeom>
          <a:solidFill>
            <a:srgbClr val="EAF2F5"/>
          </a:solidFill>
          <a:ln w="3810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D554695-5EBB-08FB-6A17-22E497E8650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355" r="9164" b="20518"/>
          <a:stretch>
            <a:fillRect/>
          </a:stretch>
        </p:blipFill>
        <p:spPr>
          <a:xfrm>
            <a:off x="7518071" y="2422161"/>
            <a:ext cx="1864800" cy="1864800"/>
          </a:xfrm>
          <a:prstGeom prst="ellipse">
            <a:avLst/>
          </a:prstGeom>
          <a:solidFill>
            <a:srgbClr val="EAF2F5"/>
          </a:solidFill>
          <a:ln w="38100" cap="flat" cmpd="sng" algn="ctr">
            <a:solidFill>
              <a:srgbClr val="005176"/>
            </a:solidFill>
            <a:prstDash val="solid"/>
            <a:miter lim="800000"/>
          </a:ln>
        </p:spPr>
      </p:pic>
      <p:sp>
        <p:nvSpPr>
          <p:cNvPr id="37" name="Fußzeilenplatzhalter 5">
            <a:extLst>
              <a:ext uri="{FF2B5EF4-FFF2-40B4-BE49-F238E27FC236}">
                <a16:creationId xmlns:a16="http://schemas.microsoft.com/office/drawing/2014/main" id="{F67693F4-CF9A-07D0-816C-AC224B245627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  <p:sp>
        <p:nvSpPr>
          <p:cNvPr id="40" name="Foliennummernplatzhalter 39">
            <a:extLst>
              <a:ext uri="{FF2B5EF4-FFF2-40B4-BE49-F238E27FC236}">
                <a16:creationId xmlns:a16="http://schemas.microsoft.com/office/drawing/2014/main" id="{901BFF65-3E56-E347-17E3-ABE3EF6D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00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B7D789-ED31-4A47-ADE2-9783A00E5D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01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127926A9-FBC0-4654-A130-6EF634A4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RECAP &amp; PLAN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B8CDF64-0054-4E03-8201-333B234BA3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2" name="Fußzeilenplatzhalter 5">
            <a:extLst>
              <a:ext uri="{FF2B5EF4-FFF2-40B4-BE49-F238E27FC236}">
                <a16:creationId xmlns:a16="http://schemas.microsoft.com/office/drawing/2014/main" id="{A188DB61-4860-039F-B83E-6F8D2A88087E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>
                <a:solidFill>
                  <a:schemeClr val="bg1"/>
                </a:solidFill>
              </a:rPr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252126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9511A-7EFE-3707-34A4-D729DF3F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vision across 6 dimensions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8E5565-81B0-1270-F03E-848734CE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200" name="Vision Statement"/>
          <p:cNvSpPr/>
          <p:nvPr/>
        </p:nvSpPr>
        <p:spPr>
          <a:xfrm>
            <a:off x="685800" y="1905000"/>
            <a:ext cx="10960100" cy="72979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2600" b="1">
                <a:solidFill>
                  <a:srgbClr val="005176"/>
                </a:solidFill>
              </a:rPr>
              <a:t>“Turning every disruption into a solved problem for rail customers”</a:t>
            </a:r>
          </a:p>
        </p:txBody>
      </p:sp>
      <p:sp>
        <p:nvSpPr>
          <p:cNvPr id="210" name="Feature Card 1"/>
          <p:cNvSpPr/>
          <p:nvPr/>
        </p:nvSpPr>
        <p:spPr>
          <a:xfrm>
            <a:off x="8137525" y="2904278"/>
            <a:ext cx="3517900" cy="14224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558800" rIns="152400" bIns="762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Calendar Integration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Preference profile and Outlook calendar reveal every travel constraint</a:t>
            </a:r>
          </a:p>
        </p:txBody>
      </p:sp>
      <p:sp>
        <p:nvSpPr>
          <p:cNvPr id="211" name="Feature Card 2"/>
          <p:cNvSpPr/>
          <p:nvPr/>
        </p:nvSpPr>
        <p:spPr>
          <a:xfrm>
            <a:off x="695325" y="2904278"/>
            <a:ext cx="3517900" cy="14224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558800" rIns="152400" bIns="762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Disruption Monitoring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Predicts delay risk hours ahead from live operational data</a:t>
            </a:r>
          </a:p>
        </p:txBody>
      </p:sp>
      <p:sp>
        <p:nvSpPr>
          <p:cNvPr id="212" name="Feature Card 3"/>
          <p:cNvSpPr/>
          <p:nvPr/>
        </p:nvSpPr>
        <p:spPr>
          <a:xfrm>
            <a:off x="4416425" y="2904278"/>
            <a:ext cx="3517900" cy="14224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558800" rIns="152400" bIns="762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Replanning &amp; Rerouting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Ranks alternative DB routes against personal preferences</a:t>
            </a:r>
          </a:p>
        </p:txBody>
      </p:sp>
      <p:sp>
        <p:nvSpPr>
          <p:cNvPr id="213" name="Feature Card 4"/>
          <p:cNvSpPr/>
          <p:nvPr/>
        </p:nvSpPr>
        <p:spPr>
          <a:xfrm>
            <a:off x="685800" y="4504478"/>
            <a:ext cx="3517900" cy="14224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558800" rIns="152400" bIns="762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Compensation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Detects passenger rights claims and files them automatically</a:t>
            </a:r>
          </a:p>
        </p:txBody>
      </p:sp>
      <p:sp>
        <p:nvSpPr>
          <p:cNvPr id="214" name="Feature Card 5"/>
          <p:cNvSpPr/>
          <p:nvPr/>
        </p:nvSpPr>
        <p:spPr>
          <a:xfrm>
            <a:off x="4406900" y="4504478"/>
            <a:ext cx="3517900" cy="14224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558800" rIns="152400" bIns="762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Stakeholder Communication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Proactive updates via WhatsApp and e-mail – user keeps veto control</a:t>
            </a:r>
          </a:p>
        </p:txBody>
      </p:sp>
      <p:sp>
        <p:nvSpPr>
          <p:cNvPr id="215" name="Feature Card 6"/>
          <p:cNvSpPr/>
          <p:nvPr/>
        </p:nvSpPr>
        <p:spPr>
          <a:xfrm>
            <a:off x="8128000" y="4504478"/>
            <a:ext cx="3517900" cy="14224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558800" rIns="152400" bIns="762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Booking &amp; Ext. Options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Hotels, Flinkster, Call-a-Bike and taxis when trains cannot run</a:t>
            </a:r>
          </a:p>
        </p:txBody>
      </p:sp>
      <p:pic>
        <p:nvPicPr>
          <p:cNvPr id="216" name="Graphic 2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9925" y="3031278"/>
            <a:ext cx="330200" cy="330200"/>
          </a:xfrm>
          <a:prstGeom prst="rect">
            <a:avLst/>
          </a:prstGeom>
        </p:spPr>
      </p:pic>
      <p:pic>
        <p:nvPicPr>
          <p:cNvPr id="217" name="Graphic 2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725" y="3031278"/>
            <a:ext cx="330200" cy="330200"/>
          </a:xfrm>
          <a:prstGeom prst="rect">
            <a:avLst/>
          </a:prstGeom>
        </p:spPr>
      </p:pic>
      <p:pic>
        <p:nvPicPr>
          <p:cNvPr id="218" name="Graphic 2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8825" y="3031278"/>
            <a:ext cx="330200" cy="330200"/>
          </a:xfrm>
          <a:prstGeom prst="rect">
            <a:avLst/>
          </a:prstGeom>
        </p:spPr>
      </p:pic>
      <p:pic>
        <p:nvPicPr>
          <p:cNvPr id="219" name="Graphic 2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631478"/>
            <a:ext cx="330200" cy="330200"/>
          </a:xfrm>
          <a:prstGeom prst="rect">
            <a:avLst/>
          </a:prstGeom>
        </p:spPr>
      </p:pic>
      <p:pic>
        <p:nvPicPr>
          <p:cNvPr id="220" name="Graphic 2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9300" y="4631478"/>
            <a:ext cx="330200" cy="330200"/>
          </a:xfrm>
          <a:prstGeom prst="rect">
            <a:avLst/>
          </a:prstGeom>
        </p:spPr>
      </p:pic>
      <p:pic>
        <p:nvPicPr>
          <p:cNvPr id="221" name="Graphic 2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4631478"/>
            <a:ext cx="330200" cy="330200"/>
          </a:xfrm>
          <a:prstGeom prst="rect">
            <a:avLst/>
          </a:prstGeom>
        </p:spPr>
      </p:pic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2C0EB7F1-3533-95D6-22AA-992AAE92CEBB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BBF82CA-B5FA-66C3-0B8F-2CAB6834A328}"/>
              </a:ext>
            </a:extLst>
          </p:cNvPr>
          <p:cNvSpPr txBox="1"/>
          <p:nvPr/>
        </p:nvSpPr>
        <p:spPr>
          <a:xfrm>
            <a:off x="1497496" y="20143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5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A3151-74A1-0EDA-4730-9B19C789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07CC88-3070-A135-5058-673CD1A0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467210"/>
          </a:xfrm>
        </p:spPr>
        <p:txBody>
          <a:bodyPr/>
          <a:lstStyle/>
          <a:p>
            <a:r>
              <a:rPr lang="en-US" noProof="1"/>
              <a:t>Project Plan across 6 Feature Streams and 1 Tech Stream</a:t>
            </a:r>
          </a:p>
        </p:txBody>
      </p:sp>
      <p:sp>
        <p:nvSpPr>
          <p:cNvPr id="13" name="s407">
            <a:extLst>
              <a:ext uri="{FF2B5EF4-FFF2-40B4-BE49-F238E27FC236}">
                <a16:creationId xmlns:a16="http://schemas.microsoft.com/office/drawing/2014/main" id="{D2A9B355-3818-DA22-A234-0C61F415A503}"/>
              </a:ext>
            </a:extLst>
          </p:cNvPr>
          <p:cNvSpPr/>
          <p:nvPr/>
        </p:nvSpPr>
        <p:spPr>
          <a:xfrm>
            <a:off x="695324" y="1439292"/>
            <a:ext cx="11171089" cy="639158"/>
          </a:xfrm>
          <a:prstGeom prst="roundRect">
            <a:avLst>
              <a:gd name="adj" fmla="val 4000"/>
            </a:avLst>
          </a:prstGeom>
          <a:solidFill>
            <a:srgbClr val="005076">
              <a:alpha val="9804"/>
            </a:srgbClr>
          </a:solidFill>
          <a:ln w="9525">
            <a:solidFill>
              <a:srgbClr val="D8DEE6"/>
            </a:solidFill>
          </a:ln>
        </p:spPr>
        <p:txBody>
          <a:bodyPr/>
          <a:lstStyle/>
          <a:p>
            <a:endParaRPr lang="en-US" noProof="1"/>
          </a:p>
        </p:txBody>
      </p:sp>
      <p:sp>
        <p:nvSpPr>
          <p:cNvPr id="29" name="s423">
            <a:extLst>
              <a:ext uri="{FF2B5EF4-FFF2-40B4-BE49-F238E27FC236}">
                <a16:creationId xmlns:a16="http://schemas.microsoft.com/office/drawing/2014/main" id="{400A0B7A-B248-271D-73D6-22C95F256B08}"/>
              </a:ext>
            </a:extLst>
          </p:cNvPr>
          <p:cNvSpPr/>
          <p:nvPr/>
        </p:nvSpPr>
        <p:spPr>
          <a:xfrm>
            <a:off x="695324" y="2125843"/>
            <a:ext cx="11171089" cy="635664"/>
          </a:xfrm>
          <a:prstGeom prst="roundRect">
            <a:avLst>
              <a:gd name="adj" fmla="val 4000"/>
            </a:avLst>
          </a:prstGeom>
          <a:solidFill>
            <a:srgbClr val="2D9E5B">
              <a:alpha val="9804"/>
            </a:srgbClr>
          </a:solidFill>
          <a:ln w="9525">
            <a:solidFill>
              <a:srgbClr val="D8DEE6"/>
            </a:solidFill>
          </a:ln>
        </p:spPr>
        <p:txBody>
          <a:bodyPr/>
          <a:lstStyle/>
          <a:p>
            <a:endParaRPr lang="en-US" noProof="1"/>
          </a:p>
        </p:txBody>
      </p:sp>
      <p:sp>
        <p:nvSpPr>
          <p:cNvPr id="44" name="s438">
            <a:extLst>
              <a:ext uri="{FF2B5EF4-FFF2-40B4-BE49-F238E27FC236}">
                <a16:creationId xmlns:a16="http://schemas.microsoft.com/office/drawing/2014/main" id="{6A8007D8-05A3-A3CB-8452-8C55156D2C04}"/>
              </a:ext>
            </a:extLst>
          </p:cNvPr>
          <p:cNvSpPr/>
          <p:nvPr/>
        </p:nvSpPr>
        <p:spPr>
          <a:xfrm>
            <a:off x="695324" y="2808900"/>
            <a:ext cx="11171089" cy="635664"/>
          </a:xfrm>
          <a:prstGeom prst="roundRect">
            <a:avLst>
              <a:gd name="adj" fmla="val 4000"/>
            </a:avLst>
          </a:prstGeom>
          <a:solidFill>
            <a:srgbClr val="00A1C0">
              <a:alpha val="9804"/>
            </a:srgbClr>
          </a:solidFill>
          <a:ln w="9525">
            <a:solidFill>
              <a:srgbClr val="D8DEE6"/>
            </a:solidFill>
          </a:ln>
        </p:spPr>
        <p:txBody>
          <a:bodyPr/>
          <a:lstStyle/>
          <a:p>
            <a:endParaRPr lang="en-US" noProof="1"/>
          </a:p>
        </p:txBody>
      </p:sp>
      <p:sp>
        <p:nvSpPr>
          <p:cNvPr id="59" name="s453">
            <a:extLst>
              <a:ext uri="{FF2B5EF4-FFF2-40B4-BE49-F238E27FC236}">
                <a16:creationId xmlns:a16="http://schemas.microsoft.com/office/drawing/2014/main" id="{772CCE34-F102-351E-2888-21C00E4D7625}"/>
              </a:ext>
            </a:extLst>
          </p:cNvPr>
          <p:cNvSpPr/>
          <p:nvPr/>
        </p:nvSpPr>
        <p:spPr>
          <a:xfrm>
            <a:off x="695324" y="4175013"/>
            <a:ext cx="11171089" cy="635664"/>
          </a:xfrm>
          <a:prstGeom prst="roundRect">
            <a:avLst>
              <a:gd name="adj" fmla="val 4000"/>
            </a:avLst>
          </a:prstGeom>
          <a:solidFill>
            <a:srgbClr val="D9A12C">
              <a:alpha val="9804"/>
            </a:srgbClr>
          </a:solidFill>
          <a:ln w="9525">
            <a:solidFill>
              <a:srgbClr val="D8DEE6"/>
            </a:solidFill>
          </a:ln>
        </p:spPr>
        <p:txBody>
          <a:bodyPr/>
          <a:lstStyle/>
          <a:p>
            <a:endParaRPr lang="en-US" noProof="1"/>
          </a:p>
        </p:txBody>
      </p:sp>
      <p:sp>
        <p:nvSpPr>
          <p:cNvPr id="74" name="s468">
            <a:extLst>
              <a:ext uri="{FF2B5EF4-FFF2-40B4-BE49-F238E27FC236}">
                <a16:creationId xmlns:a16="http://schemas.microsoft.com/office/drawing/2014/main" id="{D859903D-7DDF-27AF-DAB6-503246C1862A}"/>
              </a:ext>
            </a:extLst>
          </p:cNvPr>
          <p:cNvSpPr/>
          <p:nvPr/>
        </p:nvSpPr>
        <p:spPr>
          <a:xfrm>
            <a:off x="695324" y="3491956"/>
            <a:ext cx="11171089" cy="635664"/>
          </a:xfrm>
          <a:prstGeom prst="roundRect">
            <a:avLst>
              <a:gd name="adj" fmla="val 4000"/>
            </a:avLst>
          </a:prstGeom>
          <a:solidFill>
            <a:srgbClr val="E15A52">
              <a:alpha val="9804"/>
            </a:srgbClr>
          </a:solidFill>
          <a:ln w="9525">
            <a:solidFill>
              <a:srgbClr val="D8DEE6"/>
            </a:solidFill>
          </a:ln>
        </p:spPr>
        <p:txBody>
          <a:bodyPr/>
          <a:lstStyle/>
          <a:p>
            <a:endParaRPr lang="en-US" noProof="1"/>
          </a:p>
        </p:txBody>
      </p:sp>
      <p:sp>
        <p:nvSpPr>
          <p:cNvPr id="89" name="s483">
            <a:extLst>
              <a:ext uri="{FF2B5EF4-FFF2-40B4-BE49-F238E27FC236}">
                <a16:creationId xmlns:a16="http://schemas.microsoft.com/office/drawing/2014/main" id="{7D70F6A3-D2EB-2ECA-6D61-78E87021A075}"/>
              </a:ext>
            </a:extLst>
          </p:cNvPr>
          <p:cNvSpPr/>
          <p:nvPr/>
        </p:nvSpPr>
        <p:spPr>
          <a:xfrm>
            <a:off x="695324" y="4858070"/>
            <a:ext cx="11171089" cy="635664"/>
          </a:xfrm>
          <a:prstGeom prst="roundRect">
            <a:avLst>
              <a:gd name="adj" fmla="val 4000"/>
            </a:avLst>
          </a:prstGeom>
          <a:solidFill>
            <a:srgbClr val="B5532E">
              <a:alpha val="9804"/>
            </a:srgbClr>
          </a:solidFill>
          <a:ln w="9525">
            <a:solidFill>
              <a:srgbClr val="D8DEE6"/>
            </a:solidFill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5" name="s499">
            <a:extLst>
              <a:ext uri="{FF2B5EF4-FFF2-40B4-BE49-F238E27FC236}">
                <a16:creationId xmlns:a16="http://schemas.microsoft.com/office/drawing/2014/main" id="{CA2CF6D7-49BE-E74A-FA49-F7257242B0DA}"/>
              </a:ext>
            </a:extLst>
          </p:cNvPr>
          <p:cNvSpPr/>
          <p:nvPr/>
        </p:nvSpPr>
        <p:spPr>
          <a:xfrm>
            <a:off x="695324" y="5541125"/>
            <a:ext cx="11171089" cy="635664"/>
          </a:xfrm>
          <a:prstGeom prst="roundRect">
            <a:avLst>
              <a:gd name="adj" fmla="val 4000"/>
            </a:avLst>
          </a:prstGeom>
          <a:solidFill>
            <a:srgbClr val="6B7682">
              <a:alpha val="9804"/>
            </a:srgbClr>
          </a:solidFill>
          <a:ln w="9525">
            <a:solidFill>
              <a:srgbClr val="D8DEE6"/>
            </a:solidFill>
          </a:ln>
        </p:spPr>
        <p:txBody>
          <a:bodyPr/>
          <a:lstStyle/>
          <a:p>
            <a:endParaRPr lang="en-US" noProof="1"/>
          </a:p>
        </p:txBody>
      </p:sp>
      <p:sp>
        <p:nvSpPr>
          <p:cNvPr id="14" name="s408">
            <a:extLst>
              <a:ext uri="{FF2B5EF4-FFF2-40B4-BE49-F238E27FC236}">
                <a16:creationId xmlns:a16="http://schemas.microsoft.com/office/drawing/2014/main" id="{79739DEE-4985-B009-402D-52CABBC9CB41}"/>
              </a:ext>
            </a:extLst>
          </p:cNvPr>
          <p:cNvSpPr/>
          <p:nvPr/>
        </p:nvSpPr>
        <p:spPr>
          <a:xfrm>
            <a:off x="695324" y="1439292"/>
            <a:ext cx="74105" cy="635664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5" name="s409">
            <a:extLst>
              <a:ext uri="{FF2B5EF4-FFF2-40B4-BE49-F238E27FC236}">
                <a16:creationId xmlns:a16="http://schemas.microsoft.com/office/drawing/2014/main" id="{8B270B8D-1568-20EE-1AB7-E86152FCBCB2}"/>
              </a:ext>
            </a:extLst>
          </p:cNvPr>
          <p:cNvSpPr/>
          <p:nvPr/>
        </p:nvSpPr>
        <p:spPr>
          <a:xfrm>
            <a:off x="887494" y="1661175"/>
            <a:ext cx="1038794" cy="191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noProof="1">
                <a:solidFill>
                  <a:srgbClr val="16242B"/>
                </a:solidFill>
                <a:latin typeface="Albert Sans Black" pitchFamily="2" charset="77"/>
              </a:rPr>
              <a:t>Onboarding &amp; Calendar</a:t>
            </a:r>
          </a:p>
        </p:txBody>
      </p:sp>
      <p:sp>
        <p:nvSpPr>
          <p:cNvPr id="16" name="s410">
            <a:extLst>
              <a:ext uri="{FF2B5EF4-FFF2-40B4-BE49-F238E27FC236}">
                <a16:creationId xmlns:a16="http://schemas.microsoft.com/office/drawing/2014/main" id="{43A49A67-D39E-B62D-B09D-CB8D6A808D46}"/>
              </a:ext>
            </a:extLst>
          </p:cNvPr>
          <p:cNvSpPr/>
          <p:nvPr/>
        </p:nvSpPr>
        <p:spPr>
          <a:xfrm>
            <a:off x="2106591" y="1442840"/>
            <a:ext cx="6146114" cy="639158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Capture preference profile via onboarding (class, seat, speed vs. comfort, home base)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connect DB Account (mocked)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Connect Outlook Calender 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Derive hard &amp; soft travel constraints from calendar events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Provide user-friendly UI</a:t>
            </a:r>
          </a:p>
        </p:txBody>
      </p:sp>
      <p:sp>
        <p:nvSpPr>
          <p:cNvPr id="19" name="s413">
            <a:extLst>
              <a:ext uri="{FF2B5EF4-FFF2-40B4-BE49-F238E27FC236}">
                <a16:creationId xmlns:a16="http://schemas.microsoft.com/office/drawing/2014/main" id="{203FD60F-447B-03CC-5C1B-461969E4C451}"/>
              </a:ext>
            </a:extLst>
          </p:cNvPr>
          <p:cNvSpPr/>
          <p:nvPr/>
        </p:nvSpPr>
        <p:spPr>
          <a:xfrm>
            <a:off x="10035076" y="1655178"/>
            <a:ext cx="749096" cy="203892"/>
          </a:xfrm>
          <a:prstGeom prst="rect">
            <a:avLst/>
          </a:prstGeom>
          <a:solidFill>
            <a:srgbClr val="2D9E5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noProof="1">
                <a:solidFill>
                  <a:srgbClr val="FFFFFF"/>
                </a:solidFill>
                <a:latin typeface="Albert Sans Medium" pitchFamily="2" charset="0"/>
              </a:rPr>
              <a:t>Essential</a:t>
            </a:r>
          </a:p>
        </p:txBody>
      </p:sp>
      <p:sp>
        <p:nvSpPr>
          <p:cNvPr id="30" name="s424">
            <a:extLst>
              <a:ext uri="{FF2B5EF4-FFF2-40B4-BE49-F238E27FC236}">
                <a16:creationId xmlns:a16="http://schemas.microsoft.com/office/drawing/2014/main" id="{15C3EF17-3416-7E75-AF89-1D6BFA4D185B}"/>
              </a:ext>
            </a:extLst>
          </p:cNvPr>
          <p:cNvSpPr/>
          <p:nvPr/>
        </p:nvSpPr>
        <p:spPr>
          <a:xfrm>
            <a:off x="695324" y="2122931"/>
            <a:ext cx="74105" cy="635664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1" name="s425">
            <a:extLst>
              <a:ext uri="{FF2B5EF4-FFF2-40B4-BE49-F238E27FC236}">
                <a16:creationId xmlns:a16="http://schemas.microsoft.com/office/drawing/2014/main" id="{9CA63FDB-CD2E-E2E5-40FD-45A153ED7063}"/>
              </a:ext>
            </a:extLst>
          </p:cNvPr>
          <p:cNvSpPr/>
          <p:nvPr/>
        </p:nvSpPr>
        <p:spPr>
          <a:xfrm>
            <a:off x="892937" y="2344814"/>
            <a:ext cx="1038794" cy="191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noProof="1">
                <a:solidFill>
                  <a:srgbClr val="16242B"/>
                </a:solidFill>
                <a:latin typeface="Albert Sans Black" pitchFamily="2" charset="77"/>
              </a:rPr>
              <a:t>Disruption Monitoring</a:t>
            </a:r>
          </a:p>
        </p:txBody>
      </p:sp>
      <p:sp>
        <p:nvSpPr>
          <p:cNvPr id="32" name="s426">
            <a:extLst>
              <a:ext uri="{FF2B5EF4-FFF2-40B4-BE49-F238E27FC236}">
                <a16:creationId xmlns:a16="http://schemas.microsoft.com/office/drawing/2014/main" id="{D9B3B586-BB8A-F1AB-BB95-0AEE8DE38BCB}"/>
              </a:ext>
            </a:extLst>
          </p:cNvPr>
          <p:cNvSpPr/>
          <p:nvPr/>
        </p:nvSpPr>
        <p:spPr>
          <a:xfrm>
            <a:off x="2106590" y="2126497"/>
            <a:ext cx="6158501" cy="639158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Ingest live ops data from API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Score disruption risk hours ahead using historic delay patterns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🟡 Calculate Risk Score and Confidence 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🔴 Wake the Orchestrator when the score crosses the configured threshold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🟡 Surface the live score &amp; rationale to the user on demand</a:t>
            </a:r>
          </a:p>
        </p:txBody>
      </p:sp>
      <p:sp>
        <p:nvSpPr>
          <p:cNvPr id="35" name="s429">
            <a:extLst>
              <a:ext uri="{FF2B5EF4-FFF2-40B4-BE49-F238E27FC236}">
                <a16:creationId xmlns:a16="http://schemas.microsoft.com/office/drawing/2014/main" id="{7FDD50A1-33C4-5D00-72CC-400360358B88}"/>
              </a:ext>
            </a:extLst>
          </p:cNvPr>
          <p:cNvSpPr/>
          <p:nvPr/>
        </p:nvSpPr>
        <p:spPr>
          <a:xfrm>
            <a:off x="10035076" y="2338817"/>
            <a:ext cx="749096" cy="203892"/>
          </a:xfrm>
          <a:prstGeom prst="rect">
            <a:avLst/>
          </a:prstGeom>
          <a:solidFill>
            <a:srgbClr val="2D9E5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noProof="1">
                <a:solidFill>
                  <a:srgbClr val="FFFFFF"/>
                </a:solidFill>
                <a:latin typeface="Albert Sans Medium" pitchFamily="2" charset="0"/>
              </a:rPr>
              <a:t>Essential</a:t>
            </a:r>
          </a:p>
        </p:txBody>
      </p:sp>
      <p:sp>
        <p:nvSpPr>
          <p:cNvPr id="45" name="s439">
            <a:extLst>
              <a:ext uri="{FF2B5EF4-FFF2-40B4-BE49-F238E27FC236}">
                <a16:creationId xmlns:a16="http://schemas.microsoft.com/office/drawing/2014/main" id="{C65A6A48-14E4-D71F-462A-25855A3C2E87}"/>
              </a:ext>
            </a:extLst>
          </p:cNvPr>
          <p:cNvSpPr/>
          <p:nvPr/>
        </p:nvSpPr>
        <p:spPr>
          <a:xfrm>
            <a:off x="695324" y="2806570"/>
            <a:ext cx="74105" cy="635664"/>
          </a:xfrm>
          <a:prstGeom prst="rect">
            <a:avLst/>
          </a:prstGeom>
          <a:solidFill>
            <a:srgbClr val="00A1C0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46" name="s440">
            <a:extLst>
              <a:ext uri="{FF2B5EF4-FFF2-40B4-BE49-F238E27FC236}">
                <a16:creationId xmlns:a16="http://schemas.microsoft.com/office/drawing/2014/main" id="{44DD5243-498E-88CD-B960-B2FBE2362A50}"/>
              </a:ext>
            </a:extLst>
          </p:cNvPr>
          <p:cNvSpPr/>
          <p:nvPr/>
        </p:nvSpPr>
        <p:spPr>
          <a:xfrm>
            <a:off x="892937" y="3028453"/>
            <a:ext cx="1038794" cy="191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noProof="1">
                <a:solidFill>
                  <a:srgbClr val="16242B"/>
                </a:solidFill>
                <a:latin typeface="Albert Sans Black" pitchFamily="2" charset="77"/>
              </a:rPr>
              <a:t>Replanning &amp; Rerouting</a:t>
            </a:r>
          </a:p>
        </p:txBody>
      </p:sp>
      <p:sp>
        <p:nvSpPr>
          <p:cNvPr id="47" name="s441">
            <a:extLst>
              <a:ext uri="{FF2B5EF4-FFF2-40B4-BE49-F238E27FC236}">
                <a16:creationId xmlns:a16="http://schemas.microsoft.com/office/drawing/2014/main" id="{F3581B70-11B7-DFFA-AA36-8E6A36649F98}"/>
              </a:ext>
            </a:extLst>
          </p:cNvPr>
          <p:cNvSpPr/>
          <p:nvPr/>
        </p:nvSpPr>
        <p:spPr>
          <a:xfrm>
            <a:off x="2106590" y="2810154"/>
            <a:ext cx="6158501" cy="639158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Generate alternative DB routes under user constraints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Rank options against the user's preference profile</a:t>
            </a:r>
          </a:p>
          <a:p>
            <a:pPr marL="171450" indent="-99450" algn="l">
              <a:buFont typeface="Arial" panose="020B0604020202020204" pitchFamily="34" charset="0"/>
              <a:buChar char="•"/>
            </a:pPr>
            <a:endParaRPr lang="en-US" sz="1050" noProof="1">
              <a:latin typeface="Albert Sans Medium" pitchFamily="2" charset="77"/>
            </a:endParaRP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Display alternative Route to User and ask to accept or decline</a:t>
            </a:r>
          </a:p>
        </p:txBody>
      </p:sp>
      <p:sp>
        <p:nvSpPr>
          <p:cNvPr id="50" name="s444">
            <a:extLst>
              <a:ext uri="{FF2B5EF4-FFF2-40B4-BE49-F238E27FC236}">
                <a16:creationId xmlns:a16="http://schemas.microsoft.com/office/drawing/2014/main" id="{5B0CE457-095A-46BF-EC3E-BA9FB0F31CA6}"/>
              </a:ext>
            </a:extLst>
          </p:cNvPr>
          <p:cNvSpPr/>
          <p:nvPr/>
        </p:nvSpPr>
        <p:spPr>
          <a:xfrm>
            <a:off x="10035076" y="3022456"/>
            <a:ext cx="749096" cy="203892"/>
          </a:xfrm>
          <a:prstGeom prst="rect">
            <a:avLst/>
          </a:prstGeom>
          <a:solidFill>
            <a:srgbClr val="2D9E5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noProof="1">
                <a:solidFill>
                  <a:srgbClr val="FFFFFF"/>
                </a:solidFill>
                <a:latin typeface="Albert Sans Medium" pitchFamily="2" charset="0"/>
              </a:rPr>
              <a:t>Essential</a:t>
            </a:r>
          </a:p>
        </p:txBody>
      </p:sp>
      <p:sp>
        <p:nvSpPr>
          <p:cNvPr id="60" name="s454">
            <a:extLst>
              <a:ext uri="{FF2B5EF4-FFF2-40B4-BE49-F238E27FC236}">
                <a16:creationId xmlns:a16="http://schemas.microsoft.com/office/drawing/2014/main" id="{1B1EAAB1-2749-A071-A2DF-B71B323E224C}"/>
              </a:ext>
            </a:extLst>
          </p:cNvPr>
          <p:cNvSpPr/>
          <p:nvPr/>
        </p:nvSpPr>
        <p:spPr>
          <a:xfrm>
            <a:off x="695324" y="4173848"/>
            <a:ext cx="74105" cy="635664"/>
          </a:xfrm>
          <a:prstGeom prst="rect">
            <a:avLst/>
          </a:prstGeom>
          <a:solidFill>
            <a:srgbClr val="D9A12C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1" name="s455">
            <a:extLst>
              <a:ext uri="{FF2B5EF4-FFF2-40B4-BE49-F238E27FC236}">
                <a16:creationId xmlns:a16="http://schemas.microsoft.com/office/drawing/2014/main" id="{92CC12F6-AF6D-4752-9B64-C48A3CAE3124}"/>
              </a:ext>
            </a:extLst>
          </p:cNvPr>
          <p:cNvSpPr/>
          <p:nvPr/>
        </p:nvSpPr>
        <p:spPr>
          <a:xfrm>
            <a:off x="892937" y="4395731"/>
            <a:ext cx="1038794" cy="191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noProof="1">
                <a:solidFill>
                  <a:srgbClr val="16242B"/>
                </a:solidFill>
                <a:latin typeface="Albert Sans Black" pitchFamily="2" charset="77"/>
              </a:rPr>
              <a:t>Compensation</a:t>
            </a:r>
          </a:p>
        </p:txBody>
      </p:sp>
      <p:sp>
        <p:nvSpPr>
          <p:cNvPr id="62" name="s456">
            <a:extLst>
              <a:ext uri="{FF2B5EF4-FFF2-40B4-BE49-F238E27FC236}">
                <a16:creationId xmlns:a16="http://schemas.microsoft.com/office/drawing/2014/main" id="{2A96D851-9941-E851-EF19-7EC208E8611D}"/>
              </a:ext>
            </a:extLst>
          </p:cNvPr>
          <p:cNvSpPr/>
          <p:nvPr/>
        </p:nvSpPr>
        <p:spPr>
          <a:xfrm>
            <a:off x="2106590" y="4177468"/>
            <a:ext cx="6158501" cy="639158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Load passenger rights via Web Scraping into a RAG store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Detect passenger rights eligibility 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endParaRPr lang="en-US" sz="1050" noProof="1">
              <a:latin typeface="Albert Sans Medium" pitchFamily="2" charset="77"/>
            </a:endParaRP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Automatically file claims with the required data (mocked)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🔴 Track claim status and communicate with user</a:t>
            </a:r>
          </a:p>
        </p:txBody>
      </p:sp>
      <p:sp>
        <p:nvSpPr>
          <p:cNvPr id="75" name="s469">
            <a:extLst>
              <a:ext uri="{FF2B5EF4-FFF2-40B4-BE49-F238E27FC236}">
                <a16:creationId xmlns:a16="http://schemas.microsoft.com/office/drawing/2014/main" id="{6A73092C-5AF5-1748-FEBC-AE355EEA6A9A}"/>
              </a:ext>
            </a:extLst>
          </p:cNvPr>
          <p:cNvSpPr/>
          <p:nvPr/>
        </p:nvSpPr>
        <p:spPr>
          <a:xfrm>
            <a:off x="695324" y="3500490"/>
            <a:ext cx="74105" cy="635664"/>
          </a:xfrm>
          <a:prstGeom prst="rect">
            <a:avLst/>
          </a:prstGeom>
          <a:solidFill>
            <a:srgbClr val="E05A52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76" name="s470">
            <a:extLst>
              <a:ext uri="{FF2B5EF4-FFF2-40B4-BE49-F238E27FC236}">
                <a16:creationId xmlns:a16="http://schemas.microsoft.com/office/drawing/2014/main" id="{931494BC-575C-6413-6471-ECD79F8C3268}"/>
              </a:ext>
            </a:extLst>
          </p:cNvPr>
          <p:cNvSpPr/>
          <p:nvPr/>
        </p:nvSpPr>
        <p:spPr>
          <a:xfrm>
            <a:off x="892937" y="3712092"/>
            <a:ext cx="1038794" cy="191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noProof="1">
                <a:solidFill>
                  <a:srgbClr val="16242B"/>
                </a:solidFill>
                <a:latin typeface="Albert Sans Black" pitchFamily="2" charset="77"/>
              </a:rPr>
              <a:t>Stakeholder Comunication</a:t>
            </a:r>
          </a:p>
        </p:txBody>
      </p:sp>
      <p:sp>
        <p:nvSpPr>
          <p:cNvPr id="77" name="s471">
            <a:extLst>
              <a:ext uri="{FF2B5EF4-FFF2-40B4-BE49-F238E27FC236}">
                <a16:creationId xmlns:a16="http://schemas.microsoft.com/office/drawing/2014/main" id="{0D8FEBDA-2B66-23E0-FDEE-BF6CEC227345}"/>
              </a:ext>
            </a:extLst>
          </p:cNvPr>
          <p:cNvSpPr/>
          <p:nvPr/>
        </p:nvSpPr>
        <p:spPr>
          <a:xfrm>
            <a:off x="2106590" y="3493811"/>
            <a:ext cx="6158501" cy="639158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Establish Connection to WhatsApp and Outlook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Present rerouting options and capture the user's veto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Deliver disruption updates via E-Mail to stakeholders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Confirm executed actions to the traveler and all impacted meeting participants</a:t>
            </a:r>
          </a:p>
        </p:txBody>
      </p:sp>
      <p:sp>
        <p:nvSpPr>
          <p:cNvPr id="80" name="s474">
            <a:extLst>
              <a:ext uri="{FF2B5EF4-FFF2-40B4-BE49-F238E27FC236}">
                <a16:creationId xmlns:a16="http://schemas.microsoft.com/office/drawing/2014/main" id="{C9CB0917-FE4D-54D7-C22B-03248FCCDA0F}"/>
              </a:ext>
            </a:extLst>
          </p:cNvPr>
          <p:cNvSpPr/>
          <p:nvPr/>
        </p:nvSpPr>
        <p:spPr>
          <a:xfrm>
            <a:off x="10035076" y="3716375"/>
            <a:ext cx="749096" cy="203892"/>
          </a:xfrm>
          <a:prstGeom prst="rect">
            <a:avLst/>
          </a:prstGeom>
          <a:solidFill>
            <a:srgbClr val="2D9E5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noProof="1">
                <a:solidFill>
                  <a:srgbClr val="FFFFFF"/>
                </a:solidFill>
                <a:latin typeface="Albert Sans Medium" pitchFamily="2" charset="0"/>
              </a:rPr>
              <a:t>Essential</a:t>
            </a:r>
          </a:p>
        </p:txBody>
      </p:sp>
      <p:sp>
        <p:nvSpPr>
          <p:cNvPr id="90" name="s484">
            <a:extLst>
              <a:ext uri="{FF2B5EF4-FFF2-40B4-BE49-F238E27FC236}">
                <a16:creationId xmlns:a16="http://schemas.microsoft.com/office/drawing/2014/main" id="{A554F6A6-71AF-1890-1B07-4CF45B892B0E}"/>
              </a:ext>
            </a:extLst>
          </p:cNvPr>
          <p:cNvSpPr/>
          <p:nvPr/>
        </p:nvSpPr>
        <p:spPr>
          <a:xfrm>
            <a:off x="695324" y="4857487"/>
            <a:ext cx="74105" cy="635664"/>
          </a:xfrm>
          <a:prstGeom prst="rect">
            <a:avLst/>
          </a:prstGeom>
          <a:solidFill>
            <a:srgbClr val="B5532E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91" name="s485">
            <a:extLst>
              <a:ext uri="{FF2B5EF4-FFF2-40B4-BE49-F238E27FC236}">
                <a16:creationId xmlns:a16="http://schemas.microsoft.com/office/drawing/2014/main" id="{DB9C5897-01EF-3147-BBEC-E23580B27727}"/>
              </a:ext>
            </a:extLst>
          </p:cNvPr>
          <p:cNvSpPr/>
          <p:nvPr/>
        </p:nvSpPr>
        <p:spPr>
          <a:xfrm>
            <a:off x="892936" y="5079369"/>
            <a:ext cx="1225517" cy="191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noProof="1">
                <a:solidFill>
                  <a:srgbClr val="16242B"/>
                </a:solidFill>
                <a:latin typeface="Albert Sans Black" pitchFamily="2" charset="77"/>
              </a:rPr>
              <a:t>Booking &amp; Ext. Options</a:t>
            </a:r>
          </a:p>
        </p:txBody>
      </p:sp>
      <p:sp>
        <p:nvSpPr>
          <p:cNvPr id="92" name="s486">
            <a:extLst>
              <a:ext uri="{FF2B5EF4-FFF2-40B4-BE49-F238E27FC236}">
                <a16:creationId xmlns:a16="http://schemas.microsoft.com/office/drawing/2014/main" id="{30A372B3-1865-FE08-7745-D58D213F405E}"/>
              </a:ext>
            </a:extLst>
          </p:cNvPr>
          <p:cNvSpPr/>
          <p:nvPr/>
        </p:nvSpPr>
        <p:spPr>
          <a:xfrm>
            <a:off x="2106590" y="4861124"/>
            <a:ext cx="6158501" cy="639158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🔴 Book / modify train tickets if necessary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🟡 Search and book hotel if no train is running 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🟡 Always ask User for Approval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🟡 Check Flinkster, Call-a-Bike Availability 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🔴 Check and. book taxis if necessary</a:t>
            </a:r>
          </a:p>
        </p:txBody>
      </p:sp>
      <p:sp>
        <p:nvSpPr>
          <p:cNvPr id="25" name="s419">
            <a:extLst>
              <a:ext uri="{FF2B5EF4-FFF2-40B4-BE49-F238E27FC236}">
                <a16:creationId xmlns:a16="http://schemas.microsoft.com/office/drawing/2014/main" id="{18DCCBC2-E54C-E69E-CD78-FD6608645DD7}"/>
              </a:ext>
            </a:extLst>
          </p:cNvPr>
          <p:cNvSpPr/>
          <p:nvPr/>
        </p:nvSpPr>
        <p:spPr>
          <a:xfrm>
            <a:off x="8609687" y="1470398"/>
            <a:ext cx="1038580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Orchestrator</a:t>
            </a:r>
          </a:p>
        </p:txBody>
      </p:sp>
      <p:sp>
        <p:nvSpPr>
          <p:cNvPr id="26" name="s420">
            <a:extLst>
              <a:ext uri="{FF2B5EF4-FFF2-40B4-BE49-F238E27FC236}">
                <a16:creationId xmlns:a16="http://schemas.microsoft.com/office/drawing/2014/main" id="{557C8D9D-7389-D6C9-AB97-A8B340049528}"/>
              </a:ext>
            </a:extLst>
          </p:cNvPr>
          <p:cNvSpPr/>
          <p:nvPr/>
        </p:nvSpPr>
        <p:spPr>
          <a:xfrm>
            <a:off x="8783029" y="1670921"/>
            <a:ext cx="691894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Context</a:t>
            </a:r>
          </a:p>
        </p:txBody>
      </p:sp>
      <p:sp>
        <p:nvSpPr>
          <p:cNvPr id="27" name="s421">
            <a:extLst>
              <a:ext uri="{FF2B5EF4-FFF2-40B4-BE49-F238E27FC236}">
                <a16:creationId xmlns:a16="http://schemas.microsoft.com/office/drawing/2014/main" id="{B4DC55D8-A321-2B79-F9E1-D99A877E4293}"/>
              </a:ext>
            </a:extLst>
          </p:cNvPr>
          <p:cNvSpPr/>
          <p:nvPr/>
        </p:nvSpPr>
        <p:spPr>
          <a:xfrm>
            <a:off x="8644354" y="1871444"/>
            <a:ext cx="969244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Persistence</a:t>
            </a:r>
          </a:p>
        </p:txBody>
      </p:sp>
      <p:sp>
        <p:nvSpPr>
          <p:cNvPr id="41" name="s435">
            <a:extLst>
              <a:ext uri="{FF2B5EF4-FFF2-40B4-BE49-F238E27FC236}">
                <a16:creationId xmlns:a16="http://schemas.microsoft.com/office/drawing/2014/main" id="{E18E58C6-3D89-8FA9-FCA0-06A872C9CA32}"/>
              </a:ext>
            </a:extLst>
          </p:cNvPr>
          <p:cNvSpPr/>
          <p:nvPr/>
        </p:nvSpPr>
        <p:spPr>
          <a:xfrm>
            <a:off x="8679022" y="2254614"/>
            <a:ext cx="899907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Monitoring</a:t>
            </a:r>
          </a:p>
        </p:txBody>
      </p:sp>
      <p:sp>
        <p:nvSpPr>
          <p:cNvPr id="42" name="s436">
            <a:extLst>
              <a:ext uri="{FF2B5EF4-FFF2-40B4-BE49-F238E27FC236}">
                <a16:creationId xmlns:a16="http://schemas.microsoft.com/office/drawing/2014/main" id="{225F3C90-4250-DD22-98C5-35A98B45EA0E}"/>
              </a:ext>
            </a:extLst>
          </p:cNvPr>
          <p:cNvSpPr/>
          <p:nvPr/>
        </p:nvSpPr>
        <p:spPr>
          <a:xfrm>
            <a:off x="8644354" y="2455137"/>
            <a:ext cx="969244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Risk-Modell</a:t>
            </a:r>
          </a:p>
        </p:txBody>
      </p:sp>
      <p:sp>
        <p:nvSpPr>
          <p:cNvPr id="56" name="s450">
            <a:extLst>
              <a:ext uri="{FF2B5EF4-FFF2-40B4-BE49-F238E27FC236}">
                <a16:creationId xmlns:a16="http://schemas.microsoft.com/office/drawing/2014/main" id="{FBCA5C59-174A-29E1-C7BE-401A8D6AA66F}"/>
              </a:ext>
            </a:extLst>
          </p:cNvPr>
          <p:cNvSpPr/>
          <p:nvPr/>
        </p:nvSpPr>
        <p:spPr>
          <a:xfrm>
            <a:off x="8783029" y="2932921"/>
            <a:ext cx="691894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Planner</a:t>
            </a:r>
          </a:p>
        </p:txBody>
      </p:sp>
      <p:sp>
        <p:nvSpPr>
          <p:cNvPr id="57" name="s451">
            <a:extLst>
              <a:ext uri="{FF2B5EF4-FFF2-40B4-BE49-F238E27FC236}">
                <a16:creationId xmlns:a16="http://schemas.microsoft.com/office/drawing/2014/main" id="{1A279A24-061D-C651-6FCA-974C88720670}"/>
              </a:ext>
            </a:extLst>
          </p:cNvPr>
          <p:cNvSpPr/>
          <p:nvPr/>
        </p:nvSpPr>
        <p:spPr>
          <a:xfrm>
            <a:off x="8609687" y="3133445"/>
            <a:ext cx="1038580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Orchestrator</a:t>
            </a:r>
          </a:p>
        </p:txBody>
      </p:sp>
      <p:sp>
        <p:nvSpPr>
          <p:cNvPr id="71" name="s465">
            <a:extLst>
              <a:ext uri="{FF2B5EF4-FFF2-40B4-BE49-F238E27FC236}">
                <a16:creationId xmlns:a16="http://schemas.microsoft.com/office/drawing/2014/main" id="{B3E51A0F-F074-FF46-5F30-46AEC6092CB2}"/>
              </a:ext>
            </a:extLst>
          </p:cNvPr>
          <p:cNvSpPr/>
          <p:nvPr/>
        </p:nvSpPr>
        <p:spPr>
          <a:xfrm>
            <a:off x="8783029" y="4312884"/>
            <a:ext cx="691894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strike="sngStrike" noProof="1">
                <a:solidFill>
                  <a:schemeClr val="bg1"/>
                </a:solidFill>
                <a:latin typeface="Albert Sans Medium" pitchFamily="2" charset="0"/>
              </a:rPr>
              <a:t>Planner</a:t>
            </a:r>
          </a:p>
        </p:txBody>
      </p:sp>
      <p:sp>
        <p:nvSpPr>
          <p:cNvPr id="72" name="s466">
            <a:extLst>
              <a:ext uri="{FF2B5EF4-FFF2-40B4-BE49-F238E27FC236}">
                <a16:creationId xmlns:a16="http://schemas.microsoft.com/office/drawing/2014/main" id="{AB32CAD5-5EFB-D4D3-E1DF-3FBFD295CCDA}"/>
              </a:ext>
            </a:extLst>
          </p:cNvPr>
          <p:cNvSpPr/>
          <p:nvPr/>
        </p:nvSpPr>
        <p:spPr>
          <a:xfrm>
            <a:off x="8748361" y="4513408"/>
            <a:ext cx="761233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Executor</a:t>
            </a:r>
          </a:p>
        </p:txBody>
      </p:sp>
      <p:sp>
        <p:nvSpPr>
          <p:cNvPr id="86" name="s480">
            <a:extLst>
              <a:ext uri="{FF2B5EF4-FFF2-40B4-BE49-F238E27FC236}">
                <a16:creationId xmlns:a16="http://schemas.microsoft.com/office/drawing/2014/main" id="{838FAE6E-90E9-E9B4-8955-E6B892972A20}"/>
              </a:ext>
            </a:extLst>
          </p:cNvPr>
          <p:cNvSpPr/>
          <p:nvPr/>
        </p:nvSpPr>
        <p:spPr>
          <a:xfrm>
            <a:off x="8609687" y="3657518"/>
            <a:ext cx="1038580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Communicator</a:t>
            </a:r>
          </a:p>
        </p:txBody>
      </p:sp>
      <p:sp>
        <p:nvSpPr>
          <p:cNvPr id="87" name="s481">
            <a:extLst>
              <a:ext uri="{FF2B5EF4-FFF2-40B4-BE49-F238E27FC236}">
                <a16:creationId xmlns:a16="http://schemas.microsoft.com/office/drawing/2014/main" id="{C654EDF7-6DE3-9406-32ED-4CC4BD4A8ABF}"/>
              </a:ext>
            </a:extLst>
          </p:cNvPr>
          <p:cNvSpPr/>
          <p:nvPr/>
        </p:nvSpPr>
        <p:spPr>
          <a:xfrm>
            <a:off x="8713692" y="3858040"/>
            <a:ext cx="830569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Veto-Gate</a:t>
            </a:r>
          </a:p>
        </p:txBody>
      </p:sp>
      <p:sp>
        <p:nvSpPr>
          <p:cNvPr id="101" name="s495">
            <a:extLst>
              <a:ext uri="{FF2B5EF4-FFF2-40B4-BE49-F238E27FC236}">
                <a16:creationId xmlns:a16="http://schemas.microsoft.com/office/drawing/2014/main" id="{EA91A148-9532-3C8A-784F-36F83C71A003}"/>
              </a:ext>
            </a:extLst>
          </p:cNvPr>
          <p:cNvSpPr/>
          <p:nvPr/>
        </p:nvSpPr>
        <p:spPr>
          <a:xfrm>
            <a:off x="8748361" y="4893478"/>
            <a:ext cx="761233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Executor</a:t>
            </a:r>
          </a:p>
        </p:txBody>
      </p:sp>
      <p:sp>
        <p:nvSpPr>
          <p:cNvPr id="102" name="s496">
            <a:extLst>
              <a:ext uri="{FF2B5EF4-FFF2-40B4-BE49-F238E27FC236}">
                <a16:creationId xmlns:a16="http://schemas.microsoft.com/office/drawing/2014/main" id="{3C97C1F8-B9CC-B792-20E1-679B248630C1}"/>
              </a:ext>
            </a:extLst>
          </p:cNvPr>
          <p:cNvSpPr/>
          <p:nvPr/>
        </p:nvSpPr>
        <p:spPr>
          <a:xfrm>
            <a:off x="8713692" y="5094001"/>
            <a:ext cx="830569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Veto-Gate</a:t>
            </a:r>
          </a:p>
        </p:txBody>
      </p:sp>
      <p:sp>
        <p:nvSpPr>
          <p:cNvPr id="103" name="s497">
            <a:extLst>
              <a:ext uri="{FF2B5EF4-FFF2-40B4-BE49-F238E27FC236}">
                <a16:creationId xmlns:a16="http://schemas.microsoft.com/office/drawing/2014/main" id="{CBEE41B3-BD30-D2C3-476F-F37D84357C23}"/>
              </a:ext>
            </a:extLst>
          </p:cNvPr>
          <p:cNvSpPr/>
          <p:nvPr/>
        </p:nvSpPr>
        <p:spPr>
          <a:xfrm>
            <a:off x="8817697" y="5294523"/>
            <a:ext cx="622558" cy="177883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en-US" sz="1000" noProof="1">
                <a:solidFill>
                  <a:schemeClr val="bg1"/>
                </a:solidFill>
                <a:latin typeface="Albert Sans Medium" pitchFamily="2" charset="0"/>
              </a:rPr>
              <a:t>Policy</a:t>
            </a:r>
          </a:p>
        </p:txBody>
      </p:sp>
      <p:sp>
        <p:nvSpPr>
          <p:cNvPr id="106" name="s500">
            <a:extLst>
              <a:ext uri="{FF2B5EF4-FFF2-40B4-BE49-F238E27FC236}">
                <a16:creationId xmlns:a16="http://schemas.microsoft.com/office/drawing/2014/main" id="{335240F2-3667-2C25-8C68-67D9E017B7D9}"/>
              </a:ext>
            </a:extLst>
          </p:cNvPr>
          <p:cNvSpPr/>
          <p:nvPr/>
        </p:nvSpPr>
        <p:spPr>
          <a:xfrm>
            <a:off x="695324" y="5541125"/>
            <a:ext cx="74105" cy="635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7" name="s501">
            <a:extLst>
              <a:ext uri="{FF2B5EF4-FFF2-40B4-BE49-F238E27FC236}">
                <a16:creationId xmlns:a16="http://schemas.microsoft.com/office/drawing/2014/main" id="{86879DE1-7FFC-0A7A-D210-2D0A0F6BB018}"/>
              </a:ext>
            </a:extLst>
          </p:cNvPr>
          <p:cNvSpPr/>
          <p:nvPr/>
        </p:nvSpPr>
        <p:spPr>
          <a:xfrm>
            <a:off x="900497" y="5763008"/>
            <a:ext cx="1038794" cy="191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noProof="1">
                <a:solidFill>
                  <a:srgbClr val="16242B"/>
                </a:solidFill>
                <a:latin typeface="Albert Sans Black" pitchFamily="2" charset="77"/>
              </a:rPr>
              <a:t>Architecture</a:t>
            </a:r>
          </a:p>
        </p:txBody>
      </p:sp>
      <p:sp>
        <p:nvSpPr>
          <p:cNvPr id="108" name="s502">
            <a:extLst>
              <a:ext uri="{FF2B5EF4-FFF2-40B4-BE49-F238E27FC236}">
                <a16:creationId xmlns:a16="http://schemas.microsoft.com/office/drawing/2014/main" id="{505D9678-2225-028B-5775-AD775B201942}"/>
              </a:ext>
            </a:extLst>
          </p:cNvPr>
          <p:cNvSpPr/>
          <p:nvPr/>
        </p:nvSpPr>
        <p:spPr>
          <a:xfrm>
            <a:off x="2106590" y="5544780"/>
            <a:ext cx="6158501" cy="639158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Multi Agent Architecture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Clearly defined Tool Calls and implementation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🟡 Architectural Decision Records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🟡 Database with consistent storage</a:t>
            </a:r>
          </a:p>
          <a:p>
            <a:pPr marL="171450" indent="-99450">
              <a:buFont typeface="Arial" panose="020B0604020202020204" pitchFamily="34" charset="0"/>
              <a:buChar char="•"/>
            </a:pPr>
            <a:r>
              <a:rPr lang="en-US" sz="1050" noProof="1">
                <a:latin typeface="Albert Sans Medium" pitchFamily="2" charset="77"/>
              </a:rPr>
              <a:t>🟢 One-command Docker setup</a:t>
            </a:r>
          </a:p>
        </p:txBody>
      </p:sp>
      <p:sp>
        <p:nvSpPr>
          <p:cNvPr id="111" name="s505">
            <a:extLst>
              <a:ext uri="{FF2B5EF4-FFF2-40B4-BE49-F238E27FC236}">
                <a16:creationId xmlns:a16="http://schemas.microsoft.com/office/drawing/2014/main" id="{6B425126-3E1E-77D8-288D-5859B7EA801E}"/>
              </a:ext>
            </a:extLst>
          </p:cNvPr>
          <p:cNvSpPr/>
          <p:nvPr/>
        </p:nvSpPr>
        <p:spPr>
          <a:xfrm>
            <a:off x="10035076" y="5757011"/>
            <a:ext cx="749096" cy="2038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noProof="1">
                <a:solidFill>
                  <a:srgbClr val="FFFFFF"/>
                </a:solidFill>
                <a:latin typeface="Albert Sans Medium" pitchFamily="2" charset="0"/>
              </a:rPr>
              <a:t>Foundation</a:t>
            </a:r>
          </a:p>
        </p:txBody>
      </p: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7A62B845-DA5D-9A78-F89D-0A771DE55F65}"/>
              </a:ext>
            </a:extLst>
          </p:cNvPr>
          <p:cNvGrpSpPr/>
          <p:nvPr/>
        </p:nvGrpSpPr>
        <p:grpSpPr>
          <a:xfrm>
            <a:off x="369517" y="1463280"/>
            <a:ext cx="307777" cy="3987036"/>
            <a:chOff x="288571" y="1916113"/>
            <a:chExt cx="307777" cy="2935020"/>
          </a:xfrm>
        </p:grpSpPr>
        <p:cxnSp>
          <p:nvCxnSpPr>
            <p:cNvPr id="146" name="Gerade Verbindung 145">
              <a:extLst>
                <a:ext uri="{FF2B5EF4-FFF2-40B4-BE49-F238E27FC236}">
                  <a16:creationId xmlns:a16="http://schemas.microsoft.com/office/drawing/2014/main" id="{DEC60F7D-BBAB-7E9C-9AE4-D13A2EAD113C}"/>
                </a:ext>
              </a:extLst>
            </p:cNvPr>
            <p:cNvCxnSpPr>
              <a:cxnSpLocks/>
            </p:cNvCxnSpPr>
            <p:nvPr/>
          </p:nvCxnSpPr>
          <p:spPr>
            <a:xfrm>
              <a:off x="445105" y="1916113"/>
              <a:ext cx="0" cy="293502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feld 146">
              <a:extLst>
                <a:ext uri="{FF2B5EF4-FFF2-40B4-BE49-F238E27FC236}">
                  <a16:creationId xmlns:a16="http://schemas.microsoft.com/office/drawing/2014/main" id="{CB7E0324-53BE-CB45-5089-21C784A560AC}"/>
                </a:ext>
              </a:extLst>
            </p:cNvPr>
            <p:cNvSpPr txBox="1"/>
            <p:nvPr/>
          </p:nvSpPr>
          <p:spPr>
            <a:xfrm rot="16200000">
              <a:off x="-164059" y="3229735"/>
              <a:ext cx="121303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noProof="1">
                  <a:solidFill>
                    <a:schemeClr val="bg2"/>
                  </a:solidFill>
                </a:rPr>
                <a:t>Feature Streams</a:t>
              </a:r>
            </a:p>
          </p:txBody>
        </p:sp>
      </p:grpSp>
      <p:grpSp>
        <p:nvGrpSpPr>
          <p:cNvPr id="148" name="Gruppieren 147">
            <a:extLst>
              <a:ext uri="{FF2B5EF4-FFF2-40B4-BE49-F238E27FC236}">
                <a16:creationId xmlns:a16="http://schemas.microsoft.com/office/drawing/2014/main" id="{0E684E5E-CF1E-C18A-4B0F-34876CC1BB8B}"/>
              </a:ext>
            </a:extLst>
          </p:cNvPr>
          <p:cNvGrpSpPr/>
          <p:nvPr/>
        </p:nvGrpSpPr>
        <p:grpSpPr>
          <a:xfrm>
            <a:off x="410820" y="5532677"/>
            <a:ext cx="215444" cy="635664"/>
            <a:chOff x="329874" y="1916113"/>
            <a:chExt cx="215444" cy="2935020"/>
          </a:xfrm>
        </p:grpSpPr>
        <p:cxnSp>
          <p:nvCxnSpPr>
            <p:cNvPr id="149" name="Gerade Verbindung 148">
              <a:extLst>
                <a:ext uri="{FF2B5EF4-FFF2-40B4-BE49-F238E27FC236}">
                  <a16:creationId xmlns:a16="http://schemas.microsoft.com/office/drawing/2014/main" id="{21CCD397-3DF1-B6AD-1C9D-87F9091EA2D6}"/>
                </a:ext>
              </a:extLst>
            </p:cNvPr>
            <p:cNvCxnSpPr>
              <a:cxnSpLocks/>
            </p:cNvCxnSpPr>
            <p:nvPr/>
          </p:nvCxnSpPr>
          <p:spPr>
            <a:xfrm>
              <a:off x="445105" y="1916113"/>
              <a:ext cx="0" cy="293502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feld 149">
              <a:extLst>
                <a:ext uri="{FF2B5EF4-FFF2-40B4-BE49-F238E27FC236}">
                  <a16:creationId xmlns:a16="http://schemas.microsoft.com/office/drawing/2014/main" id="{D9605FDC-60E8-6385-C610-996C59B948E7}"/>
                </a:ext>
              </a:extLst>
            </p:cNvPr>
            <p:cNvSpPr txBox="1"/>
            <p:nvPr/>
          </p:nvSpPr>
          <p:spPr>
            <a:xfrm rot="16200000">
              <a:off x="-627233" y="3383517"/>
              <a:ext cx="212965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noProof="1">
                  <a:solidFill>
                    <a:schemeClr val="bg2"/>
                  </a:solidFill>
                </a:rPr>
                <a:t>Tech</a:t>
              </a:r>
            </a:p>
          </p:txBody>
        </p:sp>
      </p:grpSp>
      <p:sp>
        <p:nvSpPr>
          <p:cNvPr id="154" name="s459">
            <a:extLst>
              <a:ext uri="{FF2B5EF4-FFF2-40B4-BE49-F238E27FC236}">
                <a16:creationId xmlns:a16="http://schemas.microsoft.com/office/drawing/2014/main" id="{18D96EC8-BD83-B8C9-D1CB-8DC9BFD3160D}"/>
              </a:ext>
            </a:extLst>
          </p:cNvPr>
          <p:cNvSpPr/>
          <p:nvPr/>
        </p:nvSpPr>
        <p:spPr>
          <a:xfrm>
            <a:off x="10035076" y="5073373"/>
            <a:ext cx="749096" cy="2038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noProof="1">
                <a:solidFill>
                  <a:srgbClr val="FFFFFF"/>
                </a:solidFill>
                <a:latin typeface="Albert Sans Medium" pitchFamily="2" charset="0"/>
              </a:rPr>
              <a:t>Optional</a:t>
            </a:r>
          </a:p>
        </p:txBody>
      </p:sp>
      <p:sp>
        <p:nvSpPr>
          <p:cNvPr id="155" name="s474">
            <a:extLst>
              <a:ext uri="{FF2B5EF4-FFF2-40B4-BE49-F238E27FC236}">
                <a16:creationId xmlns:a16="http://schemas.microsoft.com/office/drawing/2014/main" id="{D93757E8-8ABA-B096-F13D-7C830FA5991A}"/>
              </a:ext>
            </a:extLst>
          </p:cNvPr>
          <p:cNvSpPr/>
          <p:nvPr/>
        </p:nvSpPr>
        <p:spPr>
          <a:xfrm>
            <a:off x="10035076" y="4389734"/>
            <a:ext cx="749096" cy="203892"/>
          </a:xfrm>
          <a:prstGeom prst="rect">
            <a:avLst/>
          </a:prstGeom>
          <a:solidFill>
            <a:srgbClr val="2D9E5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noProof="1">
                <a:solidFill>
                  <a:srgbClr val="FFFFFF"/>
                </a:solidFill>
                <a:latin typeface="Albert Sans Medium" pitchFamily="2" charset="0"/>
              </a:rPr>
              <a:t>Essential</a:t>
            </a:r>
          </a:p>
        </p:txBody>
      </p:sp>
      <p:sp>
        <p:nvSpPr>
          <p:cNvPr id="161" name="s404">
            <a:extLst>
              <a:ext uri="{FF2B5EF4-FFF2-40B4-BE49-F238E27FC236}">
                <a16:creationId xmlns:a16="http://schemas.microsoft.com/office/drawing/2014/main" id="{29F6B23C-35EC-2418-66C2-7D7EE41B5BE5}"/>
              </a:ext>
            </a:extLst>
          </p:cNvPr>
          <p:cNvSpPr/>
          <p:nvPr/>
        </p:nvSpPr>
        <p:spPr>
          <a:xfrm>
            <a:off x="8351964" y="1178478"/>
            <a:ext cx="1445004" cy="2848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1" noProof="1">
                <a:solidFill>
                  <a:schemeClr val="bg2"/>
                </a:solidFill>
                <a:latin typeface="Albert Sans Medium" pitchFamily="2" charset="77"/>
              </a:rPr>
              <a:t>Affected Agents</a:t>
            </a:r>
          </a:p>
        </p:txBody>
      </p:sp>
      <p:sp>
        <p:nvSpPr>
          <p:cNvPr id="163" name="s404">
            <a:extLst>
              <a:ext uri="{FF2B5EF4-FFF2-40B4-BE49-F238E27FC236}">
                <a16:creationId xmlns:a16="http://schemas.microsoft.com/office/drawing/2014/main" id="{5F919A01-044E-1F04-36D2-3FFAE5B7DC55}"/>
              </a:ext>
            </a:extLst>
          </p:cNvPr>
          <p:cNvSpPr/>
          <p:nvPr/>
        </p:nvSpPr>
        <p:spPr>
          <a:xfrm>
            <a:off x="9858518" y="1178478"/>
            <a:ext cx="1049456" cy="2848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1" noProof="1">
                <a:solidFill>
                  <a:schemeClr val="bg2"/>
                </a:solidFill>
                <a:latin typeface="Albert Sans Medium" pitchFamily="2" charset="77"/>
              </a:rPr>
              <a:t>Importance</a:t>
            </a:r>
          </a:p>
        </p:txBody>
      </p:sp>
      <p:cxnSp>
        <p:nvCxnSpPr>
          <p:cNvPr id="141" name="Gerade Verbindung 140">
            <a:extLst>
              <a:ext uri="{FF2B5EF4-FFF2-40B4-BE49-F238E27FC236}">
                <a16:creationId xmlns:a16="http://schemas.microsoft.com/office/drawing/2014/main" id="{2F98660C-1BFF-75C7-CD80-55F5B2DA0201}"/>
              </a:ext>
            </a:extLst>
          </p:cNvPr>
          <p:cNvCxnSpPr>
            <a:cxnSpLocks/>
          </p:cNvCxnSpPr>
          <p:nvPr/>
        </p:nvCxnSpPr>
        <p:spPr>
          <a:xfrm>
            <a:off x="2071963" y="1195755"/>
            <a:ext cx="0" cy="49798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Gerade Verbindung 159">
            <a:extLst>
              <a:ext uri="{FF2B5EF4-FFF2-40B4-BE49-F238E27FC236}">
                <a16:creationId xmlns:a16="http://schemas.microsoft.com/office/drawing/2014/main" id="{A23815E8-561F-11D4-209F-2DBD8BA25F60}"/>
              </a:ext>
            </a:extLst>
          </p:cNvPr>
          <p:cNvCxnSpPr>
            <a:cxnSpLocks/>
          </p:cNvCxnSpPr>
          <p:nvPr/>
        </p:nvCxnSpPr>
        <p:spPr>
          <a:xfrm>
            <a:off x="8319689" y="1204117"/>
            <a:ext cx="0" cy="49798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161">
            <a:extLst>
              <a:ext uri="{FF2B5EF4-FFF2-40B4-BE49-F238E27FC236}">
                <a16:creationId xmlns:a16="http://schemas.microsoft.com/office/drawing/2014/main" id="{99CFF6E5-62DA-C89E-0011-D42144BC4A12}"/>
              </a:ext>
            </a:extLst>
          </p:cNvPr>
          <p:cNvCxnSpPr>
            <a:cxnSpLocks/>
          </p:cNvCxnSpPr>
          <p:nvPr/>
        </p:nvCxnSpPr>
        <p:spPr>
          <a:xfrm>
            <a:off x="9818484" y="1195755"/>
            <a:ext cx="0" cy="49798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163">
            <a:extLst>
              <a:ext uri="{FF2B5EF4-FFF2-40B4-BE49-F238E27FC236}">
                <a16:creationId xmlns:a16="http://schemas.microsoft.com/office/drawing/2014/main" id="{5AFBBC88-3175-C1D1-7273-64117DB9EC88}"/>
              </a:ext>
            </a:extLst>
          </p:cNvPr>
          <p:cNvCxnSpPr>
            <a:cxnSpLocks/>
          </p:cNvCxnSpPr>
          <p:nvPr/>
        </p:nvCxnSpPr>
        <p:spPr>
          <a:xfrm>
            <a:off x="10917872" y="1195755"/>
            <a:ext cx="0" cy="49798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s404">
            <a:extLst>
              <a:ext uri="{FF2B5EF4-FFF2-40B4-BE49-F238E27FC236}">
                <a16:creationId xmlns:a16="http://schemas.microsoft.com/office/drawing/2014/main" id="{986FB3F1-5E91-A296-68DF-3FEB99DFDC81}"/>
              </a:ext>
            </a:extLst>
          </p:cNvPr>
          <p:cNvSpPr/>
          <p:nvPr/>
        </p:nvSpPr>
        <p:spPr>
          <a:xfrm>
            <a:off x="10926816" y="1188637"/>
            <a:ext cx="1007261" cy="2848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1" noProof="1">
                <a:solidFill>
                  <a:schemeClr val="bg2"/>
                </a:solidFill>
                <a:latin typeface="Albert Sans Medium" pitchFamily="2" charset="77"/>
              </a:rPr>
              <a:t>Ownership</a:t>
            </a:r>
          </a:p>
        </p:txBody>
      </p:sp>
      <p:cxnSp>
        <p:nvCxnSpPr>
          <p:cNvPr id="175" name="Gerade Verbindung 174">
            <a:extLst>
              <a:ext uri="{FF2B5EF4-FFF2-40B4-BE49-F238E27FC236}">
                <a16:creationId xmlns:a16="http://schemas.microsoft.com/office/drawing/2014/main" id="{062048B1-DD34-6005-74EF-6C340F538403}"/>
              </a:ext>
            </a:extLst>
          </p:cNvPr>
          <p:cNvCxnSpPr>
            <a:cxnSpLocks/>
          </p:cNvCxnSpPr>
          <p:nvPr/>
        </p:nvCxnSpPr>
        <p:spPr>
          <a:xfrm>
            <a:off x="5296758" y="1500975"/>
            <a:ext cx="0" cy="525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177">
            <a:extLst>
              <a:ext uri="{FF2B5EF4-FFF2-40B4-BE49-F238E27FC236}">
                <a16:creationId xmlns:a16="http://schemas.microsoft.com/office/drawing/2014/main" id="{B65FFA57-79A3-EA7C-B2C0-A6DD3CFD53A5}"/>
              </a:ext>
            </a:extLst>
          </p:cNvPr>
          <p:cNvCxnSpPr>
            <a:cxnSpLocks/>
          </p:cNvCxnSpPr>
          <p:nvPr/>
        </p:nvCxnSpPr>
        <p:spPr>
          <a:xfrm>
            <a:off x="5296758" y="2182799"/>
            <a:ext cx="0" cy="525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178">
            <a:extLst>
              <a:ext uri="{FF2B5EF4-FFF2-40B4-BE49-F238E27FC236}">
                <a16:creationId xmlns:a16="http://schemas.microsoft.com/office/drawing/2014/main" id="{15698B03-4011-939A-D261-027A5FBF347E}"/>
              </a:ext>
            </a:extLst>
          </p:cNvPr>
          <p:cNvCxnSpPr>
            <a:cxnSpLocks/>
          </p:cNvCxnSpPr>
          <p:nvPr/>
        </p:nvCxnSpPr>
        <p:spPr>
          <a:xfrm>
            <a:off x="5296758" y="2864622"/>
            <a:ext cx="0" cy="525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179">
            <a:extLst>
              <a:ext uri="{FF2B5EF4-FFF2-40B4-BE49-F238E27FC236}">
                <a16:creationId xmlns:a16="http://schemas.microsoft.com/office/drawing/2014/main" id="{6B2CC867-A144-2EB6-4AB1-916F6EA2D7FB}"/>
              </a:ext>
            </a:extLst>
          </p:cNvPr>
          <p:cNvCxnSpPr>
            <a:cxnSpLocks/>
          </p:cNvCxnSpPr>
          <p:nvPr/>
        </p:nvCxnSpPr>
        <p:spPr>
          <a:xfrm>
            <a:off x="5296758" y="3546446"/>
            <a:ext cx="0" cy="525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180">
            <a:extLst>
              <a:ext uri="{FF2B5EF4-FFF2-40B4-BE49-F238E27FC236}">
                <a16:creationId xmlns:a16="http://schemas.microsoft.com/office/drawing/2014/main" id="{E5A6F10E-05DB-49C7-5D2E-606D989D86BE}"/>
              </a:ext>
            </a:extLst>
          </p:cNvPr>
          <p:cNvCxnSpPr>
            <a:cxnSpLocks/>
          </p:cNvCxnSpPr>
          <p:nvPr/>
        </p:nvCxnSpPr>
        <p:spPr>
          <a:xfrm>
            <a:off x="5296758" y="4228270"/>
            <a:ext cx="0" cy="525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181">
            <a:extLst>
              <a:ext uri="{FF2B5EF4-FFF2-40B4-BE49-F238E27FC236}">
                <a16:creationId xmlns:a16="http://schemas.microsoft.com/office/drawing/2014/main" id="{2898FF3A-8DA1-5519-1327-323DB45EE4EA}"/>
              </a:ext>
            </a:extLst>
          </p:cNvPr>
          <p:cNvCxnSpPr>
            <a:cxnSpLocks/>
          </p:cNvCxnSpPr>
          <p:nvPr/>
        </p:nvCxnSpPr>
        <p:spPr>
          <a:xfrm>
            <a:off x="5296758" y="4910094"/>
            <a:ext cx="0" cy="525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182">
            <a:extLst>
              <a:ext uri="{FF2B5EF4-FFF2-40B4-BE49-F238E27FC236}">
                <a16:creationId xmlns:a16="http://schemas.microsoft.com/office/drawing/2014/main" id="{58518CF7-D566-EA95-50BE-176C5C08489D}"/>
              </a:ext>
            </a:extLst>
          </p:cNvPr>
          <p:cNvCxnSpPr>
            <a:cxnSpLocks/>
          </p:cNvCxnSpPr>
          <p:nvPr/>
        </p:nvCxnSpPr>
        <p:spPr>
          <a:xfrm>
            <a:off x="5296758" y="5591915"/>
            <a:ext cx="0" cy="525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s404">
            <a:extLst>
              <a:ext uri="{FF2B5EF4-FFF2-40B4-BE49-F238E27FC236}">
                <a16:creationId xmlns:a16="http://schemas.microsoft.com/office/drawing/2014/main" id="{BF0E1F49-0233-1E9F-09CA-0A5ADE4D992A}"/>
              </a:ext>
            </a:extLst>
          </p:cNvPr>
          <p:cNvSpPr/>
          <p:nvPr/>
        </p:nvSpPr>
        <p:spPr>
          <a:xfrm>
            <a:off x="2385925" y="1178478"/>
            <a:ext cx="5975828" cy="260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1" noProof="1">
                <a:solidFill>
                  <a:schemeClr val="bg2"/>
                </a:solidFill>
                <a:latin typeface="Albert Sans Medium" pitchFamily="2" charset="77"/>
              </a:rPr>
              <a:t>Action Plan Record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E4D831E0-878A-0865-67B5-9C7071486D39}"/>
              </a:ext>
            </a:extLst>
          </p:cNvPr>
          <p:cNvSpPr txBox="1"/>
          <p:nvPr/>
        </p:nvSpPr>
        <p:spPr>
          <a:xfrm>
            <a:off x="8732375" y="5746217"/>
            <a:ext cx="839826" cy="232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latin typeface="Albert Sans Medium" pitchFamily="2" charset="77"/>
              </a:rPr>
              <a:t>All Agents</a:t>
            </a:r>
            <a:endParaRPr lang="en-US" sz="1000" noProof="1"/>
          </a:p>
        </p:txBody>
      </p:sp>
      <p:pic>
        <p:nvPicPr>
          <p:cNvPr id="135" name="Grafik 134">
            <a:extLst>
              <a:ext uri="{FF2B5EF4-FFF2-40B4-BE49-F238E27FC236}">
                <a16:creationId xmlns:a16="http://schemas.microsoft.com/office/drawing/2014/main" id="{C84499DD-860B-DE34-098B-1C36C5B51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24" t="1706" r="9429" b="15349"/>
          <a:stretch>
            <a:fillRect/>
          </a:stretch>
        </p:blipFill>
        <p:spPr>
          <a:xfrm>
            <a:off x="11190442" y="3619676"/>
            <a:ext cx="360000" cy="3600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136" name="Grafik 135" descr="Profilfoto">
            <a:extLst>
              <a:ext uri="{FF2B5EF4-FFF2-40B4-BE49-F238E27FC236}">
                <a16:creationId xmlns:a16="http://schemas.microsoft.com/office/drawing/2014/main" id="{BF28DFFA-A16D-E783-13C5-D539538FEC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57" t="2129" r="1373" b="4701"/>
          <a:stretch>
            <a:fillRect/>
          </a:stretch>
        </p:blipFill>
        <p:spPr>
          <a:xfrm>
            <a:off x="11190442" y="2269178"/>
            <a:ext cx="360000" cy="3600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144" name="Grafik 143" descr="Profilfoto">
            <a:extLst>
              <a:ext uri="{FF2B5EF4-FFF2-40B4-BE49-F238E27FC236}">
                <a16:creationId xmlns:a16="http://schemas.microsoft.com/office/drawing/2014/main" id="{926B3BCA-0C53-0904-0502-AA2A430A9E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57" t="2129" r="1373" b="4701"/>
          <a:stretch>
            <a:fillRect/>
          </a:stretch>
        </p:blipFill>
        <p:spPr>
          <a:xfrm>
            <a:off x="11302876" y="1575494"/>
            <a:ext cx="360000" cy="3600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143" name="Grafik 142">
            <a:extLst>
              <a:ext uri="{FF2B5EF4-FFF2-40B4-BE49-F238E27FC236}">
                <a16:creationId xmlns:a16="http://schemas.microsoft.com/office/drawing/2014/main" id="{E63D7F90-C7AC-42F2-D4CE-7BDB91B627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75" t="1223" r="19381" b="13510"/>
          <a:stretch>
            <a:fillRect/>
          </a:stretch>
        </p:blipFill>
        <p:spPr>
          <a:xfrm>
            <a:off x="11054007" y="1574133"/>
            <a:ext cx="360000" cy="3600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C5DA179-3D90-4518-E17B-9E4ABCE851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90" t="5757" r="-590" b="19341"/>
          <a:stretch>
            <a:fillRect/>
          </a:stretch>
        </p:blipFill>
        <p:spPr>
          <a:xfrm>
            <a:off x="11192242" y="4305141"/>
            <a:ext cx="356400" cy="3564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342D81E-7C5A-ED5C-66D9-04AE850054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500" b="12500"/>
          <a:stretch>
            <a:fillRect/>
          </a:stretch>
        </p:blipFill>
        <p:spPr>
          <a:xfrm>
            <a:off x="11192242" y="5668178"/>
            <a:ext cx="356400" cy="3564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  <p:sp>
        <p:nvSpPr>
          <p:cNvPr id="7" name="s502">
            <a:extLst>
              <a:ext uri="{FF2B5EF4-FFF2-40B4-BE49-F238E27FC236}">
                <a16:creationId xmlns:a16="http://schemas.microsoft.com/office/drawing/2014/main" id="{68AB3876-EA76-55E2-E34D-5E87E644258F}"/>
              </a:ext>
            </a:extLst>
          </p:cNvPr>
          <p:cNvSpPr/>
          <p:nvPr/>
        </p:nvSpPr>
        <p:spPr>
          <a:xfrm>
            <a:off x="2294589" y="6237606"/>
            <a:ext cx="4825740" cy="427355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18000" numCol="2" spcCol="108000" anchor="ctr">
            <a:noAutofit/>
          </a:bodyPr>
          <a:lstStyle/>
          <a:p>
            <a:pPr marL="72000"/>
            <a:r>
              <a:rPr lang="en-US" sz="1050" noProof="1">
                <a:latin typeface="Albert Sans Medium" pitchFamily="2" charset="77"/>
              </a:rPr>
              <a:t>🟢 Done  🟡 WIP  🔴 Not started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803C6EF9-B4DE-14A0-5A80-23409316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2" name="Fußzeilenplatzhalter 5">
            <a:extLst>
              <a:ext uri="{FF2B5EF4-FFF2-40B4-BE49-F238E27FC236}">
                <a16:creationId xmlns:a16="http://schemas.microsoft.com/office/drawing/2014/main" id="{B23C0945-3CE5-84A8-8D1F-6772F80D1DEC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1EF8D4A-C784-891B-42CD-5E8B4334E6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75" t="1223" r="19381" b="13510"/>
          <a:stretch>
            <a:fillRect/>
          </a:stretch>
        </p:blipFill>
        <p:spPr>
          <a:xfrm>
            <a:off x="11184484" y="2932921"/>
            <a:ext cx="360000" cy="3600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9ECDD69-A9A9-16BC-4801-DE9BEF08CD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75" t="1223" r="19381" b="13510"/>
          <a:stretch>
            <a:fillRect/>
          </a:stretch>
        </p:blipFill>
        <p:spPr>
          <a:xfrm>
            <a:off x="11184484" y="4979909"/>
            <a:ext cx="360000" cy="360000"/>
          </a:xfrm>
          <a:prstGeom prst="ellipse">
            <a:avLst/>
          </a:prstGeom>
          <a:solidFill>
            <a:srgbClr val="EAF2F5"/>
          </a:solidFill>
          <a:ln w="19050" cap="flat" cmpd="sng" algn="ctr">
            <a:solidFill>
              <a:srgbClr val="005176"/>
            </a:solidFill>
            <a:prstDash val="solid"/>
            <a:miter lim="800000"/>
          </a:ln>
        </p:spPr>
      </p:pic>
    </p:spTree>
    <p:extLst>
      <p:ext uri="{BB962C8B-B14F-4D97-AF65-F5344CB8AC3E}">
        <p14:creationId xmlns:p14="http://schemas.microsoft.com/office/powerpoint/2010/main" val="404314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Untertitel 10">
            <a:extLst>
              <a:ext uri="{FF2B5EF4-FFF2-40B4-BE49-F238E27FC236}">
                <a16:creationId xmlns:a16="http://schemas.microsoft.com/office/drawing/2014/main" id="{D356544A-7A48-48B1-A359-4AC90CFB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02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64A310B2-A1AD-45A0-A778-BDDEEB42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OUR Solution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BA98CC-8C57-5A59-873D-48DDCA21F8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7E921ADE-D062-A6B9-B520-362C5009F574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>
                <a:solidFill>
                  <a:schemeClr val="bg1"/>
                </a:solidFill>
              </a:rPr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90784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3E40B-790A-F5F0-9D69-7CE72CBB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uppieren 225">
            <a:extLst>
              <a:ext uri="{FF2B5EF4-FFF2-40B4-BE49-F238E27FC236}">
                <a16:creationId xmlns:a16="http://schemas.microsoft.com/office/drawing/2014/main" id="{5428C258-EDD9-0872-EB55-4CFF1E92FAB2}"/>
              </a:ext>
            </a:extLst>
          </p:cNvPr>
          <p:cNvGrpSpPr/>
          <p:nvPr/>
        </p:nvGrpSpPr>
        <p:grpSpPr>
          <a:xfrm>
            <a:off x="10244555" y="5187142"/>
            <a:ext cx="1396585" cy="550415"/>
            <a:chOff x="5048313" y="5187142"/>
            <a:chExt cx="1428942" cy="550415"/>
          </a:xfrm>
        </p:grpSpPr>
        <p:sp>
          <p:nvSpPr>
            <p:cNvPr id="63" name="Abgerundetes Rechteck 62">
              <a:extLst>
                <a:ext uri="{FF2B5EF4-FFF2-40B4-BE49-F238E27FC236}">
                  <a16:creationId xmlns:a16="http://schemas.microsoft.com/office/drawing/2014/main" id="{DA5F345A-27A4-C682-BA2F-70A5B100D02E}"/>
                </a:ext>
              </a:extLst>
            </p:cNvPr>
            <p:cNvSpPr/>
            <p:nvPr/>
          </p:nvSpPr>
          <p:spPr>
            <a:xfrm>
              <a:off x="5048313" y="5187142"/>
              <a:ext cx="1171997" cy="550415"/>
            </a:xfrm>
            <a:prstGeom prst="roundRect">
              <a:avLst>
                <a:gd name="adj" fmla="val 22271"/>
              </a:avLst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65" name="TextBox 163">
              <a:extLst>
                <a:ext uri="{FF2B5EF4-FFF2-40B4-BE49-F238E27FC236}">
                  <a16:creationId xmlns:a16="http://schemas.microsoft.com/office/drawing/2014/main" id="{4F3946C6-D881-D3D0-1459-75F917C6D5E4}"/>
                </a:ext>
              </a:extLst>
            </p:cNvPr>
            <p:cNvSpPr txBox="1"/>
            <p:nvPr/>
          </p:nvSpPr>
          <p:spPr>
            <a:xfrm>
              <a:off x="5539800" y="5330311"/>
              <a:ext cx="937455" cy="2526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de-DE" sz="900" b="0">
                  <a:solidFill>
                    <a:srgbClr val="3E4148"/>
                  </a:solidFill>
                  <a:latin typeface="Albert Sans Medium" pitchFamily="2" charset="77"/>
                </a:rPr>
                <a:t>Passenger </a:t>
              </a:r>
            </a:p>
            <a:p>
              <a:r>
                <a:rPr sz="900" b="0">
                  <a:solidFill>
                    <a:srgbClr val="3E4148"/>
                  </a:solidFill>
                  <a:latin typeface="Albert Sans Medium" pitchFamily="2" charset="77"/>
                </a:rPr>
                <a:t>Rights RAG</a:t>
              </a:r>
            </a:p>
          </p:txBody>
        </p:sp>
        <p:pic>
          <p:nvPicPr>
            <p:cNvPr id="85" name="Grafik 84" descr="Database icon - Free Download PNG &amp; SVG | Streamline">
              <a:extLst>
                <a:ext uri="{FF2B5EF4-FFF2-40B4-BE49-F238E27FC236}">
                  <a16:creationId xmlns:a16="http://schemas.microsoft.com/office/drawing/2014/main" id="{E5FE8348-CA88-991C-F583-37C0EC9BA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92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52615" y="5303602"/>
              <a:ext cx="324448" cy="317493"/>
            </a:xfrm>
            <a:prstGeom prst="rect">
              <a:avLst/>
            </a:prstGeom>
          </p:spPr>
        </p:pic>
        <p:pic>
          <p:nvPicPr>
            <p:cNvPr id="86" name="Picture 152" descr="db.png">
              <a:extLst>
                <a:ext uri="{FF2B5EF4-FFF2-40B4-BE49-F238E27FC236}">
                  <a16:creationId xmlns:a16="http://schemas.microsoft.com/office/drawing/2014/main" id="{12EF72DD-6ABD-91BC-117B-671F62AF2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646485">
              <a:off x="5137468" y="5298606"/>
              <a:ext cx="176900" cy="121175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D77FBAA-6514-C720-26BD-9268ABAA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Our Architecture employs a Multi-Agent-Setup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BC0B353-34C5-47FB-31FE-A2F09D97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771D6590-76AC-4C0C-F047-5284215437FA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0FAB1E1-3DA1-94EE-0808-24C9BC827F4A}"/>
              </a:ext>
            </a:extLst>
          </p:cNvPr>
          <p:cNvGrpSpPr/>
          <p:nvPr/>
        </p:nvGrpSpPr>
        <p:grpSpPr>
          <a:xfrm>
            <a:off x="8681092" y="3697848"/>
            <a:ext cx="2530420" cy="2196666"/>
            <a:chOff x="9341357" y="3772531"/>
            <a:chExt cx="2777910" cy="2408541"/>
          </a:xfrm>
        </p:grpSpPr>
        <p:grpSp>
          <p:nvGrpSpPr>
            <p:cNvPr id="197" name="Gruppieren 196">
              <a:extLst>
                <a:ext uri="{FF2B5EF4-FFF2-40B4-BE49-F238E27FC236}">
                  <a16:creationId xmlns:a16="http://schemas.microsoft.com/office/drawing/2014/main" id="{6C60C46D-21E1-9B0E-BB54-92D21E53785D}"/>
                </a:ext>
              </a:extLst>
            </p:cNvPr>
            <p:cNvGrpSpPr/>
            <p:nvPr/>
          </p:nvGrpSpPr>
          <p:grpSpPr>
            <a:xfrm>
              <a:off x="9341357" y="3772531"/>
              <a:ext cx="2777910" cy="2408541"/>
              <a:chOff x="9341357" y="3772531"/>
              <a:chExt cx="2777910" cy="2408541"/>
            </a:xfrm>
          </p:grpSpPr>
          <p:cxnSp>
            <p:nvCxnSpPr>
              <p:cNvPr id="199" name="Connector 26">
                <a:extLst>
                  <a:ext uri="{FF2B5EF4-FFF2-40B4-BE49-F238E27FC236}">
                    <a16:creationId xmlns:a16="http://schemas.microsoft.com/office/drawing/2014/main" id="{FDC2D317-A0FF-0620-4623-5813B7F8B8F9}"/>
                  </a:ext>
                </a:extLst>
              </p:cNvPr>
              <p:cNvCxnSpPr/>
              <p:nvPr/>
            </p:nvCxnSpPr>
            <p:spPr>
              <a:xfrm flipH="1">
                <a:off x="9844278" y="4709791"/>
                <a:ext cx="749808" cy="658368"/>
              </a:xfrm>
              <a:prstGeom prst="line">
                <a:avLst/>
              </a:prstGeom>
              <a:ln w="15240">
                <a:solidFill>
                  <a:srgbClr val="A9ADB5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nector 27">
                <a:extLst>
                  <a:ext uri="{FF2B5EF4-FFF2-40B4-BE49-F238E27FC236}">
                    <a16:creationId xmlns:a16="http://schemas.microsoft.com/office/drawing/2014/main" id="{20D86B9B-AFDD-DEC3-3B80-58C53D1A98CF}"/>
                  </a:ext>
                </a:extLst>
              </p:cNvPr>
              <p:cNvCxnSpPr/>
              <p:nvPr/>
            </p:nvCxnSpPr>
            <p:spPr>
              <a:xfrm>
                <a:off x="10594086" y="4709791"/>
                <a:ext cx="0" cy="658368"/>
              </a:xfrm>
              <a:prstGeom prst="line">
                <a:avLst/>
              </a:prstGeom>
              <a:ln w="15240">
                <a:solidFill>
                  <a:srgbClr val="A9ADB5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Connector 28">
                <a:extLst>
                  <a:ext uri="{FF2B5EF4-FFF2-40B4-BE49-F238E27FC236}">
                    <a16:creationId xmlns:a16="http://schemas.microsoft.com/office/drawing/2014/main" id="{A028D61E-C4CE-14E1-E1E6-8695301AE0D4}"/>
                  </a:ext>
                </a:extLst>
              </p:cNvPr>
              <p:cNvCxnSpPr/>
              <p:nvPr/>
            </p:nvCxnSpPr>
            <p:spPr>
              <a:xfrm>
                <a:off x="10594086" y="4709791"/>
                <a:ext cx="749808" cy="658368"/>
              </a:xfrm>
              <a:prstGeom prst="line">
                <a:avLst/>
              </a:prstGeom>
              <a:ln w="15240">
                <a:solidFill>
                  <a:srgbClr val="A9ADB5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Rounded Rectangle 120">
                <a:extLst>
                  <a:ext uri="{FF2B5EF4-FFF2-40B4-BE49-F238E27FC236}">
                    <a16:creationId xmlns:a16="http://schemas.microsoft.com/office/drawing/2014/main" id="{82EC3E60-796D-4B14-3A07-8CC19F28ABF2}"/>
                  </a:ext>
                </a:extLst>
              </p:cNvPr>
              <p:cNvSpPr/>
              <p:nvPr/>
            </p:nvSpPr>
            <p:spPr>
              <a:xfrm>
                <a:off x="9835134" y="3804535"/>
                <a:ext cx="1517904" cy="86868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5875">
                <a:solidFill>
                  <a:srgbClr val="E0E2E7"/>
                </a:solidFill>
              </a:ln>
              <a:effectLst>
                <a:outerShdw blurRad="50000" dist="18000" dir="5400000" rotWithShape="0">
                  <a:srgbClr val="16181D">
                    <a:alpha val="9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A6CD3D19-8EFE-FC17-7AEB-0E70ED901CEA}"/>
                  </a:ext>
                </a:extLst>
              </p:cNvPr>
              <p:cNvSpPr/>
              <p:nvPr/>
            </p:nvSpPr>
            <p:spPr>
              <a:xfrm>
                <a:off x="10562082" y="3772531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cxnSp>
            <p:nvCxnSpPr>
              <p:cNvPr id="204" name="Connector 122">
                <a:extLst>
                  <a:ext uri="{FF2B5EF4-FFF2-40B4-BE49-F238E27FC236}">
                    <a16:creationId xmlns:a16="http://schemas.microsoft.com/office/drawing/2014/main" id="{8BF248F1-CF14-1DF9-2D31-BBD56DCDA487}"/>
                  </a:ext>
                </a:extLst>
              </p:cNvPr>
              <p:cNvCxnSpPr/>
              <p:nvPr/>
            </p:nvCxnSpPr>
            <p:spPr>
              <a:xfrm>
                <a:off x="10127559" y="4038255"/>
                <a:ext cx="0" cy="68031"/>
              </a:xfrm>
              <a:prstGeom prst="line">
                <a:avLst/>
              </a:prstGeom>
              <a:ln w="13779">
                <a:solidFill>
                  <a:srgbClr val="3E414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A1E1F144-CB19-8642-3F51-0229A805C92F}"/>
                  </a:ext>
                </a:extLst>
              </p:cNvPr>
              <p:cNvSpPr/>
              <p:nvPr/>
            </p:nvSpPr>
            <p:spPr>
              <a:xfrm>
                <a:off x="10103464" y="3994318"/>
                <a:ext cx="48188" cy="48188"/>
              </a:xfrm>
              <a:prstGeom prst="ellipse">
                <a:avLst/>
              </a:prstGeom>
              <a:solidFill>
                <a:srgbClr val="3E414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6" name="Rounded Rectangle 124">
                <a:extLst>
                  <a:ext uri="{FF2B5EF4-FFF2-40B4-BE49-F238E27FC236}">
                    <a16:creationId xmlns:a16="http://schemas.microsoft.com/office/drawing/2014/main" id="{FCD40606-7C00-39B4-C11B-C1029F0F5F4D}"/>
                  </a:ext>
                </a:extLst>
              </p:cNvPr>
              <p:cNvSpPr/>
              <p:nvPr/>
            </p:nvSpPr>
            <p:spPr>
              <a:xfrm>
                <a:off x="9963150" y="4106286"/>
                <a:ext cx="328818" cy="249448"/>
              </a:xfrm>
              <a:prstGeom prst="roundRect">
                <a:avLst>
                  <a:gd name="adj" fmla="val 28000"/>
                </a:avLst>
              </a:prstGeom>
              <a:solidFill>
                <a:srgbClr val="3E414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4C2379A2-C80A-C03C-923F-E1FC29FC39AD}"/>
                  </a:ext>
                </a:extLst>
              </p:cNvPr>
              <p:cNvSpPr/>
              <p:nvPr/>
            </p:nvSpPr>
            <p:spPr>
              <a:xfrm>
                <a:off x="10036850" y="4174318"/>
                <a:ext cx="59527" cy="595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0F6878D4-477C-4325-3093-51C1D0ACBFF4}"/>
                  </a:ext>
                </a:extLst>
              </p:cNvPr>
              <p:cNvSpPr/>
              <p:nvPr/>
            </p:nvSpPr>
            <p:spPr>
              <a:xfrm>
                <a:off x="10158740" y="4174318"/>
                <a:ext cx="59527" cy="595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9" name="Rounded Rectangle 127">
                <a:extLst>
                  <a:ext uri="{FF2B5EF4-FFF2-40B4-BE49-F238E27FC236}">
                    <a16:creationId xmlns:a16="http://schemas.microsoft.com/office/drawing/2014/main" id="{44AE4581-B976-3DF8-B7B4-292791B5DE01}"/>
                  </a:ext>
                </a:extLst>
              </p:cNvPr>
              <p:cNvSpPr/>
              <p:nvPr/>
            </p:nvSpPr>
            <p:spPr>
              <a:xfrm>
                <a:off x="10073700" y="4276365"/>
                <a:ext cx="107716" cy="31181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0" name="TextBox 128">
                <a:extLst>
                  <a:ext uri="{FF2B5EF4-FFF2-40B4-BE49-F238E27FC236}">
                    <a16:creationId xmlns:a16="http://schemas.microsoft.com/office/drawing/2014/main" id="{AD58A5EB-F9E3-8E1F-F1B2-59029A21E314}"/>
                  </a:ext>
                </a:extLst>
              </p:cNvPr>
              <p:cNvSpPr txBox="1"/>
              <p:nvPr/>
            </p:nvSpPr>
            <p:spPr>
              <a:xfrm>
                <a:off x="10383774" y="4069018"/>
                <a:ext cx="941832" cy="3712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100" b="1">
                    <a:solidFill>
                      <a:srgbClr val="3E4148"/>
                    </a:solidFill>
                    <a:latin typeface="Albert Sans Black" pitchFamily="2" charset="77"/>
                  </a:rPr>
                  <a:t>Executor</a:t>
                </a:r>
              </a:p>
              <a:p>
                <a:pPr algn="l"/>
                <a:r>
                  <a:rPr sz="1100" b="1">
                    <a:solidFill>
                      <a:srgbClr val="3E4148"/>
                    </a:solidFill>
                    <a:latin typeface="Albert Sans Black" pitchFamily="2" charset="77"/>
                  </a:rPr>
                  <a:t>Agent</a:t>
                </a:r>
              </a:p>
            </p:txBody>
          </p:sp>
          <p:sp>
            <p:nvSpPr>
              <p:cNvPr id="211" name="Diamond 130">
                <a:extLst>
                  <a:ext uri="{FF2B5EF4-FFF2-40B4-BE49-F238E27FC236}">
                    <a16:creationId xmlns:a16="http://schemas.microsoft.com/office/drawing/2014/main" id="{D4ACF7CB-0A82-E81A-237F-8610187F4C4B}"/>
                  </a:ext>
                </a:extLst>
              </p:cNvPr>
              <p:cNvSpPr/>
              <p:nvPr/>
            </p:nvSpPr>
            <p:spPr>
              <a:xfrm>
                <a:off x="10534650" y="4613778"/>
                <a:ext cx="118872" cy="118872"/>
              </a:xfrm>
              <a:prstGeom prst="diamond">
                <a:avLst/>
              </a:prstGeom>
              <a:solidFill>
                <a:srgbClr val="7B79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8BF1DEA8-3511-246E-1DDA-C76B63E8DAD7}"/>
                  </a:ext>
                </a:extLst>
              </p:cNvPr>
              <p:cNvSpPr/>
              <p:nvPr/>
            </p:nvSpPr>
            <p:spPr>
              <a:xfrm>
                <a:off x="9542526" y="5386447"/>
                <a:ext cx="603504" cy="603504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CCA69874-2518-7559-367B-355646F2A29B}"/>
                  </a:ext>
                </a:extLst>
              </p:cNvPr>
              <p:cNvSpPr/>
              <p:nvPr/>
            </p:nvSpPr>
            <p:spPr>
              <a:xfrm>
                <a:off x="9812274" y="5354443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5" name="TextBox 186">
                <a:extLst>
                  <a:ext uri="{FF2B5EF4-FFF2-40B4-BE49-F238E27FC236}">
                    <a16:creationId xmlns:a16="http://schemas.microsoft.com/office/drawing/2014/main" id="{34EEE379-C297-8E78-AB45-E959A0D37F12}"/>
                  </a:ext>
                </a:extLst>
              </p:cNvPr>
              <p:cNvSpPr txBox="1"/>
              <p:nvPr/>
            </p:nvSpPr>
            <p:spPr>
              <a:xfrm>
                <a:off x="9341357" y="6044815"/>
                <a:ext cx="1005841" cy="13498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 b="0">
                    <a:solidFill>
                      <a:srgbClr val="3E4148"/>
                    </a:solidFill>
                    <a:latin typeface="Albert Sans Medium" pitchFamily="2" charset="77"/>
                  </a:rPr>
                  <a:t>Booking</a:t>
                </a:r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86644EB7-D45C-5915-DB57-F9EDC7F765B1}"/>
                  </a:ext>
                </a:extLst>
              </p:cNvPr>
              <p:cNvSpPr/>
              <p:nvPr/>
            </p:nvSpPr>
            <p:spPr>
              <a:xfrm>
                <a:off x="10292334" y="5386447"/>
                <a:ext cx="603504" cy="603504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29CD4547-28DD-687B-BBE1-067506385C7D}"/>
                  </a:ext>
                </a:extLst>
              </p:cNvPr>
              <p:cNvSpPr/>
              <p:nvPr/>
            </p:nvSpPr>
            <p:spPr>
              <a:xfrm>
                <a:off x="10562082" y="5354443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9" name="TextBox 191">
                <a:extLst>
                  <a:ext uri="{FF2B5EF4-FFF2-40B4-BE49-F238E27FC236}">
                    <a16:creationId xmlns:a16="http://schemas.microsoft.com/office/drawing/2014/main" id="{EB96C8E9-20E8-4594-3A27-91D7FF15FABD}"/>
                  </a:ext>
                </a:extLst>
              </p:cNvPr>
              <p:cNvSpPr txBox="1"/>
              <p:nvPr/>
            </p:nvSpPr>
            <p:spPr>
              <a:xfrm>
                <a:off x="10091166" y="6044815"/>
                <a:ext cx="100584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 b="0">
                    <a:solidFill>
                      <a:srgbClr val="3E4148"/>
                    </a:solidFill>
                    <a:latin typeface="Albert Sans Medium" pitchFamily="2" charset="77"/>
                  </a:rPr>
                  <a:t>Reschedule</a:t>
                </a:r>
              </a:p>
            </p:txBody>
          </p:sp>
          <p:sp>
            <p:nvSpPr>
              <p:cNvPr id="224" name="TextBox 196">
                <a:extLst>
                  <a:ext uri="{FF2B5EF4-FFF2-40B4-BE49-F238E27FC236}">
                    <a16:creationId xmlns:a16="http://schemas.microsoft.com/office/drawing/2014/main" id="{C66406D1-1FE2-6D3D-A32D-F88B3E737CEA}"/>
                  </a:ext>
                </a:extLst>
              </p:cNvPr>
              <p:cNvSpPr txBox="1"/>
              <p:nvPr/>
            </p:nvSpPr>
            <p:spPr>
              <a:xfrm>
                <a:off x="11113426" y="6057961"/>
                <a:ext cx="100584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 b="0">
                    <a:solidFill>
                      <a:srgbClr val="3E4148"/>
                    </a:solidFill>
                    <a:latin typeface="Albert Sans Medium" pitchFamily="2" charset="77"/>
                  </a:rPr>
                  <a:t>Compensation</a:t>
                </a:r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695FE2C5-EC77-B3C6-B2CD-99156593FBA8}"/>
                  </a:ext>
                </a:extLst>
              </p:cNvPr>
              <p:cNvSpPr/>
              <p:nvPr/>
            </p:nvSpPr>
            <p:spPr>
              <a:xfrm>
                <a:off x="11311890" y="5354443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</p:grpSp>
        <p:pic>
          <p:nvPicPr>
            <p:cNvPr id="198" name="Grafik 197" descr="Outlook Calendar color icon in PNG, SVG">
              <a:extLst>
                <a:ext uri="{FF2B5EF4-FFF2-40B4-BE49-F238E27FC236}">
                  <a16:creationId xmlns:a16="http://schemas.microsoft.com/office/drawing/2014/main" id="{8AF2C57D-18AC-690F-8482-A6EA9001E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/>
          </p:blipFill>
          <p:spPr>
            <a:xfrm>
              <a:off x="10449369" y="5535347"/>
              <a:ext cx="320120" cy="320120"/>
            </a:xfrm>
            <a:prstGeom prst="rect">
              <a:avLst/>
            </a:prstGeom>
          </p:spPr>
        </p:pic>
      </p:grp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E4D21BA5-BD25-F88C-952C-C5BC62E12996}"/>
              </a:ext>
            </a:extLst>
          </p:cNvPr>
          <p:cNvCxnSpPr>
            <a:cxnSpLocks/>
            <a:stCxn id="195" idx="7"/>
            <a:endCxn id="183" idx="1"/>
          </p:cNvCxnSpPr>
          <p:nvPr/>
        </p:nvCxnSpPr>
        <p:spPr>
          <a:xfrm>
            <a:off x="1876744" y="2548633"/>
            <a:ext cx="1043816" cy="6112"/>
          </a:xfrm>
          <a:prstGeom prst="line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7E3DCB8C-E7DB-00BB-7DB5-D81F0AAF175E}"/>
              </a:ext>
            </a:extLst>
          </p:cNvPr>
          <p:cNvCxnSpPr>
            <a:cxnSpLocks/>
            <a:stCxn id="166" idx="6"/>
          </p:cNvCxnSpPr>
          <p:nvPr/>
        </p:nvCxnSpPr>
        <p:spPr>
          <a:xfrm>
            <a:off x="2458501" y="4150556"/>
            <a:ext cx="522679" cy="0"/>
          </a:xfrm>
          <a:prstGeom prst="line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D58EF020-2A5C-CF42-78BD-AF58EF85FB06}"/>
              </a:ext>
            </a:extLst>
          </p:cNvPr>
          <p:cNvCxnSpPr>
            <a:cxnSpLocks/>
            <a:stCxn id="24" idx="6"/>
            <a:endCxn id="183" idx="1"/>
          </p:cNvCxnSpPr>
          <p:nvPr/>
        </p:nvCxnSpPr>
        <p:spPr>
          <a:xfrm flipH="1" flipV="1">
            <a:off x="2920561" y="2554745"/>
            <a:ext cx="1043250" cy="1771551"/>
          </a:xfrm>
          <a:prstGeom prst="curvedConnector5">
            <a:avLst>
              <a:gd name="adj1" fmla="val -19960"/>
              <a:gd name="adj2" fmla="val 49176"/>
              <a:gd name="adj3" fmla="val 119960"/>
            </a:avLst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C4A4CB1B-53E3-982C-284E-CDEDF14B44A3}"/>
              </a:ext>
            </a:extLst>
          </p:cNvPr>
          <p:cNvCxnSpPr>
            <a:cxnSpLocks/>
            <a:stCxn id="185" idx="0"/>
          </p:cNvCxnSpPr>
          <p:nvPr/>
        </p:nvCxnSpPr>
        <p:spPr>
          <a:xfrm flipH="1" flipV="1">
            <a:off x="3890929" y="1641556"/>
            <a:ext cx="66635" cy="233509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3">
            <a:extLst>
              <a:ext uri="{FF2B5EF4-FFF2-40B4-BE49-F238E27FC236}">
                <a16:creationId xmlns:a16="http://schemas.microsoft.com/office/drawing/2014/main" id="{B8F25D29-63FD-0E85-BFDB-CA44CA786E74}"/>
              </a:ext>
            </a:extLst>
          </p:cNvPr>
          <p:cNvCxnSpPr>
            <a:cxnSpLocks/>
          </p:cNvCxnSpPr>
          <p:nvPr/>
        </p:nvCxnSpPr>
        <p:spPr>
          <a:xfrm flipH="1">
            <a:off x="4683022" y="1591519"/>
            <a:ext cx="83932" cy="266868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4">
            <a:extLst>
              <a:ext uri="{FF2B5EF4-FFF2-40B4-BE49-F238E27FC236}">
                <a16:creationId xmlns:a16="http://schemas.microsoft.com/office/drawing/2014/main" id="{E0EF30E5-5ACF-597C-6103-D93ABBA9706D}"/>
              </a:ext>
            </a:extLst>
          </p:cNvPr>
          <p:cNvCxnSpPr>
            <a:cxnSpLocks/>
            <a:stCxn id="157" idx="2"/>
            <a:endCxn id="186" idx="2"/>
          </p:cNvCxnSpPr>
          <p:nvPr/>
        </p:nvCxnSpPr>
        <p:spPr>
          <a:xfrm flipV="1">
            <a:off x="1704477" y="3246933"/>
            <a:ext cx="3502488" cy="487869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5">
            <a:extLst>
              <a:ext uri="{FF2B5EF4-FFF2-40B4-BE49-F238E27FC236}">
                <a16:creationId xmlns:a16="http://schemas.microsoft.com/office/drawing/2014/main" id="{FE570403-C199-1C3B-F805-988ABB6A3AD0}"/>
              </a:ext>
            </a:extLst>
          </p:cNvPr>
          <p:cNvCxnSpPr>
            <a:cxnSpLocks/>
            <a:stCxn id="186" idx="2"/>
            <a:endCxn id="46" idx="1"/>
          </p:cNvCxnSpPr>
          <p:nvPr/>
        </p:nvCxnSpPr>
        <p:spPr>
          <a:xfrm>
            <a:off x="5206965" y="3246933"/>
            <a:ext cx="126734" cy="476815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6">
            <a:extLst>
              <a:ext uri="{FF2B5EF4-FFF2-40B4-BE49-F238E27FC236}">
                <a16:creationId xmlns:a16="http://schemas.microsoft.com/office/drawing/2014/main" id="{94CD30D1-DF5F-2CE3-BD94-8BEAEA2816B1}"/>
              </a:ext>
            </a:extLst>
          </p:cNvPr>
          <p:cNvCxnSpPr>
            <a:cxnSpLocks/>
            <a:stCxn id="186" idx="2"/>
            <a:endCxn id="114" idx="0"/>
          </p:cNvCxnSpPr>
          <p:nvPr/>
        </p:nvCxnSpPr>
        <p:spPr>
          <a:xfrm>
            <a:off x="5206965" y="3246933"/>
            <a:ext cx="2567712" cy="494375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35899F7-3429-9366-F09F-9AC936FAC15C}"/>
              </a:ext>
            </a:extLst>
          </p:cNvPr>
          <p:cNvGrpSpPr/>
          <p:nvPr/>
        </p:nvGrpSpPr>
        <p:grpSpPr>
          <a:xfrm>
            <a:off x="689285" y="2108151"/>
            <a:ext cx="1375651" cy="1321115"/>
            <a:chOff x="252545" y="1188720"/>
            <a:chExt cx="1510198" cy="1448540"/>
          </a:xfrm>
        </p:grpSpPr>
        <p:pic>
          <p:nvPicPr>
            <p:cNvPr id="190" name="Picture 29" descr="trigger_node.png">
              <a:extLst>
                <a:ext uri="{FF2B5EF4-FFF2-40B4-BE49-F238E27FC236}">
                  <a16:creationId xmlns:a16="http://schemas.microsoft.com/office/drawing/2014/main" id="{6BAB860F-09B2-705C-2445-0E3BC645A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920" y="1188720"/>
              <a:ext cx="1024128" cy="1024128"/>
            </a:xfrm>
            <a:prstGeom prst="rect">
              <a:avLst/>
            </a:prstGeom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</p:pic>
        <p:sp>
          <p:nvSpPr>
            <p:cNvPr id="191" name="Rounded Rectangle 30">
              <a:extLst>
                <a:ext uri="{FF2B5EF4-FFF2-40B4-BE49-F238E27FC236}">
                  <a16:creationId xmlns:a16="http://schemas.microsoft.com/office/drawing/2014/main" id="{93B1EAE7-7BD9-9B70-FA1F-50BAD4F0EF20}"/>
                </a:ext>
              </a:extLst>
            </p:cNvPr>
            <p:cNvSpPr/>
            <p:nvPr/>
          </p:nvSpPr>
          <p:spPr>
            <a:xfrm>
              <a:off x="758951" y="1499616"/>
              <a:ext cx="475488" cy="338328"/>
            </a:xfrm>
            <a:prstGeom prst="roundRect">
              <a:avLst>
                <a:gd name="adj" fmla="val 42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2" name="Isosceles Triangle 31">
              <a:extLst>
                <a:ext uri="{FF2B5EF4-FFF2-40B4-BE49-F238E27FC236}">
                  <a16:creationId xmlns:a16="http://schemas.microsoft.com/office/drawing/2014/main" id="{1F0D20B4-5525-4FD2-786E-0993E34E5059}"/>
                </a:ext>
              </a:extLst>
            </p:cNvPr>
            <p:cNvSpPr/>
            <p:nvPr/>
          </p:nvSpPr>
          <p:spPr>
            <a:xfrm rot="11700000">
              <a:off x="804671" y="1792224"/>
              <a:ext cx="146304" cy="128016"/>
            </a:xfrm>
            <a:prstGeom prst="triangl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3" name="Rounded Rectangle 32">
              <a:extLst>
                <a:ext uri="{FF2B5EF4-FFF2-40B4-BE49-F238E27FC236}">
                  <a16:creationId xmlns:a16="http://schemas.microsoft.com/office/drawing/2014/main" id="{480478AC-CD3C-82E3-7A7E-B236EE0A8D12}"/>
                </a:ext>
              </a:extLst>
            </p:cNvPr>
            <p:cNvSpPr/>
            <p:nvPr/>
          </p:nvSpPr>
          <p:spPr>
            <a:xfrm>
              <a:off x="1097280" y="1705356"/>
              <a:ext cx="274320" cy="210312"/>
            </a:xfrm>
            <a:prstGeom prst="roundRect">
              <a:avLst>
                <a:gd name="adj" fmla="val 45000"/>
              </a:avLst>
            </a:prstGeom>
            <a:solidFill>
              <a:srgbClr val="3E4148"/>
            </a:solidFill>
            <a:ln w="1778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0BE59CC6-9151-04E4-79DB-53C6129696D6}"/>
                </a:ext>
              </a:extLst>
            </p:cNvPr>
            <p:cNvSpPr/>
            <p:nvPr/>
          </p:nvSpPr>
          <p:spPr>
            <a:xfrm>
              <a:off x="1485900" y="1659636"/>
              <a:ext cx="82296" cy="82296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6" name="TextBox 35">
              <a:extLst>
                <a:ext uri="{FF2B5EF4-FFF2-40B4-BE49-F238E27FC236}">
                  <a16:creationId xmlns:a16="http://schemas.microsoft.com/office/drawing/2014/main" id="{DF9549BD-3520-397A-3ACC-A56961205CB0}"/>
                </a:ext>
              </a:extLst>
            </p:cNvPr>
            <p:cNvSpPr txBox="1"/>
            <p:nvPr/>
          </p:nvSpPr>
          <p:spPr>
            <a:xfrm>
              <a:off x="252545" y="2266052"/>
              <a:ext cx="1510198" cy="3712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de-DE" sz="1100" b="0">
                  <a:solidFill>
                    <a:srgbClr val="3E4148"/>
                  </a:solidFill>
                </a:rPr>
                <a:t>On </a:t>
              </a:r>
              <a:r>
                <a:rPr lang="de-DE" sz="1100" b="0" err="1">
                  <a:solidFill>
                    <a:srgbClr val="3E4148"/>
                  </a:solidFill>
                </a:rPr>
                <a:t>start</a:t>
              </a:r>
              <a:r>
                <a:rPr lang="de-DE" sz="1100" b="0">
                  <a:solidFill>
                    <a:srgbClr val="3E4148"/>
                  </a:solidFill>
                </a:rPr>
                <a:t> of the </a:t>
              </a:r>
              <a:r>
                <a:rPr lang="de-DE" sz="1100" b="0" err="1">
                  <a:solidFill>
                    <a:srgbClr val="3E4148"/>
                  </a:solidFill>
                </a:rPr>
                <a:t>autopilot</a:t>
              </a:r>
              <a:endParaRPr sz="1100" b="0">
                <a:solidFill>
                  <a:srgbClr val="3E4148"/>
                </a:solidFill>
              </a:endParaRPr>
            </a:p>
          </p:txBody>
        </p:sp>
      </p:grpSp>
      <p:sp>
        <p:nvSpPr>
          <p:cNvPr id="174" name="Rounded Rectangle 37">
            <a:extLst>
              <a:ext uri="{FF2B5EF4-FFF2-40B4-BE49-F238E27FC236}">
                <a16:creationId xmlns:a16="http://schemas.microsoft.com/office/drawing/2014/main" id="{24F4C2A5-601C-C1A8-5DAF-25F5CAEF4CEA}"/>
              </a:ext>
            </a:extLst>
          </p:cNvPr>
          <p:cNvSpPr/>
          <p:nvPr/>
        </p:nvSpPr>
        <p:spPr>
          <a:xfrm>
            <a:off x="2958043" y="1929273"/>
            <a:ext cx="2498802" cy="125094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0E2E7"/>
            </a:solidFill>
          </a:ln>
          <a:effectLst>
            <a:outerShdw blurRad="50000" dist="18000" dir="5400000" rotWithShape="0">
              <a:srgbClr val="16181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175" name="Connector 38">
            <a:extLst>
              <a:ext uri="{FF2B5EF4-FFF2-40B4-BE49-F238E27FC236}">
                <a16:creationId xmlns:a16="http://schemas.microsoft.com/office/drawing/2014/main" id="{924E6148-DEFE-2950-9B28-9EA364C61354}"/>
              </a:ext>
            </a:extLst>
          </p:cNvPr>
          <p:cNvCxnSpPr/>
          <p:nvPr/>
        </p:nvCxnSpPr>
        <p:spPr>
          <a:xfrm>
            <a:off x="3449474" y="2318041"/>
            <a:ext cx="0" cy="100075"/>
          </a:xfrm>
          <a:prstGeom prst="line">
            <a:avLst/>
          </a:prstGeom>
          <a:ln w="22225">
            <a:solidFill>
              <a:srgbClr val="3E41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860C0588-58AD-A755-1DFF-F6011FBD8FF5}"/>
              </a:ext>
            </a:extLst>
          </p:cNvPr>
          <p:cNvSpPr/>
          <p:nvPr/>
        </p:nvSpPr>
        <p:spPr>
          <a:xfrm>
            <a:off x="3414074" y="2253409"/>
            <a:ext cx="70799" cy="70887"/>
          </a:xfrm>
          <a:prstGeom prst="ellipse">
            <a:avLst/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77" name="Rounded Rectangle 40">
            <a:extLst>
              <a:ext uri="{FF2B5EF4-FFF2-40B4-BE49-F238E27FC236}">
                <a16:creationId xmlns:a16="http://schemas.microsoft.com/office/drawing/2014/main" id="{8769AA6D-4649-B6A2-9B51-EEB3B16DA9B2}"/>
              </a:ext>
            </a:extLst>
          </p:cNvPr>
          <p:cNvSpPr/>
          <p:nvPr/>
        </p:nvSpPr>
        <p:spPr>
          <a:xfrm>
            <a:off x="3207923" y="2418117"/>
            <a:ext cx="483102" cy="366943"/>
          </a:xfrm>
          <a:prstGeom prst="roundRect">
            <a:avLst>
              <a:gd name="adj" fmla="val 28000"/>
            </a:avLst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972F2B99-AF8F-657C-0F3A-3B710ABE7075}"/>
              </a:ext>
            </a:extLst>
          </p:cNvPr>
          <p:cNvSpPr/>
          <p:nvPr/>
        </p:nvSpPr>
        <p:spPr>
          <a:xfrm>
            <a:off x="3316204" y="2518192"/>
            <a:ext cx="87458" cy="875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951A603D-5AE2-E994-6B03-FAD27C1D95BF}"/>
              </a:ext>
            </a:extLst>
          </p:cNvPr>
          <p:cNvSpPr/>
          <p:nvPr/>
        </p:nvSpPr>
        <p:spPr>
          <a:xfrm>
            <a:off x="3495285" y="2518192"/>
            <a:ext cx="87458" cy="875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0" name="Rounded Rectangle 43">
            <a:extLst>
              <a:ext uri="{FF2B5EF4-FFF2-40B4-BE49-F238E27FC236}">
                <a16:creationId xmlns:a16="http://schemas.microsoft.com/office/drawing/2014/main" id="{7D41FD92-42AF-CB39-A4F0-DDBB906D9509}"/>
              </a:ext>
            </a:extLst>
          </p:cNvPr>
          <p:cNvSpPr/>
          <p:nvPr/>
        </p:nvSpPr>
        <p:spPr>
          <a:xfrm>
            <a:off x="3370345" y="2668305"/>
            <a:ext cx="158257" cy="458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1" name="TextBox 44">
            <a:extLst>
              <a:ext uri="{FF2B5EF4-FFF2-40B4-BE49-F238E27FC236}">
                <a16:creationId xmlns:a16="http://schemas.microsoft.com/office/drawing/2014/main" id="{E7192EFA-4AB8-CACA-29B0-7E411B5B3BF6}"/>
              </a:ext>
            </a:extLst>
          </p:cNvPr>
          <p:cNvSpPr txBox="1"/>
          <p:nvPr/>
        </p:nvSpPr>
        <p:spPr>
          <a:xfrm>
            <a:off x="3832624" y="2244992"/>
            <a:ext cx="15825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600" b="1" err="1">
                <a:solidFill>
                  <a:srgbClr val="3E4148"/>
                </a:solidFill>
                <a:latin typeface="Albert Sans Black" pitchFamily="2" charset="77"/>
              </a:rPr>
              <a:t>Orchestrator</a:t>
            </a:r>
            <a:endParaRPr lang="de-DE" sz="1600" b="1">
              <a:solidFill>
                <a:srgbClr val="3E4148"/>
              </a:solidFill>
              <a:latin typeface="Albert Sans Black" pitchFamily="2" charset="77"/>
            </a:endParaRPr>
          </a:p>
          <a:p>
            <a:r>
              <a:rPr sz="1600" b="1">
                <a:solidFill>
                  <a:srgbClr val="3E4148"/>
                </a:solidFill>
                <a:latin typeface="Albert Sans Black" pitchFamily="2" charset="77"/>
              </a:rPr>
              <a:t>Agent</a:t>
            </a:r>
          </a:p>
        </p:txBody>
      </p:sp>
      <p:sp>
        <p:nvSpPr>
          <p:cNvPr id="182" name="TextBox 45">
            <a:extLst>
              <a:ext uri="{FF2B5EF4-FFF2-40B4-BE49-F238E27FC236}">
                <a16:creationId xmlns:a16="http://schemas.microsoft.com/office/drawing/2014/main" id="{54C8E415-FAE8-926A-A15C-9144AE6FAF26}"/>
              </a:ext>
            </a:extLst>
          </p:cNvPr>
          <p:cNvSpPr txBox="1"/>
          <p:nvPr/>
        </p:nvSpPr>
        <p:spPr>
          <a:xfrm>
            <a:off x="3819715" y="2779266"/>
            <a:ext cx="162422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B9DA3"/>
                </a:solidFill>
                <a:latin typeface="Albert Sans Medium" pitchFamily="2" charset="77"/>
              </a:rPr>
              <a:t>Orchestrator · </a:t>
            </a:r>
            <a:r>
              <a:rPr sz="1100" b="0" err="1">
                <a:solidFill>
                  <a:srgbClr val="9B9DA3"/>
                </a:solidFill>
                <a:latin typeface="Albert Sans Medium" pitchFamily="2" charset="77"/>
              </a:rPr>
              <a:t>ReAct</a:t>
            </a:r>
            <a:endParaRPr sz="1100" b="0">
              <a:solidFill>
                <a:srgbClr val="9B9DA3"/>
              </a:solidFill>
              <a:latin typeface="Albert Sans Medium" pitchFamily="2" charset="77"/>
            </a:endParaRPr>
          </a:p>
        </p:txBody>
      </p:sp>
      <p:sp>
        <p:nvSpPr>
          <p:cNvPr id="183" name="Rounded Rectangle 46">
            <a:extLst>
              <a:ext uri="{FF2B5EF4-FFF2-40B4-BE49-F238E27FC236}">
                <a16:creationId xmlns:a16="http://schemas.microsoft.com/office/drawing/2014/main" id="{2BC8E7C6-31C2-DD7F-5D2C-6971E73B8E03}"/>
              </a:ext>
            </a:extLst>
          </p:cNvPr>
          <p:cNvSpPr/>
          <p:nvPr/>
        </p:nvSpPr>
        <p:spPr>
          <a:xfrm>
            <a:off x="2920561" y="2488027"/>
            <a:ext cx="45811" cy="133434"/>
          </a:xfrm>
          <a:prstGeom prst="roundRect">
            <a:avLst>
              <a:gd name="adj" fmla="val 50000"/>
            </a:avLst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4" name="Diamond 48">
            <a:extLst>
              <a:ext uri="{FF2B5EF4-FFF2-40B4-BE49-F238E27FC236}">
                <a16:creationId xmlns:a16="http://schemas.microsoft.com/office/drawing/2014/main" id="{858F3E49-ADE2-71C8-276B-37F20000334B}"/>
              </a:ext>
            </a:extLst>
          </p:cNvPr>
          <p:cNvSpPr/>
          <p:nvPr/>
        </p:nvSpPr>
        <p:spPr>
          <a:xfrm>
            <a:off x="4623911" y="1875333"/>
            <a:ext cx="133269" cy="133434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5" name="Diamond 49">
            <a:extLst>
              <a:ext uri="{FF2B5EF4-FFF2-40B4-BE49-F238E27FC236}">
                <a16:creationId xmlns:a16="http://schemas.microsoft.com/office/drawing/2014/main" id="{C417CA52-6AA4-3985-5D34-D3B08EF08F07}"/>
              </a:ext>
            </a:extLst>
          </p:cNvPr>
          <p:cNvSpPr/>
          <p:nvPr/>
        </p:nvSpPr>
        <p:spPr>
          <a:xfrm>
            <a:off x="3890929" y="1875065"/>
            <a:ext cx="133269" cy="133434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6" name="Diamond 50">
            <a:extLst>
              <a:ext uri="{FF2B5EF4-FFF2-40B4-BE49-F238E27FC236}">
                <a16:creationId xmlns:a16="http://schemas.microsoft.com/office/drawing/2014/main" id="{B6CB65C8-BEB4-B3BC-1D49-FE73577D8599}"/>
              </a:ext>
            </a:extLst>
          </p:cNvPr>
          <p:cNvSpPr/>
          <p:nvPr/>
        </p:nvSpPr>
        <p:spPr>
          <a:xfrm>
            <a:off x="5140330" y="3113499"/>
            <a:ext cx="133269" cy="133434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7" name="TextBox 51">
            <a:extLst>
              <a:ext uri="{FF2B5EF4-FFF2-40B4-BE49-F238E27FC236}">
                <a16:creationId xmlns:a16="http://schemas.microsoft.com/office/drawing/2014/main" id="{C5C7B090-95C1-18B9-09F7-0BDDD93DB92E}"/>
              </a:ext>
            </a:extLst>
          </p:cNvPr>
          <p:cNvSpPr txBox="1"/>
          <p:nvPr/>
        </p:nvSpPr>
        <p:spPr>
          <a:xfrm>
            <a:off x="3229553" y="1749971"/>
            <a:ext cx="83293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>
                <a:solidFill>
                  <a:srgbClr val="9B9DA3"/>
                </a:solidFill>
                <a:latin typeface="Albert Sans Medium" pitchFamily="2" charset="77"/>
              </a:rPr>
              <a:t>Chat Model</a:t>
            </a:r>
            <a:endParaRPr sz="700">
              <a:solidFill>
                <a:srgbClr val="E0245E"/>
              </a:solidFill>
              <a:latin typeface="Albert Sans Medium" pitchFamily="2" charset="77"/>
            </a:endParaRPr>
          </a:p>
        </p:txBody>
      </p:sp>
      <p:sp>
        <p:nvSpPr>
          <p:cNvPr id="188" name="TextBox 52">
            <a:extLst>
              <a:ext uri="{FF2B5EF4-FFF2-40B4-BE49-F238E27FC236}">
                <a16:creationId xmlns:a16="http://schemas.microsoft.com/office/drawing/2014/main" id="{1B40F05F-687F-CC0F-7662-925ED6A2EA39}"/>
              </a:ext>
            </a:extLst>
          </p:cNvPr>
          <p:cNvSpPr txBox="1"/>
          <p:nvPr/>
        </p:nvSpPr>
        <p:spPr>
          <a:xfrm>
            <a:off x="4507301" y="1758311"/>
            <a:ext cx="832934" cy="98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Memory</a:t>
            </a:r>
          </a:p>
        </p:txBody>
      </p:sp>
      <p:sp>
        <p:nvSpPr>
          <p:cNvPr id="189" name="TextBox 53">
            <a:extLst>
              <a:ext uri="{FF2B5EF4-FFF2-40B4-BE49-F238E27FC236}">
                <a16:creationId xmlns:a16="http://schemas.microsoft.com/office/drawing/2014/main" id="{C7D4D0DA-E5DB-4F7C-16DF-6AC96ECC58F4}"/>
              </a:ext>
            </a:extLst>
          </p:cNvPr>
          <p:cNvSpPr txBox="1"/>
          <p:nvPr/>
        </p:nvSpPr>
        <p:spPr>
          <a:xfrm>
            <a:off x="4683023" y="3288631"/>
            <a:ext cx="83293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Tool</a:t>
            </a:r>
            <a:r>
              <a:rPr lang="de-DE" sz="700" b="0">
                <a:solidFill>
                  <a:srgbClr val="9B9DA3"/>
                </a:solidFill>
                <a:latin typeface="Albert Sans Medium" pitchFamily="2" charset="77"/>
              </a:rPr>
              <a:t>s</a:t>
            </a:r>
            <a:endParaRPr sz="700" b="0">
              <a:solidFill>
                <a:srgbClr val="9B9DA3"/>
              </a:solidFill>
              <a:latin typeface="Albert Sans Medium" pitchFamily="2" charset="77"/>
            </a:endParaRPr>
          </a:p>
        </p:txBody>
      </p:sp>
      <p:sp>
        <p:nvSpPr>
          <p:cNvPr id="18" name="Rounded Rectangle 54">
            <a:extLst>
              <a:ext uri="{FF2B5EF4-FFF2-40B4-BE49-F238E27FC236}">
                <a16:creationId xmlns:a16="http://schemas.microsoft.com/office/drawing/2014/main" id="{C2F67084-1AF0-072F-D400-33410EFAAB21}"/>
              </a:ext>
            </a:extLst>
          </p:cNvPr>
          <p:cNvSpPr/>
          <p:nvPr/>
        </p:nvSpPr>
        <p:spPr>
          <a:xfrm>
            <a:off x="2993442" y="3700824"/>
            <a:ext cx="932886" cy="93403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875">
            <a:solidFill>
              <a:srgbClr val="E0E2E7"/>
            </a:solidFill>
          </a:ln>
          <a:effectLst>
            <a:outerShdw blurRad="50000" dist="18000" dir="5400000" rotWithShape="0">
              <a:srgbClr val="16181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A7FF85B4-D426-9596-E49A-FA59C6861027}"/>
              </a:ext>
            </a:extLst>
          </p:cNvPr>
          <p:cNvSpPr/>
          <p:nvPr/>
        </p:nvSpPr>
        <p:spPr>
          <a:xfrm>
            <a:off x="3439062" y="3934334"/>
            <a:ext cx="41647" cy="467019"/>
          </a:xfrm>
          <a:prstGeom prst="rect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0" name="Pentagon 56">
            <a:extLst>
              <a:ext uri="{FF2B5EF4-FFF2-40B4-BE49-F238E27FC236}">
                <a16:creationId xmlns:a16="http://schemas.microsoft.com/office/drawing/2014/main" id="{BE601D5C-10CF-850A-6873-51FE4BBF299F}"/>
              </a:ext>
            </a:extLst>
          </p:cNvPr>
          <p:cNvSpPr/>
          <p:nvPr/>
        </p:nvSpPr>
        <p:spPr>
          <a:xfrm>
            <a:off x="3326616" y="3967692"/>
            <a:ext cx="291527" cy="133434"/>
          </a:xfrm>
          <a:prstGeom prst="homePlate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1" name="Pentagon 57">
            <a:extLst>
              <a:ext uri="{FF2B5EF4-FFF2-40B4-BE49-F238E27FC236}">
                <a16:creationId xmlns:a16="http://schemas.microsoft.com/office/drawing/2014/main" id="{74A927C8-9DBF-04DE-2994-09E152FBD5B6}"/>
              </a:ext>
            </a:extLst>
          </p:cNvPr>
          <p:cNvSpPr/>
          <p:nvPr/>
        </p:nvSpPr>
        <p:spPr>
          <a:xfrm rot="10800000">
            <a:off x="3301628" y="4159503"/>
            <a:ext cx="291527" cy="133434"/>
          </a:xfrm>
          <a:prstGeom prst="homePlate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2" name="Rounded Rectangle 58">
            <a:extLst>
              <a:ext uri="{FF2B5EF4-FFF2-40B4-BE49-F238E27FC236}">
                <a16:creationId xmlns:a16="http://schemas.microsoft.com/office/drawing/2014/main" id="{F7CCBE33-CB5C-CF33-EE3C-2B7D9BB2CB88}"/>
              </a:ext>
            </a:extLst>
          </p:cNvPr>
          <p:cNvSpPr/>
          <p:nvPr/>
        </p:nvSpPr>
        <p:spPr>
          <a:xfrm>
            <a:off x="2958274" y="4073018"/>
            <a:ext cx="45812" cy="133434"/>
          </a:xfrm>
          <a:prstGeom prst="roundRect">
            <a:avLst>
              <a:gd name="adj" fmla="val 50000"/>
            </a:avLst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A314C2-7288-4A33-3B53-193BA7FC401B}"/>
              </a:ext>
            </a:extLst>
          </p:cNvPr>
          <p:cNvSpPr/>
          <p:nvPr/>
        </p:nvSpPr>
        <p:spPr>
          <a:xfrm>
            <a:off x="3888847" y="3971862"/>
            <a:ext cx="74964" cy="7505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F1EECD7-B610-6863-C677-29BC15F39BEC}"/>
              </a:ext>
            </a:extLst>
          </p:cNvPr>
          <p:cNvSpPr/>
          <p:nvPr/>
        </p:nvSpPr>
        <p:spPr>
          <a:xfrm>
            <a:off x="3888847" y="4288767"/>
            <a:ext cx="74964" cy="7505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5" name="TextBox 61">
            <a:extLst>
              <a:ext uri="{FF2B5EF4-FFF2-40B4-BE49-F238E27FC236}">
                <a16:creationId xmlns:a16="http://schemas.microsoft.com/office/drawing/2014/main" id="{73AEF4BE-80B2-8B45-8DCF-941F45E780F6}"/>
              </a:ext>
            </a:extLst>
          </p:cNvPr>
          <p:cNvSpPr txBox="1"/>
          <p:nvPr/>
        </p:nvSpPr>
        <p:spPr>
          <a:xfrm>
            <a:off x="3992964" y="3859277"/>
            <a:ext cx="374820" cy="98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true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98145A91-469D-2A04-AAD5-DFBBAD9EB20E}"/>
              </a:ext>
            </a:extLst>
          </p:cNvPr>
          <p:cNvSpPr txBox="1"/>
          <p:nvPr/>
        </p:nvSpPr>
        <p:spPr>
          <a:xfrm>
            <a:off x="3992964" y="4376333"/>
            <a:ext cx="374820" cy="98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false</a:t>
            </a:r>
          </a:p>
        </p:txBody>
      </p:sp>
      <p:sp>
        <p:nvSpPr>
          <p:cNvPr id="27" name="TextBox 63">
            <a:extLst>
              <a:ext uri="{FF2B5EF4-FFF2-40B4-BE49-F238E27FC236}">
                <a16:creationId xmlns:a16="http://schemas.microsoft.com/office/drawing/2014/main" id="{3AB5AF9B-C3EC-ABA4-111D-0AD98D904D8C}"/>
              </a:ext>
            </a:extLst>
          </p:cNvPr>
          <p:cNvSpPr txBox="1"/>
          <p:nvPr/>
        </p:nvSpPr>
        <p:spPr>
          <a:xfrm>
            <a:off x="2606128" y="4681441"/>
            <a:ext cx="1665868" cy="14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3E4148"/>
                </a:solidFill>
                <a:latin typeface="Albert Sans Medium" pitchFamily="2" charset="77"/>
              </a:rPr>
              <a:t>If risk </a:t>
            </a:r>
            <a:r>
              <a:rPr lang="de-DE" sz="1000" b="0">
                <a:solidFill>
                  <a:srgbClr val="3E4148"/>
                </a:solidFill>
                <a:latin typeface="Albert Sans Medium" pitchFamily="2" charset="77"/>
              </a:rPr>
              <a:t>of </a:t>
            </a:r>
            <a:r>
              <a:rPr lang="de-DE" sz="1000" b="0" err="1">
                <a:solidFill>
                  <a:srgbClr val="3E4148"/>
                </a:solidFill>
                <a:latin typeface="Albert Sans Medium" pitchFamily="2" charset="77"/>
              </a:rPr>
              <a:t>disruption</a:t>
            </a:r>
            <a:r>
              <a:rPr lang="de-DE" sz="1000" b="0">
                <a:solidFill>
                  <a:srgbClr val="3E4148"/>
                </a:solidFill>
                <a:latin typeface="Albert Sans Medium" pitchFamily="2" charset="77"/>
              </a:rPr>
              <a:t> </a:t>
            </a:r>
            <a:endParaRPr sz="1000" b="0">
              <a:solidFill>
                <a:srgbClr val="3E4148"/>
              </a:solidFill>
              <a:latin typeface="Albert Sans Medium" pitchFamily="2" charset="77"/>
            </a:endParaRPr>
          </a:p>
        </p:txBody>
      </p:sp>
      <p:sp>
        <p:nvSpPr>
          <p:cNvPr id="28" name="TextBox 68">
            <a:extLst>
              <a:ext uri="{FF2B5EF4-FFF2-40B4-BE49-F238E27FC236}">
                <a16:creationId xmlns:a16="http://schemas.microsoft.com/office/drawing/2014/main" id="{88E99A83-BB3E-B55D-92A6-90C865D8A0B5}"/>
              </a:ext>
            </a:extLst>
          </p:cNvPr>
          <p:cNvSpPr txBox="1"/>
          <p:nvPr/>
        </p:nvSpPr>
        <p:spPr>
          <a:xfrm>
            <a:off x="9852772" y="1878717"/>
            <a:ext cx="118788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dirty="0">
                <a:solidFill>
                  <a:srgbClr val="3E4148"/>
                </a:solidFill>
              </a:rPr>
              <a:t>Send WhatsApp </a:t>
            </a:r>
            <a:r>
              <a:rPr lang="de-DE" sz="1100" dirty="0">
                <a:solidFill>
                  <a:srgbClr val="3E4148"/>
                </a:solidFill>
              </a:rPr>
              <a:t>Message</a:t>
            </a:r>
            <a:endParaRPr sz="1100" b="0" dirty="0">
              <a:solidFill>
                <a:srgbClr val="3E4148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DA8BCFD7-970A-2D75-B689-A97962CACE77}"/>
              </a:ext>
            </a:extLst>
          </p:cNvPr>
          <p:cNvGrpSpPr/>
          <p:nvPr/>
        </p:nvGrpSpPr>
        <p:grpSpPr>
          <a:xfrm>
            <a:off x="8925010" y="2558586"/>
            <a:ext cx="863093" cy="843812"/>
            <a:chOff x="9293771" y="2156869"/>
            <a:chExt cx="1051166" cy="1024128"/>
          </a:xfrm>
        </p:grpSpPr>
        <p:pic>
          <p:nvPicPr>
            <p:cNvPr id="169" name="Picture 29" descr="trigger_node.png">
              <a:extLst>
                <a:ext uri="{FF2B5EF4-FFF2-40B4-BE49-F238E27FC236}">
                  <a16:creationId xmlns:a16="http://schemas.microsoft.com/office/drawing/2014/main" id="{F16A06CA-350B-E420-2041-51A7308BE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9320809" y="2156869"/>
              <a:ext cx="1024128" cy="1024128"/>
            </a:xfrm>
            <a:prstGeom prst="rect">
              <a:avLst/>
            </a:prstGeom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</p:pic>
        <p:sp>
          <p:nvSpPr>
            <p:cNvPr id="170" name="Rounded Rectangle 71">
              <a:extLst>
                <a:ext uri="{FF2B5EF4-FFF2-40B4-BE49-F238E27FC236}">
                  <a16:creationId xmlns:a16="http://schemas.microsoft.com/office/drawing/2014/main" id="{95D71FC1-935D-1994-D253-814CB7CB4ACE}"/>
                </a:ext>
              </a:extLst>
            </p:cNvPr>
            <p:cNvSpPr/>
            <p:nvPr/>
          </p:nvSpPr>
          <p:spPr>
            <a:xfrm>
              <a:off x="9546868" y="2467765"/>
              <a:ext cx="475488" cy="338328"/>
            </a:xfrm>
            <a:prstGeom prst="roundRect">
              <a:avLst>
                <a:gd name="adj" fmla="val 42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71" name="Isosceles Triangle 72">
              <a:extLst>
                <a:ext uri="{FF2B5EF4-FFF2-40B4-BE49-F238E27FC236}">
                  <a16:creationId xmlns:a16="http://schemas.microsoft.com/office/drawing/2014/main" id="{D4287AD6-3D45-A7A9-D4EE-51A234D5C199}"/>
                </a:ext>
              </a:extLst>
            </p:cNvPr>
            <p:cNvSpPr/>
            <p:nvPr/>
          </p:nvSpPr>
          <p:spPr>
            <a:xfrm rot="11700000">
              <a:off x="9592588" y="2760373"/>
              <a:ext cx="146304" cy="128016"/>
            </a:xfrm>
            <a:prstGeom prst="triangl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72" name="Rounded Rectangle 73">
              <a:extLst>
                <a:ext uri="{FF2B5EF4-FFF2-40B4-BE49-F238E27FC236}">
                  <a16:creationId xmlns:a16="http://schemas.microsoft.com/office/drawing/2014/main" id="{42345160-2D9A-3CE5-BA9E-603EF4C0660E}"/>
                </a:ext>
              </a:extLst>
            </p:cNvPr>
            <p:cNvSpPr/>
            <p:nvPr/>
          </p:nvSpPr>
          <p:spPr>
            <a:xfrm>
              <a:off x="9885196" y="2673505"/>
              <a:ext cx="274320" cy="210312"/>
            </a:xfrm>
            <a:prstGeom prst="roundRect">
              <a:avLst>
                <a:gd name="adj" fmla="val 45000"/>
              </a:avLst>
            </a:prstGeom>
            <a:solidFill>
              <a:srgbClr val="3E4148"/>
            </a:solidFill>
            <a:ln w="1778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73" name="Rounded Rectangle 74">
              <a:extLst>
                <a:ext uri="{FF2B5EF4-FFF2-40B4-BE49-F238E27FC236}">
                  <a16:creationId xmlns:a16="http://schemas.microsoft.com/office/drawing/2014/main" id="{43E46183-07AF-7A01-1802-7C3B33F269CA}"/>
                </a:ext>
              </a:extLst>
            </p:cNvPr>
            <p:cNvSpPr/>
            <p:nvPr/>
          </p:nvSpPr>
          <p:spPr>
            <a:xfrm>
              <a:off x="9293771" y="2595781"/>
              <a:ext cx="50292" cy="146304"/>
            </a:xfrm>
            <a:prstGeom prst="roundRect">
              <a:avLst>
                <a:gd name="adj" fmla="val 50000"/>
              </a:avLst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921D9084-9E36-4613-E34F-9496EA25FD63}"/>
              </a:ext>
            </a:extLst>
          </p:cNvPr>
          <p:cNvSpPr txBox="1"/>
          <p:nvPr/>
        </p:nvSpPr>
        <p:spPr>
          <a:xfrm>
            <a:off x="9852772" y="2916644"/>
            <a:ext cx="111420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3E4148"/>
                </a:solidFill>
              </a:rPr>
              <a:t>Reply in chat</a:t>
            </a: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FF12264-CF38-D4F9-0B08-06B4F220295E}"/>
              </a:ext>
            </a:extLst>
          </p:cNvPr>
          <p:cNvGrpSpPr>
            <a:grpSpLocks noChangeAspect="1"/>
          </p:cNvGrpSpPr>
          <p:nvPr/>
        </p:nvGrpSpPr>
        <p:grpSpPr>
          <a:xfrm>
            <a:off x="3458729" y="1118254"/>
            <a:ext cx="550917" cy="551597"/>
            <a:chOff x="3282696" y="809244"/>
            <a:chExt cx="713232" cy="7132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33D2F506-B3C5-9443-5D16-03C60DF65E6C}"/>
                </a:ext>
              </a:extLst>
            </p:cNvPr>
            <p:cNvSpPr/>
            <p:nvPr/>
          </p:nvSpPr>
          <p:spPr>
            <a:xfrm>
              <a:off x="3282696" y="809244"/>
              <a:ext cx="713232" cy="713232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b="1">
                <a:latin typeface="Albert Sans Black" pitchFamily="2" charset="77"/>
              </a:endParaRPr>
            </a:p>
          </p:txBody>
        </p:sp>
        <p:pic>
          <p:nvPicPr>
            <p:cNvPr id="168" name="Picture 78" descr="claude.png">
              <a:extLst>
                <a:ext uri="{FF2B5EF4-FFF2-40B4-BE49-F238E27FC236}">
                  <a16:creationId xmlns:a16="http://schemas.microsoft.com/office/drawing/2014/main" id="{6DC7B0D8-D456-BFBA-73DD-3852EBA5F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8144" y="964692"/>
              <a:ext cx="402336" cy="402336"/>
            </a:xfrm>
            <a:prstGeom prst="rect">
              <a:avLst/>
            </a:prstGeom>
          </p:spPr>
        </p:pic>
      </p:grpSp>
      <p:sp>
        <p:nvSpPr>
          <p:cNvPr id="32" name="TextBox 80">
            <a:extLst>
              <a:ext uri="{FF2B5EF4-FFF2-40B4-BE49-F238E27FC236}">
                <a16:creationId xmlns:a16="http://schemas.microsoft.com/office/drawing/2014/main" id="{86E20A5F-DB77-64AB-6283-0822FF953BC3}"/>
              </a:ext>
            </a:extLst>
          </p:cNvPr>
          <p:cNvSpPr txBox="1"/>
          <p:nvPr/>
        </p:nvSpPr>
        <p:spPr>
          <a:xfrm>
            <a:off x="2694059" y="1225225"/>
            <a:ext cx="88868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3E4148"/>
                </a:solidFill>
                <a:latin typeface="Albert Sans Medium" pitchFamily="2" charset="77"/>
              </a:rPr>
              <a:t>Claude Sonnet 4.6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010E8AB-281A-4BBB-B047-A84E591EF327}"/>
              </a:ext>
            </a:extLst>
          </p:cNvPr>
          <p:cNvSpPr/>
          <p:nvPr/>
        </p:nvSpPr>
        <p:spPr>
          <a:xfrm>
            <a:off x="3861776" y="1599858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D596A3C7-D96A-8A21-E218-D55CA34CB73E}"/>
              </a:ext>
            </a:extLst>
          </p:cNvPr>
          <p:cNvGrpSpPr/>
          <p:nvPr/>
        </p:nvGrpSpPr>
        <p:grpSpPr>
          <a:xfrm>
            <a:off x="1042294" y="3705613"/>
            <a:ext cx="1416207" cy="875659"/>
            <a:chOff x="2843784" y="3488436"/>
            <a:chExt cx="1554720" cy="960119"/>
          </a:xfrm>
        </p:grpSpPr>
        <p:sp>
          <p:nvSpPr>
            <p:cNvPr id="156" name="Rounded Rectangle 87">
              <a:extLst>
                <a:ext uri="{FF2B5EF4-FFF2-40B4-BE49-F238E27FC236}">
                  <a16:creationId xmlns:a16="http://schemas.microsoft.com/office/drawing/2014/main" id="{9D8339ED-9DCA-2A4D-F994-755E087DD8B4}"/>
                </a:ext>
              </a:extLst>
            </p:cNvPr>
            <p:cNvSpPr/>
            <p:nvPr/>
          </p:nvSpPr>
          <p:spPr>
            <a:xfrm>
              <a:off x="2843784" y="3520440"/>
              <a:ext cx="1517904" cy="86868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5875">
              <a:solidFill>
                <a:srgbClr val="E0E2E7"/>
              </a:solidFill>
            </a:ln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66ADA7F-4DF8-DE45-E663-2BA1A0F2F001}"/>
                </a:ext>
              </a:extLst>
            </p:cNvPr>
            <p:cNvSpPr/>
            <p:nvPr/>
          </p:nvSpPr>
          <p:spPr>
            <a:xfrm>
              <a:off x="3570732" y="3488436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cxnSp>
          <p:nvCxnSpPr>
            <p:cNvPr id="158" name="Connector 89">
              <a:extLst>
                <a:ext uri="{FF2B5EF4-FFF2-40B4-BE49-F238E27FC236}">
                  <a16:creationId xmlns:a16="http://schemas.microsoft.com/office/drawing/2014/main" id="{55F9FC68-E343-C802-FB26-345341CB7807}"/>
                </a:ext>
              </a:extLst>
            </p:cNvPr>
            <p:cNvCxnSpPr/>
            <p:nvPr/>
          </p:nvCxnSpPr>
          <p:spPr>
            <a:xfrm>
              <a:off x="3136209" y="3754160"/>
              <a:ext cx="0" cy="68031"/>
            </a:xfrm>
            <a:prstGeom prst="line">
              <a:avLst/>
            </a:prstGeom>
            <a:ln w="13779">
              <a:solidFill>
                <a:srgbClr val="3E41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4D0DC205-BA88-E312-492D-DF4313D7D9BC}"/>
                </a:ext>
              </a:extLst>
            </p:cNvPr>
            <p:cNvSpPr/>
            <p:nvPr/>
          </p:nvSpPr>
          <p:spPr>
            <a:xfrm>
              <a:off x="3112114" y="3710223"/>
              <a:ext cx="48188" cy="48188"/>
            </a:xfrm>
            <a:prstGeom prst="ellips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0" name="Rounded Rectangle 91">
              <a:extLst>
                <a:ext uri="{FF2B5EF4-FFF2-40B4-BE49-F238E27FC236}">
                  <a16:creationId xmlns:a16="http://schemas.microsoft.com/office/drawing/2014/main" id="{BB1D527E-EF86-F7E3-7CE3-0FAA66380786}"/>
                </a:ext>
              </a:extLst>
            </p:cNvPr>
            <p:cNvSpPr/>
            <p:nvPr/>
          </p:nvSpPr>
          <p:spPr>
            <a:xfrm>
              <a:off x="2971800" y="3822191"/>
              <a:ext cx="328818" cy="249448"/>
            </a:xfrm>
            <a:prstGeom prst="roundRect">
              <a:avLst>
                <a:gd name="adj" fmla="val 28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6CD12E-8778-D90D-2EC7-66ABC15DFD9F}"/>
                </a:ext>
              </a:extLst>
            </p:cNvPr>
            <p:cNvSpPr/>
            <p:nvPr/>
          </p:nvSpPr>
          <p:spPr>
            <a:xfrm>
              <a:off x="3045500" y="3890223"/>
              <a:ext cx="59527" cy="595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BDDFDBF-BB7C-EB0E-8758-CFB6ED65B5BC}"/>
                </a:ext>
              </a:extLst>
            </p:cNvPr>
            <p:cNvSpPr/>
            <p:nvPr/>
          </p:nvSpPr>
          <p:spPr>
            <a:xfrm>
              <a:off x="3167390" y="3890223"/>
              <a:ext cx="59527" cy="595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3" name="Rounded Rectangle 94">
              <a:extLst>
                <a:ext uri="{FF2B5EF4-FFF2-40B4-BE49-F238E27FC236}">
                  <a16:creationId xmlns:a16="http://schemas.microsoft.com/office/drawing/2014/main" id="{F6320AAB-1C2B-A87C-FD71-8CDFE370CE9A}"/>
                </a:ext>
              </a:extLst>
            </p:cNvPr>
            <p:cNvSpPr/>
            <p:nvPr/>
          </p:nvSpPr>
          <p:spPr>
            <a:xfrm>
              <a:off x="3082350" y="3992270"/>
              <a:ext cx="107716" cy="3118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4" name="TextBox 95">
              <a:extLst>
                <a:ext uri="{FF2B5EF4-FFF2-40B4-BE49-F238E27FC236}">
                  <a16:creationId xmlns:a16="http://schemas.microsoft.com/office/drawing/2014/main" id="{B5A1903D-DB0C-94F2-B29D-D8E31B5F5B09}"/>
                </a:ext>
              </a:extLst>
            </p:cNvPr>
            <p:cNvSpPr txBox="1"/>
            <p:nvPr/>
          </p:nvSpPr>
          <p:spPr>
            <a:xfrm>
              <a:off x="3392424" y="3775793"/>
              <a:ext cx="941832" cy="37120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3E4148"/>
                  </a:solidFill>
                  <a:latin typeface="Albert Sans Black" pitchFamily="2" charset="77"/>
                </a:rPr>
                <a:t>Monitoring</a:t>
              </a:r>
            </a:p>
            <a:p>
              <a:pPr algn="l"/>
              <a:r>
                <a:rPr sz="1100" b="1">
                  <a:solidFill>
                    <a:srgbClr val="3E4148"/>
                  </a:solidFill>
                  <a:latin typeface="Albert Sans Black" pitchFamily="2" charset="77"/>
                </a:rPr>
                <a:t>Agent</a:t>
              </a:r>
            </a:p>
          </p:txBody>
        </p:sp>
        <p:sp>
          <p:nvSpPr>
            <p:cNvPr id="165" name="Diamond 97">
              <a:extLst>
                <a:ext uri="{FF2B5EF4-FFF2-40B4-BE49-F238E27FC236}">
                  <a16:creationId xmlns:a16="http://schemas.microsoft.com/office/drawing/2014/main" id="{315DDAA6-4763-2A5B-12A9-F21BDC182CC6}"/>
                </a:ext>
              </a:extLst>
            </p:cNvPr>
            <p:cNvSpPr/>
            <p:nvPr/>
          </p:nvSpPr>
          <p:spPr>
            <a:xfrm>
              <a:off x="3543300" y="4329683"/>
              <a:ext cx="118872" cy="118872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72D6FD5-2BF4-4F96-3752-9C77C46279FD}"/>
                </a:ext>
              </a:extLst>
            </p:cNvPr>
            <p:cNvSpPr/>
            <p:nvPr/>
          </p:nvSpPr>
          <p:spPr>
            <a:xfrm>
              <a:off x="4316208" y="3935147"/>
              <a:ext cx="82296" cy="82296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A31BC4B-8D1F-0BB2-E91F-5F6B76548498}"/>
              </a:ext>
            </a:extLst>
          </p:cNvPr>
          <p:cNvGrpSpPr/>
          <p:nvPr/>
        </p:nvGrpSpPr>
        <p:grpSpPr>
          <a:xfrm>
            <a:off x="588343" y="4575114"/>
            <a:ext cx="2282238" cy="1329865"/>
            <a:chOff x="2350008" y="4425696"/>
            <a:chExt cx="2505456" cy="1458135"/>
          </a:xfrm>
        </p:grpSpPr>
        <p:cxnSp>
          <p:nvCxnSpPr>
            <p:cNvPr id="134" name="Connector 17">
              <a:extLst>
                <a:ext uri="{FF2B5EF4-FFF2-40B4-BE49-F238E27FC236}">
                  <a16:creationId xmlns:a16="http://schemas.microsoft.com/office/drawing/2014/main" id="{51ED2973-C572-45E8-6A19-626841B8921F}"/>
                </a:ext>
              </a:extLst>
            </p:cNvPr>
            <p:cNvCxnSpPr/>
            <p:nvPr/>
          </p:nvCxnSpPr>
          <p:spPr>
            <a:xfrm flipH="1">
              <a:off x="2852928" y="4425696"/>
              <a:ext cx="749808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8">
              <a:extLst>
                <a:ext uri="{FF2B5EF4-FFF2-40B4-BE49-F238E27FC236}">
                  <a16:creationId xmlns:a16="http://schemas.microsoft.com/office/drawing/2014/main" id="{AA483ECC-802D-A505-ADBC-00D372641EFD}"/>
                </a:ext>
              </a:extLst>
            </p:cNvPr>
            <p:cNvCxnSpPr/>
            <p:nvPr/>
          </p:nvCxnSpPr>
          <p:spPr>
            <a:xfrm>
              <a:off x="3602736" y="4425696"/>
              <a:ext cx="0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9">
              <a:extLst>
                <a:ext uri="{FF2B5EF4-FFF2-40B4-BE49-F238E27FC236}">
                  <a16:creationId xmlns:a16="http://schemas.microsoft.com/office/drawing/2014/main" id="{B610578D-E586-AC1F-B676-7F38E6F0E2EC}"/>
                </a:ext>
              </a:extLst>
            </p:cNvPr>
            <p:cNvCxnSpPr/>
            <p:nvPr/>
          </p:nvCxnSpPr>
          <p:spPr>
            <a:xfrm>
              <a:off x="3602736" y="4425696"/>
              <a:ext cx="749808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056D3563-2E42-0EC2-A0CC-D1765F0C0385}"/>
                </a:ext>
              </a:extLst>
            </p:cNvPr>
            <p:cNvSpPr/>
            <p:nvPr/>
          </p:nvSpPr>
          <p:spPr>
            <a:xfrm>
              <a:off x="2551176" y="5102352"/>
              <a:ext cx="603504" cy="603504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7195B7C5-4691-64CF-B34F-EFADD29A0E11}"/>
                </a:ext>
              </a:extLst>
            </p:cNvPr>
            <p:cNvSpPr/>
            <p:nvPr/>
          </p:nvSpPr>
          <p:spPr>
            <a:xfrm>
              <a:off x="2820924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pic>
          <p:nvPicPr>
            <p:cNvPr id="139" name="Picture 133" descr="db.png">
              <a:extLst>
                <a:ext uri="{FF2B5EF4-FFF2-40B4-BE49-F238E27FC236}">
                  <a16:creationId xmlns:a16="http://schemas.microsoft.com/office/drawing/2014/main" id="{78FDF2AA-2C11-810B-6B79-6EDC9FC0B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97480" y="5295290"/>
              <a:ext cx="310896" cy="217627"/>
            </a:xfrm>
            <a:prstGeom prst="rect">
              <a:avLst/>
            </a:prstGeom>
          </p:spPr>
        </p:pic>
        <p:sp>
          <p:nvSpPr>
            <p:cNvPr id="140" name="TextBox 134">
              <a:extLst>
                <a:ext uri="{FF2B5EF4-FFF2-40B4-BE49-F238E27FC236}">
                  <a16:creationId xmlns:a16="http://schemas.microsoft.com/office/drawing/2014/main" id="{4BB2142F-2997-3B02-A0C3-282B08542FFF}"/>
                </a:ext>
              </a:extLst>
            </p:cNvPr>
            <p:cNvSpPr txBox="1"/>
            <p:nvPr/>
          </p:nvSpPr>
          <p:spPr>
            <a:xfrm>
              <a:off x="2350008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DB Live Data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D802D79-5BAD-3A51-6A4E-87553CF8DD2F}"/>
                </a:ext>
              </a:extLst>
            </p:cNvPr>
            <p:cNvSpPr/>
            <p:nvPr/>
          </p:nvSpPr>
          <p:spPr>
            <a:xfrm>
              <a:off x="3300984" y="5102352"/>
              <a:ext cx="603504" cy="603504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4ED05E2-4A90-604A-1AC0-E2994FD77B23}"/>
                </a:ext>
              </a:extLst>
            </p:cNvPr>
            <p:cNvSpPr/>
            <p:nvPr/>
          </p:nvSpPr>
          <p:spPr>
            <a:xfrm>
              <a:off x="3570732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4" name="Rounded Rectangle 138">
              <a:extLst>
                <a:ext uri="{FF2B5EF4-FFF2-40B4-BE49-F238E27FC236}">
                  <a16:creationId xmlns:a16="http://schemas.microsoft.com/office/drawing/2014/main" id="{E35BA3D9-41EF-46CA-14A8-BA2ECEEFE036}"/>
                </a:ext>
              </a:extLst>
            </p:cNvPr>
            <p:cNvSpPr/>
            <p:nvPr/>
          </p:nvSpPr>
          <p:spPr>
            <a:xfrm>
              <a:off x="3461004" y="5458968"/>
              <a:ext cx="73152" cy="100584"/>
            </a:xfrm>
            <a:prstGeom prst="roundRect">
              <a:avLst>
                <a:gd name="adj" fmla="val 30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5" name="Rounded Rectangle 139">
              <a:extLst>
                <a:ext uri="{FF2B5EF4-FFF2-40B4-BE49-F238E27FC236}">
                  <a16:creationId xmlns:a16="http://schemas.microsoft.com/office/drawing/2014/main" id="{7A102D4F-6890-C5D2-667A-B0CF6B4C44C8}"/>
                </a:ext>
              </a:extLst>
            </p:cNvPr>
            <p:cNvSpPr/>
            <p:nvPr/>
          </p:nvSpPr>
          <p:spPr>
            <a:xfrm>
              <a:off x="3566160" y="5385816"/>
              <a:ext cx="73152" cy="173736"/>
            </a:xfrm>
            <a:prstGeom prst="roundRect">
              <a:avLst>
                <a:gd name="adj" fmla="val 30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6" name="Rounded Rectangle 140">
              <a:extLst>
                <a:ext uri="{FF2B5EF4-FFF2-40B4-BE49-F238E27FC236}">
                  <a16:creationId xmlns:a16="http://schemas.microsoft.com/office/drawing/2014/main" id="{351CA093-6BF8-3B17-F85C-A0576A8690C9}"/>
                </a:ext>
              </a:extLst>
            </p:cNvPr>
            <p:cNvSpPr/>
            <p:nvPr/>
          </p:nvSpPr>
          <p:spPr>
            <a:xfrm>
              <a:off x="3671315" y="5312664"/>
              <a:ext cx="73152" cy="246888"/>
            </a:xfrm>
            <a:prstGeom prst="roundRect">
              <a:avLst>
                <a:gd name="adj" fmla="val 30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7" name="TextBox 141">
              <a:extLst>
                <a:ext uri="{FF2B5EF4-FFF2-40B4-BE49-F238E27FC236}">
                  <a16:creationId xmlns:a16="http://schemas.microsoft.com/office/drawing/2014/main" id="{70FFAB48-49F4-75AE-1003-ABEC550D6556}"/>
                </a:ext>
              </a:extLst>
            </p:cNvPr>
            <p:cNvSpPr txBox="1"/>
            <p:nvPr/>
          </p:nvSpPr>
          <p:spPr>
            <a:xfrm>
              <a:off x="3099815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Delay History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4FA48483-1669-31B9-EBD3-0C0B542614FC}"/>
                </a:ext>
              </a:extLst>
            </p:cNvPr>
            <p:cNvSpPr/>
            <p:nvPr/>
          </p:nvSpPr>
          <p:spPr>
            <a:xfrm>
              <a:off x="4050791" y="5102352"/>
              <a:ext cx="603504" cy="603504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1EDAB71-C6DB-5957-4F7D-54329F302FE1}"/>
                </a:ext>
              </a:extLst>
            </p:cNvPr>
            <p:cNvSpPr/>
            <p:nvPr/>
          </p:nvSpPr>
          <p:spPr>
            <a:xfrm>
              <a:off x="4320540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1" name="Block Arc 145">
              <a:extLst>
                <a:ext uri="{FF2B5EF4-FFF2-40B4-BE49-F238E27FC236}">
                  <a16:creationId xmlns:a16="http://schemas.microsoft.com/office/drawing/2014/main" id="{CAF0A1A6-F994-8D8A-A206-F44C2AD6376F}"/>
                </a:ext>
              </a:extLst>
            </p:cNvPr>
            <p:cNvSpPr/>
            <p:nvPr/>
          </p:nvSpPr>
          <p:spPr>
            <a:xfrm>
              <a:off x="4197096" y="5259760"/>
              <a:ext cx="310896" cy="290648"/>
            </a:xfrm>
            <a:prstGeom prst="blockArc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cxnSp>
          <p:nvCxnSpPr>
            <p:cNvPr id="152" name="Connector 146">
              <a:extLst>
                <a:ext uri="{FF2B5EF4-FFF2-40B4-BE49-F238E27FC236}">
                  <a16:creationId xmlns:a16="http://schemas.microsoft.com/office/drawing/2014/main" id="{0490532E-FB04-101F-A38D-0C2706706F57}"/>
                </a:ext>
              </a:extLst>
            </p:cNvPr>
            <p:cNvCxnSpPr/>
            <p:nvPr/>
          </p:nvCxnSpPr>
          <p:spPr>
            <a:xfrm flipV="1">
              <a:off x="4352544" y="5367528"/>
              <a:ext cx="100584" cy="128016"/>
            </a:xfrm>
            <a:prstGeom prst="line">
              <a:avLst/>
            </a:prstGeom>
            <a:ln w="25400">
              <a:solidFill>
                <a:srgbClr val="3E41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4F09F253-F2EB-86BE-F02C-35E4308E24FF}"/>
                </a:ext>
              </a:extLst>
            </p:cNvPr>
            <p:cNvSpPr/>
            <p:nvPr/>
          </p:nvSpPr>
          <p:spPr>
            <a:xfrm>
              <a:off x="4325112" y="5468112"/>
              <a:ext cx="54864" cy="54864"/>
            </a:xfrm>
            <a:prstGeom prst="ellips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4" name="TextBox 148">
              <a:extLst>
                <a:ext uri="{FF2B5EF4-FFF2-40B4-BE49-F238E27FC236}">
                  <a16:creationId xmlns:a16="http://schemas.microsoft.com/office/drawing/2014/main" id="{9ABC0789-AAC0-450B-DEB8-ACA73D5F260F}"/>
                </a:ext>
              </a:extLst>
            </p:cNvPr>
            <p:cNvSpPr txBox="1"/>
            <p:nvPr/>
          </p:nvSpPr>
          <p:spPr>
            <a:xfrm>
              <a:off x="3849624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Risk Model</a:t>
              </a: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22C42D70-54A2-368A-D610-86D458354552}"/>
              </a:ext>
            </a:extLst>
          </p:cNvPr>
          <p:cNvGrpSpPr/>
          <p:nvPr/>
        </p:nvGrpSpPr>
        <p:grpSpPr>
          <a:xfrm>
            <a:off x="6975061" y="3712119"/>
            <a:ext cx="1599233" cy="2184679"/>
            <a:chOff x="8019288" y="3488436"/>
            <a:chExt cx="1755648" cy="2395395"/>
          </a:xfrm>
        </p:grpSpPr>
        <p:cxnSp>
          <p:nvCxnSpPr>
            <p:cNvPr id="112" name="Connector 24">
              <a:extLst>
                <a:ext uri="{FF2B5EF4-FFF2-40B4-BE49-F238E27FC236}">
                  <a16:creationId xmlns:a16="http://schemas.microsoft.com/office/drawing/2014/main" id="{EAF50C2E-F370-7165-9BF7-9FE5A942EC7D}"/>
                </a:ext>
              </a:extLst>
            </p:cNvPr>
            <p:cNvCxnSpPr/>
            <p:nvPr/>
          </p:nvCxnSpPr>
          <p:spPr>
            <a:xfrm flipH="1">
              <a:off x="8522208" y="4425696"/>
              <a:ext cx="374904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 25">
              <a:extLst>
                <a:ext uri="{FF2B5EF4-FFF2-40B4-BE49-F238E27FC236}">
                  <a16:creationId xmlns:a16="http://schemas.microsoft.com/office/drawing/2014/main" id="{B719AFFE-C1C7-D308-94A3-AC38A98BF800}"/>
                </a:ext>
              </a:extLst>
            </p:cNvPr>
            <p:cNvCxnSpPr/>
            <p:nvPr/>
          </p:nvCxnSpPr>
          <p:spPr>
            <a:xfrm>
              <a:off x="8897112" y="4425696"/>
              <a:ext cx="374904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ounded Rectangle 109">
              <a:extLst>
                <a:ext uri="{FF2B5EF4-FFF2-40B4-BE49-F238E27FC236}">
                  <a16:creationId xmlns:a16="http://schemas.microsoft.com/office/drawing/2014/main" id="{33DE4DE5-3C28-87F1-1E81-A80F47AEB9D9}"/>
                </a:ext>
              </a:extLst>
            </p:cNvPr>
            <p:cNvSpPr/>
            <p:nvPr/>
          </p:nvSpPr>
          <p:spPr>
            <a:xfrm>
              <a:off x="8138160" y="3520440"/>
              <a:ext cx="1517904" cy="86868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5875">
              <a:solidFill>
                <a:srgbClr val="E0E2E7"/>
              </a:solidFill>
            </a:ln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EA5719D-EDF1-AD55-CD79-17F34F9BF6C6}"/>
                </a:ext>
              </a:extLst>
            </p:cNvPr>
            <p:cNvSpPr/>
            <p:nvPr/>
          </p:nvSpPr>
          <p:spPr>
            <a:xfrm>
              <a:off x="8865108" y="3488436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cxnSp>
          <p:nvCxnSpPr>
            <p:cNvPr id="116" name="Connector 111">
              <a:extLst>
                <a:ext uri="{FF2B5EF4-FFF2-40B4-BE49-F238E27FC236}">
                  <a16:creationId xmlns:a16="http://schemas.microsoft.com/office/drawing/2014/main" id="{977FE91A-46FF-3112-7CA0-2589790413B5}"/>
                </a:ext>
              </a:extLst>
            </p:cNvPr>
            <p:cNvCxnSpPr/>
            <p:nvPr/>
          </p:nvCxnSpPr>
          <p:spPr>
            <a:xfrm>
              <a:off x="8430585" y="3754160"/>
              <a:ext cx="0" cy="68031"/>
            </a:xfrm>
            <a:prstGeom prst="line">
              <a:avLst/>
            </a:prstGeom>
            <a:ln w="13779">
              <a:solidFill>
                <a:srgbClr val="3E41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0B6DD3A-4005-23D1-DD4E-87F6D74C431B}"/>
                </a:ext>
              </a:extLst>
            </p:cNvPr>
            <p:cNvSpPr/>
            <p:nvPr/>
          </p:nvSpPr>
          <p:spPr>
            <a:xfrm>
              <a:off x="8406490" y="3710223"/>
              <a:ext cx="48188" cy="48188"/>
            </a:xfrm>
            <a:prstGeom prst="ellips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18" name="Rounded Rectangle 113">
              <a:extLst>
                <a:ext uri="{FF2B5EF4-FFF2-40B4-BE49-F238E27FC236}">
                  <a16:creationId xmlns:a16="http://schemas.microsoft.com/office/drawing/2014/main" id="{6F8F60B6-8C8F-8BAA-5252-6E0E59D62726}"/>
                </a:ext>
              </a:extLst>
            </p:cNvPr>
            <p:cNvSpPr/>
            <p:nvPr/>
          </p:nvSpPr>
          <p:spPr>
            <a:xfrm>
              <a:off x="8266176" y="3822191"/>
              <a:ext cx="328818" cy="249448"/>
            </a:xfrm>
            <a:prstGeom prst="roundRect">
              <a:avLst>
                <a:gd name="adj" fmla="val 28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79E0B21-22F2-2C4D-04E1-906856DBE19E}"/>
                </a:ext>
              </a:extLst>
            </p:cNvPr>
            <p:cNvSpPr/>
            <p:nvPr/>
          </p:nvSpPr>
          <p:spPr>
            <a:xfrm>
              <a:off x="8339876" y="3890223"/>
              <a:ext cx="59527" cy="595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765FC007-AFE6-6779-66B0-61AAA5C0EFA3}"/>
                </a:ext>
              </a:extLst>
            </p:cNvPr>
            <p:cNvSpPr/>
            <p:nvPr/>
          </p:nvSpPr>
          <p:spPr>
            <a:xfrm>
              <a:off x="8461766" y="3890223"/>
              <a:ext cx="59527" cy="595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21" name="Rounded Rectangle 116">
              <a:extLst>
                <a:ext uri="{FF2B5EF4-FFF2-40B4-BE49-F238E27FC236}">
                  <a16:creationId xmlns:a16="http://schemas.microsoft.com/office/drawing/2014/main" id="{100425BA-1E4E-2CEF-5A42-2AE1B8BD5D4B}"/>
                </a:ext>
              </a:extLst>
            </p:cNvPr>
            <p:cNvSpPr/>
            <p:nvPr/>
          </p:nvSpPr>
          <p:spPr>
            <a:xfrm>
              <a:off x="8376726" y="3992270"/>
              <a:ext cx="107716" cy="3118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22" name="TextBox 117">
              <a:extLst>
                <a:ext uri="{FF2B5EF4-FFF2-40B4-BE49-F238E27FC236}">
                  <a16:creationId xmlns:a16="http://schemas.microsoft.com/office/drawing/2014/main" id="{5F3BB4BC-0F0E-DC13-162C-A7EFDB5BD960}"/>
                </a:ext>
              </a:extLst>
            </p:cNvPr>
            <p:cNvSpPr txBox="1"/>
            <p:nvPr/>
          </p:nvSpPr>
          <p:spPr>
            <a:xfrm>
              <a:off x="8644265" y="3796095"/>
              <a:ext cx="941832" cy="3712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err="1">
                  <a:solidFill>
                    <a:srgbClr val="3E4148"/>
                  </a:solidFill>
                  <a:latin typeface="Albert Sans Black" pitchFamily="2" charset="77"/>
                </a:rPr>
                <a:t>Communi</a:t>
              </a:r>
              <a:r>
                <a:rPr lang="de-DE" sz="1100" b="1">
                  <a:solidFill>
                    <a:srgbClr val="3E4148"/>
                  </a:solidFill>
                  <a:latin typeface="Albert Sans Black" pitchFamily="2" charset="77"/>
                </a:rPr>
                <a:t>-</a:t>
              </a:r>
              <a:r>
                <a:rPr sz="1100" b="1" err="1">
                  <a:solidFill>
                    <a:srgbClr val="3E4148"/>
                  </a:solidFill>
                  <a:latin typeface="Albert Sans Black" pitchFamily="2" charset="77"/>
                </a:rPr>
                <a:t>cato</a:t>
              </a:r>
              <a:r>
                <a:rPr lang="de-DE" sz="1100" b="1" err="1">
                  <a:solidFill>
                    <a:srgbClr val="3E4148"/>
                  </a:solidFill>
                  <a:latin typeface="Albert Sans Black" pitchFamily="2" charset="77"/>
                </a:rPr>
                <a:t>r</a:t>
              </a:r>
              <a:r>
                <a:rPr lang="de-DE" sz="1100" b="1">
                  <a:solidFill>
                    <a:srgbClr val="3E4148"/>
                  </a:solidFill>
                  <a:latin typeface="Albert Sans Black" pitchFamily="2" charset="77"/>
                </a:rPr>
                <a:t> </a:t>
              </a:r>
              <a:r>
                <a:rPr sz="1100" b="1">
                  <a:solidFill>
                    <a:srgbClr val="3E4148"/>
                  </a:solidFill>
                  <a:latin typeface="Albert Sans Black" pitchFamily="2" charset="77"/>
                </a:rPr>
                <a:t>Agent</a:t>
              </a:r>
            </a:p>
          </p:txBody>
        </p:sp>
        <p:sp>
          <p:nvSpPr>
            <p:cNvPr id="123" name="Diamond 119">
              <a:extLst>
                <a:ext uri="{FF2B5EF4-FFF2-40B4-BE49-F238E27FC236}">
                  <a16:creationId xmlns:a16="http://schemas.microsoft.com/office/drawing/2014/main" id="{7F6B3A56-3855-1972-39C9-61AF680C6627}"/>
                </a:ext>
              </a:extLst>
            </p:cNvPr>
            <p:cNvSpPr/>
            <p:nvPr/>
          </p:nvSpPr>
          <p:spPr>
            <a:xfrm>
              <a:off x="8837676" y="4329682"/>
              <a:ext cx="118872" cy="122364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827E2868-E6D9-7E93-E063-0149905AB2B8}"/>
                </a:ext>
              </a:extLst>
            </p:cNvPr>
            <p:cNvSpPr/>
            <p:nvPr/>
          </p:nvSpPr>
          <p:spPr>
            <a:xfrm>
              <a:off x="8220456" y="5102352"/>
              <a:ext cx="603504" cy="604800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E7C5AC1F-0FE9-3687-3CD1-CBDA098C24C0}"/>
                </a:ext>
              </a:extLst>
            </p:cNvPr>
            <p:cNvSpPr/>
            <p:nvPr/>
          </p:nvSpPr>
          <p:spPr>
            <a:xfrm>
              <a:off x="8490204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pic>
          <p:nvPicPr>
            <p:cNvPr id="126" name="Picture 175" descr="outlook.png">
              <a:extLst>
                <a:ext uri="{FF2B5EF4-FFF2-40B4-BE49-F238E27FC236}">
                  <a16:creationId xmlns:a16="http://schemas.microsoft.com/office/drawing/2014/main" id="{8F2A6595-716F-19D6-0F1F-862BD3197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85048" y="5276373"/>
              <a:ext cx="279751" cy="260517"/>
            </a:xfrm>
            <a:prstGeom prst="rect">
              <a:avLst/>
            </a:prstGeom>
          </p:spPr>
        </p:pic>
        <p:sp>
          <p:nvSpPr>
            <p:cNvPr id="127" name="TextBox 176">
              <a:extLst>
                <a:ext uri="{FF2B5EF4-FFF2-40B4-BE49-F238E27FC236}">
                  <a16:creationId xmlns:a16="http://schemas.microsoft.com/office/drawing/2014/main" id="{B02198FD-FFBA-5883-2E56-CD4F999C802B}"/>
                </a:ext>
              </a:extLst>
            </p:cNvPr>
            <p:cNvSpPr txBox="1"/>
            <p:nvPr/>
          </p:nvSpPr>
          <p:spPr>
            <a:xfrm>
              <a:off x="8019288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Outlook Mail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867C2BB-5CF2-BDD9-34CE-692E95B05EBF}"/>
                </a:ext>
              </a:extLst>
            </p:cNvPr>
            <p:cNvSpPr/>
            <p:nvPr/>
          </p:nvSpPr>
          <p:spPr>
            <a:xfrm>
              <a:off x="8970264" y="5102352"/>
              <a:ext cx="603504" cy="603504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4BB26BE-7082-25C8-9A5C-36BEBFDACFFE}"/>
                </a:ext>
              </a:extLst>
            </p:cNvPr>
            <p:cNvSpPr/>
            <p:nvPr/>
          </p:nvSpPr>
          <p:spPr>
            <a:xfrm>
              <a:off x="9240012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pic>
          <p:nvPicPr>
            <p:cNvPr id="131" name="Picture 180" descr="whatsapp.png">
              <a:extLst>
                <a:ext uri="{FF2B5EF4-FFF2-40B4-BE49-F238E27FC236}">
                  <a16:creationId xmlns:a16="http://schemas.microsoft.com/office/drawing/2014/main" id="{4C3A4B30-AF37-54CC-A187-B14646DC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25712" y="5257495"/>
              <a:ext cx="292608" cy="293217"/>
            </a:xfrm>
            <a:prstGeom prst="rect">
              <a:avLst/>
            </a:prstGeom>
          </p:spPr>
        </p:pic>
        <p:sp>
          <p:nvSpPr>
            <p:cNvPr id="132" name="TextBox 181">
              <a:extLst>
                <a:ext uri="{FF2B5EF4-FFF2-40B4-BE49-F238E27FC236}">
                  <a16:creationId xmlns:a16="http://schemas.microsoft.com/office/drawing/2014/main" id="{B5D3BB43-878B-C5C4-DC75-4C8C0D06E671}"/>
                </a:ext>
              </a:extLst>
            </p:cNvPr>
            <p:cNvSpPr txBox="1"/>
            <p:nvPr/>
          </p:nvSpPr>
          <p:spPr>
            <a:xfrm>
              <a:off x="8769096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WhatsApp</a:t>
              </a: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E4779F88-E6CC-55D4-E10E-C71BDD9CC1BE}"/>
              </a:ext>
            </a:extLst>
          </p:cNvPr>
          <p:cNvGrpSpPr>
            <a:grpSpLocks noChangeAspect="1"/>
          </p:cNvGrpSpPr>
          <p:nvPr/>
        </p:nvGrpSpPr>
        <p:grpSpPr>
          <a:xfrm>
            <a:off x="4625068" y="1118254"/>
            <a:ext cx="550917" cy="551597"/>
            <a:chOff x="4583430" y="835532"/>
            <a:chExt cx="658368" cy="658368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8518208-0015-FB8B-6C13-C6A792DC33A2}"/>
                </a:ext>
              </a:extLst>
            </p:cNvPr>
            <p:cNvSpPr/>
            <p:nvPr/>
          </p:nvSpPr>
          <p:spPr>
            <a:xfrm>
              <a:off x="4583430" y="835532"/>
              <a:ext cx="658368" cy="658368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pic>
          <p:nvPicPr>
            <p:cNvPr id="111" name="Picture 83" descr="sqlite.png">
              <a:extLst>
                <a:ext uri="{FF2B5EF4-FFF2-40B4-BE49-F238E27FC236}">
                  <a16:creationId xmlns:a16="http://schemas.microsoft.com/office/drawing/2014/main" id="{BFF20634-0FB4-7799-BDE3-99392D4DB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84014" y="1056369"/>
              <a:ext cx="457200" cy="216693"/>
            </a:xfrm>
            <a:prstGeom prst="rect">
              <a:avLst/>
            </a:prstGeom>
          </p:spPr>
        </p:pic>
      </p:grpSp>
      <p:sp>
        <p:nvSpPr>
          <p:cNvPr id="38" name="TextBox 85">
            <a:extLst>
              <a:ext uri="{FF2B5EF4-FFF2-40B4-BE49-F238E27FC236}">
                <a16:creationId xmlns:a16="http://schemas.microsoft.com/office/drawing/2014/main" id="{9FAC9EC9-CDE3-054E-CCD1-2B96BC1E7777}"/>
              </a:ext>
            </a:extLst>
          </p:cNvPr>
          <p:cNvSpPr txBox="1"/>
          <p:nvPr/>
        </p:nvSpPr>
        <p:spPr>
          <a:xfrm>
            <a:off x="4862009" y="1299482"/>
            <a:ext cx="13326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3E4148"/>
                </a:solidFill>
                <a:latin typeface="Albert Sans Medium" pitchFamily="2" charset="77"/>
              </a:rPr>
              <a:t>Memory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E19F109-614A-4EFE-EBB8-F996BD492FED}"/>
              </a:ext>
            </a:extLst>
          </p:cNvPr>
          <p:cNvSpPr/>
          <p:nvPr/>
        </p:nvSpPr>
        <p:spPr>
          <a:xfrm>
            <a:off x="4720964" y="1605148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40" name="Connector 9">
            <a:extLst>
              <a:ext uri="{FF2B5EF4-FFF2-40B4-BE49-F238E27FC236}">
                <a16:creationId xmlns:a16="http://schemas.microsoft.com/office/drawing/2014/main" id="{7FBE5BE0-A5E6-214E-F358-29DB92815013}"/>
              </a:ext>
            </a:extLst>
          </p:cNvPr>
          <p:cNvCxnSpPr>
            <a:cxnSpLocks/>
            <a:stCxn id="23" idx="6"/>
            <a:endCxn id="74" idx="1"/>
          </p:cNvCxnSpPr>
          <p:nvPr/>
        </p:nvCxnSpPr>
        <p:spPr>
          <a:xfrm flipV="1">
            <a:off x="3963811" y="4005860"/>
            <a:ext cx="668015" cy="3531"/>
          </a:xfrm>
          <a:prstGeom prst="curvedConnector3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16">
            <a:extLst>
              <a:ext uri="{FF2B5EF4-FFF2-40B4-BE49-F238E27FC236}">
                <a16:creationId xmlns:a16="http://schemas.microsoft.com/office/drawing/2014/main" id="{3811035F-B985-B3E5-6454-B7F5EACB3F94}"/>
              </a:ext>
            </a:extLst>
          </p:cNvPr>
          <p:cNvCxnSpPr>
            <a:cxnSpLocks/>
            <a:stCxn id="186" idx="2"/>
            <a:endCxn id="203" idx="7"/>
          </p:cNvCxnSpPr>
          <p:nvPr/>
        </p:nvCxnSpPr>
        <p:spPr>
          <a:xfrm>
            <a:off x="5206965" y="3246933"/>
            <a:ext cx="4635861" cy="45946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9">
            <a:extLst>
              <a:ext uri="{FF2B5EF4-FFF2-40B4-BE49-F238E27FC236}">
                <a16:creationId xmlns:a16="http://schemas.microsoft.com/office/drawing/2014/main" id="{0D8054DD-7981-6B48-BB00-08F9452AB0C6}"/>
              </a:ext>
            </a:extLst>
          </p:cNvPr>
          <p:cNvCxnSpPr>
            <a:cxnSpLocks/>
            <a:stCxn id="174" idx="3"/>
            <a:endCxn id="109" idx="1"/>
          </p:cNvCxnSpPr>
          <p:nvPr/>
        </p:nvCxnSpPr>
        <p:spPr>
          <a:xfrm flipV="1">
            <a:off x="5456845" y="2004080"/>
            <a:ext cx="3468164" cy="550665"/>
          </a:xfrm>
          <a:prstGeom prst="curvedConnector3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2B615681-9E4B-0191-E373-7522AF546F42}"/>
              </a:ext>
            </a:extLst>
          </p:cNvPr>
          <p:cNvGrpSpPr>
            <a:grpSpLocks noChangeAspect="1"/>
          </p:cNvGrpSpPr>
          <p:nvPr/>
        </p:nvGrpSpPr>
        <p:grpSpPr>
          <a:xfrm>
            <a:off x="8925010" y="1615449"/>
            <a:ext cx="865022" cy="843812"/>
            <a:chOff x="9293771" y="657253"/>
            <a:chExt cx="1051166" cy="1024128"/>
          </a:xfrm>
        </p:grpSpPr>
        <p:pic>
          <p:nvPicPr>
            <p:cNvPr id="107" name="Picture 29" descr="trigger_node.png">
              <a:extLst>
                <a:ext uri="{FF2B5EF4-FFF2-40B4-BE49-F238E27FC236}">
                  <a16:creationId xmlns:a16="http://schemas.microsoft.com/office/drawing/2014/main" id="{5F4867A6-A534-B256-956F-5BA0FA17A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9320809" y="657253"/>
              <a:ext cx="1024128" cy="1024128"/>
            </a:xfrm>
            <a:prstGeom prst="rect">
              <a:avLst/>
            </a:prstGeom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</p:pic>
        <p:pic>
          <p:nvPicPr>
            <p:cNvPr id="108" name="Picture 66" descr="whatsapp.png">
              <a:extLst>
                <a:ext uri="{FF2B5EF4-FFF2-40B4-BE49-F238E27FC236}">
                  <a16:creationId xmlns:a16="http://schemas.microsoft.com/office/drawing/2014/main" id="{42527E29-1DBA-57E0-9DE4-0AAE8BF6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18776" y="866274"/>
              <a:ext cx="604824" cy="606084"/>
            </a:xfrm>
            <a:prstGeom prst="rect">
              <a:avLst/>
            </a:prstGeom>
          </p:spPr>
        </p:pic>
        <p:sp>
          <p:nvSpPr>
            <p:cNvPr id="109" name="Rounded Rectangle 74">
              <a:extLst>
                <a:ext uri="{FF2B5EF4-FFF2-40B4-BE49-F238E27FC236}">
                  <a16:creationId xmlns:a16="http://schemas.microsoft.com/office/drawing/2014/main" id="{CBF58487-B69A-8BA2-6845-D7C6BF9E01B0}"/>
                </a:ext>
              </a:extLst>
            </p:cNvPr>
            <p:cNvSpPr/>
            <p:nvPr/>
          </p:nvSpPr>
          <p:spPr>
            <a:xfrm>
              <a:off x="9293771" y="1055779"/>
              <a:ext cx="50292" cy="146304"/>
            </a:xfrm>
            <a:prstGeom prst="roundRect">
              <a:avLst>
                <a:gd name="adj" fmla="val 50000"/>
              </a:avLst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cxnSp>
        <p:nvCxnSpPr>
          <p:cNvPr id="78" name="Connector 9">
            <a:extLst>
              <a:ext uri="{FF2B5EF4-FFF2-40B4-BE49-F238E27FC236}">
                <a16:creationId xmlns:a16="http://schemas.microsoft.com/office/drawing/2014/main" id="{C53D7209-488D-20BB-B971-2C7F78AFC50A}"/>
              </a:ext>
            </a:extLst>
          </p:cNvPr>
          <p:cNvCxnSpPr>
            <a:cxnSpLocks/>
            <a:stCxn id="79" idx="6"/>
            <a:endCxn id="173" idx="1"/>
          </p:cNvCxnSpPr>
          <p:nvPr/>
        </p:nvCxnSpPr>
        <p:spPr>
          <a:xfrm>
            <a:off x="5489338" y="2547863"/>
            <a:ext cx="3435672" cy="432629"/>
          </a:xfrm>
          <a:prstGeom prst="curvedConnector3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CD427D7A-CD2C-0512-E708-1CDFF2109F96}"/>
              </a:ext>
            </a:extLst>
          </p:cNvPr>
          <p:cNvSpPr/>
          <p:nvPr/>
        </p:nvSpPr>
        <p:spPr>
          <a:xfrm>
            <a:off x="5414374" y="2510335"/>
            <a:ext cx="74964" cy="7505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B0803C4D-491B-8EDA-8961-4FDB2406A889}"/>
              </a:ext>
            </a:extLst>
          </p:cNvPr>
          <p:cNvGrpSpPr/>
          <p:nvPr/>
        </p:nvGrpSpPr>
        <p:grpSpPr>
          <a:xfrm>
            <a:off x="722022" y="4469620"/>
            <a:ext cx="602308" cy="485980"/>
            <a:chOff x="288484" y="4618738"/>
            <a:chExt cx="661218" cy="532854"/>
          </a:xfrm>
        </p:grpSpPr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3551D62C-83F5-4CAC-2F03-FBA439F19D1B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6FF1F02A-52BE-4F3C-C9DB-2369EE1B3E94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106" name="Picture 78" descr="claude.png">
                <a:extLst>
                  <a:ext uri="{FF2B5EF4-FFF2-40B4-BE49-F238E27FC236}">
                    <a16:creationId xmlns:a16="http://schemas.microsoft.com/office/drawing/2014/main" id="{897F8482-4812-31BA-7122-7A46607770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103" name="Connector 11">
              <a:extLst>
                <a:ext uri="{FF2B5EF4-FFF2-40B4-BE49-F238E27FC236}">
                  <a16:creationId xmlns:a16="http://schemas.microsoft.com/office/drawing/2014/main" id="{EEAA354E-A7EA-85A7-1E46-91E6C14AEEF9}"/>
                </a:ext>
              </a:extLst>
            </p:cNvPr>
            <p:cNvCxnSpPr>
              <a:cxnSpLocks/>
              <a:stCxn id="105" idx="7"/>
              <a:endCxn id="104" idx="2"/>
            </p:cNvCxnSpPr>
            <p:nvPr/>
          </p:nvCxnSpPr>
          <p:spPr>
            <a:xfrm flipV="1">
              <a:off x="640354" y="4741102"/>
              <a:ext cx="248166" cy="58620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Diamond 49">
              <a:extLst>
                <a:ext uri="{FF2B5EF4-FFF2-40B4-BE49-F238E27FC236}">
                  <a16:creationId xmlns:a16="http://schemas.microsoft.com/office/drawing/2014/main" id="{D971F3A0-88BE-5A30-A00F-A840D5165D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338" y="4618738"/>
              <a:ext cx="122364" cy="122364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cxnSp>
        <p:nvCxnSpPr>
          <p:cNvPr id="42" name="Connector 21">
            <a:extLst>
              <a:ext uri="{FF2B5EF4-FFF2-40B4-BE49-F238E27FC236}">
                <a16:creationId xmlns:a16="http://schemas.microsoft.com/office/drawing/2014/main" id="{900021E8-5F42-F15E-996F-5E4DF3154F02}"/>
              </a:ext>
            </a:extLst>
          </p:cNvPr>
          <p:cNvCxnSpPr>
            <a:cxnSpLocks/>
            <a:stCxn id="54" idx="2"/>
            <a:endCxn id="64" idx="7"/>
          </p:cNvCxnSpPr>
          <p:nvPr/>
        </p:nvCxnSpPr>
        <p:spPr>
          <a:xfrm flipH="1">
            <a:off x="4391015" y="4590858"/>
            <a:ext cx="963298" cy="57564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2">
            <a:extLst>
              <a:ext uri="{FF2B5EF4-FFF2-40B4-BE49-F238E27FC236}">
                <a16:creationId xmlns:a16="http://schemas.microsoft.com/office/drawing/2014/main" id="{AEF28721-97B1-179F-DA3D-F87234671CB6}"/>
              </a:ext>
            </a:extLst>
          </p:cNvPr>
          <p:cNvCxnSpPr>
            <a:cxnSpLocks/>
            <a:stCxn id="54" idx="2"/>
            <a:endCxn id="60" idx="7"/>
          </p:cNvCxnSpPr>
          <p:nvPr/>
        </p:nvCxnSpPr>
        <p:spPr>
          <a:xfrm flipH="1">
            <a:off x="5068488" y="4590858"/>
            <a:ext cx="285825" cy="57564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3">
            <a:extLst>
              <a:ext uri="{FF2B5EF4-FFF2-40B4-BE49-F238E27FC236}">
                <a16:creationId xmlns:a16="http://schemas.microsoft.com/office/drawing/2014/main" id="{6F1FB0E5-6E91-7C21-84A6-8FA3E863F70A}"/>
              </a:ext>
            </a:extLst>
          </p:cNvPr>
          <p:cNvCxnSpPr>
            <a:cxnSpLocks/>
            <a:stCxn id="54" idx="2"/>
            <a:endCxn id="68" idx="6"/>
          </p:cNvCxnSpPr>
          <p:nvPr/>
        </p:nvCxnSpPr>
        <p:spPr>
          <a:xfrm>
            <a:off x="5354313" y="4590858"/>
            <a:ext cx="406552" cy="59628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98">
            <a:extLst>
              <a:ext uri="{FF2B5EF4-FFF2-40B4-BE49-F238E27FC236}">
                <a16:creationId xmlns:a16="http://schemas.microsoft.com/office/drawing/2014/main" id="{9B815299-BF96-6C87-1B6F-FDF518E938C6}"/>
              </a:ext>
            </a:extLst>
          </p:cNvPr>
          <p:cNvSpPr/>
          <p:nvPr/>
        </p:nvSpPr>
        <p:spPr>
          <a:xfrm>
            <a:off x="4662978" y="3744387"/>
            <a:ext cx="1382671" cy="792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0E2E7"/>
            </a:solidFill>
          </a:ln>
          <a:effectLst>
            <a:outerShdw blurRad="50000" dist="18000" dir="5400000" rotWithShape="0">
              <a:srgbClr val="16181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00E586B-AA72-DAB2-3233-0A81C99C0589}"/>
              </a:ext>
            </a:extLst>
          </p:cNvPr>
          <p:cNvSpPr/>
          <p:nvPr/>
        </p:nvSpPr>
        <p:spPr>
          <a:xfrm>
            <a:off x="5325161" y="3715199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47" name="Connector 100">
            <a:extLst>
              <a:ext uri="{FF2B5EF4-FFF2-40B4-BE49-F238E27FC236}">
                <a16:creationId xmlns:a16="http://schemas.microsoft.com/office/drawing/2014/main" id="{78A88604-8185-F8C7-D152-B503F3533738}"/>
              </a:ext>
            </a:extLst>
          </p:cNvPr>
          <p:cNvCxnSpPr/>
          <p:nvPr/>
        </p:nvCxnSpPr>
        <p:spPr>
          <a:xfrm>
            <a:off x="4929351" y="3957547"/>
            <a:ext cx="0" cy="62046"/>
          </a:xfrm>
          <a:prstGeom prst="line">
            <a:avLst/>
          </a:prstGeom>
          <a:ln w="13779">
            <a:solidFill>
              <a:srgbClr val="3E41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988F4142-E59C-7E03-5BD3-DAE3FF43E02B}"/>
              </a:ext>
            </a:extLst>
          </p:cNvPr>
          <p:cNvSpPr/>
          <p:nvPr/>
        </p:nvSpPr>
        <p:spPr>
          <a:xfrm>
            <a:off x="4907403" y="3917476"/>
            <a:ext cx="43895" cy="43949"/>
          </a:xfrm>
          <a:prstGeom prst="ellipse">
            <a:avLst/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49" name="Rounded Rectangle 102">
            <a:extLst>
              <a:ext uri="{FF2B5EF4-FFF2-40B4-BE49-F238E27FC236}">
                <a16:creationId xmlns:a16="http://schemas.microsoft.com/office/drawing/2014/main" id="{B3CC44B8-4B92-4E1D-1407-E8E5D7899FE1}"/>
              </a:ext>
            </a:extLst>
          </p:cNvPr>
          <p:cNvSpPr/>
          <p:nvPr/>
        </p:nvSpPr>
        <p:spPr>
          <a:xfrm>
            <a:off x="4779589" y="4019594"/>
            <a:ext cx="299523" cy="227505"/>
          </a:xfrm>
          <a:prstGeom prst="roundRect">
            <a:avLst>
              <a:gd name="adj" fmla="val 28000"/>
            </a:avLst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64B03D7-5D64-A970-6C33-ED0A160DE561}"/>
              </a:ext>
            </a:extLst>
          </p:cNvPr>
          <p:cNvSpPr/>
          <p:nvPr/>
        </p:nvSpPr>
        <p:spPr>
          <a:xfrm>
            <a:off x="4846723" y="4081641"/>
            <a:ext cx="54224" cy="542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37AA33-B61E-8BF0-0A54-05CFE245A408}"/>
              </a:ext>
            </a:extLst>
          </p:cNvPr>
          <p:cNvSpPr/>
          <p:nvPr/>
        </p:nvSpPr>
        <p:spPr>
          <a:xfrm>
            <a:off x="4957754" y="4081641"/>
            <a:ext cx="54224" cy="542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2" name="Rounded Rectangle 105">
            <a:extLst>
              <a:ext uri="{FF2B5EF4-FFF2-40B4-BE49-F238E27FC236}">
                <a16:creationId xmlns:a16="http://schemas.microsoft.com/office/drawing/2014/main" id="{77D8E42D-172A-DDEC-0F3F-A6D08D4CC5E9}"/>
              </a:ext>
            </a:extLst>
          </p:cNvPr>
          <p:cNvSpPr/>
          <p:nvPr/>
        </p:nvSpPr>
        <p:spPr>
          <a:xfrm>
            <a:off x="4880290" y="4174711"/>
            <a:ext cx="98120" cy="284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3" name="TextBox 106">
            <a:extLst>
              <a:ext uri="{FF2B5EF4-FFF2-40B4-BE49-F238E27FC236}">
                <a16:creationId xmlns:a16="http://schemas.microsoft.com/office/drawing/2014/main" id="{5BE23D14-5C13-1839-1C93-13026EF6DE5B}"/>
              </a:ext>
            </a:extLst>
          </p:cNvPr>
          <p:cNvSpPr txBox="1"/>
          <p:nvPr/>
        </p:nvSpPr>
        <p:spPr>
          <a:xfrm>
            <a:off x="5162739" y="3995027"/>
            <a:ext cx="85792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E4148"/>
                </a:solidFill>
                <a:latin typeface="Albert Sans Black" pitchFamily="2" charset="77"/>
              </a:rPr>
              <a:t>Planner</a:t>
            </a:r>
          </a:p>
          <a:p>
            <a:pPr algn="l"/>
            <a:r>
              <a:rPr sz="1100" b="1">
                <a:solidFill>
                  <a:srgbClr val="3E4148"/>
                </a:solidFill>
                <a:latin typeface="Albert Sans Black" pitchFamily="2" charset="77"/>
              </a:rPr>
              <a:t>Agent</a:t>
            </a:r>
          </a:p>
        </p:txBody>
      </p:sp>
      <p:sp>
        <p:nvSpPr>
          <p:cNvPr id="54" name="Diamond 108">
            <a:extLst>
              <a:ext uri="{FF2B5EF4-FFF2-40B4-BE49-F238E27FC236}">
                <a16:creationId xmlns:a16="http://schemas.microsoft.com/office/drawing/2014/main" id="{2F103532-1422-8F27-55F6-25C84FD778E2}"/>
              </a:ext>
            </a:extLst>
          </p:cNvPr>
          <p:cNvSpPr/>
          <p:nvPr/>
        </p:nvSpPr>
        <p:spPr>
          <a:xfrm>
            <a:off x="5300173" y="4482443"/>
            <a:ext cx="108281" cy="108415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C46279A-DF17-B242-23D2-35294DFDECA3}"/>
              </a:ext>
            </a:extLst>
          </p:cNvPr>
          <p:cNvSpPr/>
          <p:nvPr/>
        </p:nvSpPr>
        <p:spPr>
          <a:xfrm>
            <a:off x="4090000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pic>
        <p:nvPicPr>
          <p:cNvPr id="56" name="Picture 152" descr="db.png">
            <a:extLst>
              <a:ext uri="{FF2B5EF4-FFF2-40B4-BE49-F238E27FC236}">
                <a16:creationId xmlns:a16="http://schemas.microsoft.com/office/drawing/2014/main" id="{905C3361-0F38-0E5C-FBD9-8A9438068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269" y="5363107"/>
            <a:ext cx="283198" cy="198483"/>
          </a:xfrm>
          <a:prstGeom prst="rect">
            <a:avLst/>
          </a:prstGeom>
        </p:spPr>
      </p:pic>
      <p:sp>
        <p:nvSpPr>
          <p:cNvPr id="57" name="TextBox 153">
            <a:extLst>
              <a:ext uri="{FF2B5EF4-FFF2-40B4-BE49-F238E27FC236}">
                <a16:creationId xmlns:a16="http://schemas.microsoft.com/office/drawing/2014/main" id="{7DC854B7-3E5F-91B7-1DF0-5769A53C5F11}"/>
              </a:ext>
            </a:extLst>
          </p:cNvPr>
          <p:cNvSpPr txBox="1"/>
          <p:nvPr/>
        </p:nvSpPr>
        <p:spPr>
          <a:xfrm>
            <a:off x="3906754" y="5787594"/>
            <a:ext cx="916227" cy="11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3E4148"/>
                </a:solidFill>
                <a:latin typeface="Albert Sans Medium" pitchFamily="2" charset="77"/>
              </a:rPr>
              <a:t>DB Reroutes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2F4651A-A257-A076-395D-F9F61B6AC2D2}"/>
              </a:ext>
            </a:extLst>
          </p:cNvPr>
          <p:cNvSpPr/>
          <p:nvPr/>
        </p:nvSpPr>
        <p:spPr>
          <a:xfrm>
            <a:off x="4773005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69C93F5-51F6-5B76-08F5-8772969FE9F3}"/>
              </a:ext>
            </a:extLst>
          </p:cNvPr>
          <p:cNvSpPr/>
          <p:nvPr/>
        </p:nvSpPr>
        <p:spPr>
          <a:xfrm>
            <a:off x="5018721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1" name="TextBox 158">
            <a:extLst>
              <a:ext uri="{FF2B5EF4-FFF2-40B4-BE49-F238E27FC236}">
                <a16:creationId xmlns:a16="http://schemas.microsoft.com/office/drawing/2014/main" id="{448E016B-9AB1-CA45-F42B-E531A4F3D893}"/>
              </a:ext>
            </a:extLst>
          </p:cNvPr>
          <p:cNvSpPr txBox="1"/>
          <p:nvPr/>
        </p:nvSpPr>
        <p:spPr>
          <a:xfrm>
            <a:off x="4589760" y="5787594"/>
            <a:ext cx="916227" cy="11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3E4148"/>
                </a:solidFill>
                <a:latin typeface="Albert Sans Medium" pitchFamily="2" charset="77"/>
              </a:rPr>
              <a:t>Calendar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F657AD4-ADAF-62A8-F27E-C5F5EF3EC7A9}"/>
              </a:ext>
            </a:extLst>
          </p:cNvPr>
          <p:cNvSpPr/>
          <p:nvPr/>
        </p:nvSpPr>
        <p:spPr>
          <a:xfrm>
            <a:off x="4341248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7765CD7-AF7E-92B6-12BA-34D882A62891}"/>
              </a:ext>
            </a:extLst>
          </p:cNvPr>
          <p:cNvSpPr/>
          <p:nvPr/>
        </p:nvSpPr>
        <p:spPr>
          <a:xfrm>
            <a:off x="5456845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5080E1C-3FCC-4EC1-28B7-E83D6DB9F414}"/>
              </a:ext>
            </a:extLst>
          </p:cNvPr>
          <p:cNvSpPr/>
          <p:nvPr/>
        </p:nvSpPr>
        <p:spPr>
          <a:xfrm>
            <a:off x="5702560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73" name="TextBox 171">
            <a:extLst>
              <a:ext uri="{FF2B5EF4-FFF2-40B4-BE49-F238E27FC236}">
                <a16:creationId xmlns:a16="http://schemas.microsoft.com/office/drawing/2014/main" id="{C1A91F00-7A12-9001-7FF7-0ADF9E569C26}"/>
              </a:ext>
            </a:extLst>
          </p:cNvPr>
          <p:cNvSpPr txBox="1"/>
          <p:nvPr/>
        </p:nvSpPr>
        <p:spPr>
          <a:xfrm>
            <a:off x="5273599" y="5787594"/>
            <a:ext cx="916227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de-DE" sz="800" b="0">
                <a:solidFill>
                  <a:srgbClr val="3E4148"/>
                </a:solidFill>
                <a:latin typeface="Albert Sans Medium" pitchFamily="2" charset="77"/>
              </a:rPr>
              <a:t>Train Alternatives</a:t>
            </a:r>
            <a:endParaRPr sz="800" b="0">
              <a:solidFill>
                <a:srgbClr val="3E4148"/>
              </a:solidFill>
              <a:latin typeface="Albert Sans Medium" pitchFamily="2" charset="77"/>
            </a:endParaRPr>
          </a:p>
        </p:txBody>
      </p:sp>
      <p:sp>
        <p:nvSpPr>
          <p:cNvPr id="74" name="Rounded Rectangle 67">
            <a:extLst>
              <a:ext uri="{FF2B5EF4-FFF2-40B4-BE49-F238E27FC236}">
                <a16:creationId xmlns:a16="http://schemas.microsoft.com/office/drawing/2014/main" id="{D961A4B6-20DA-E945-A367-5E582B724577}"/>
              </a:ext>
            </a:extLst>
          </p:cNvPr>
          <p:cNvSpPr/>
          <p:nvPr/>
        </p:nvSpPr>
        <p:spPr>
          <a:xfrm>
            <a:off x="4631826" y="3939143"/>
            <a:ext cx="45812" cy="133434"/>
          </a:xfrm>
          <a:prstGeom prst="roundRect">
            <a:avLst>
              <a:gd name="adj" fmla="val 50000"/>
            </a:avLst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pic>
        <p:nvPicPr>
          <p:cNvPr id="80" name="Grafik 79" descr="Outlook Calendar color icon in PNG, SVG">
            <a:extLst>
              <a:ext uri="{FF2B5EF4-FFF2-40B4-BE49-F238E27FC236}">
                <a16:creationId xmlns:a16="http://schemas.microsoft.com/office/drawing/2014/main" id="{67BCE3C3-7ED0-ED8A-CB5C-7D342D65A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900127" y="5305593"/>
            <a:ext cx="291241" cy="291600"/>
          </a:xfrm>
          <a:prstGeom prst="rect">
            <a:avLst/>
          </a:prstGeom>
        </p:spPr>
      </p:pic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95AA6352-6E24-22AB-F16B-E85D21D2792E}"/>
              </a:ext>
            </a:extLst>
          </p:cNvPr>
          <p:cNvGrpSpPr/>
          <p:nvPr/>
        </p:nvGrpSpPr>
        <p:grpSpPr>
          <a:xfrm>
            <a:off x="4296218" y="4474565"/>
            <a:ext cx="602445" cy="481036"/>
            <a:chOff x="288484" y="4624159"/>
            <a:chExt cx="661368" cy="527433"/>
          </a:xfrm>
        </p:grpSpPr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EFA6D42F-18C2-03ED-C8BD-56B56251FC8D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0CCD0B50-68EA-03FB-657E-4C5EEDDF52FE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101" name="Picture 78" descr="claude.png">
                <a:extLst>
                  <a:ext uri="{FF2B5EF4-FFF2-40B4-BE49-F238E27FC236}">
                    <a16:creationId xmlns:a16="http://schemas.microsoft.com/office/drawing/2014/main" id="{418B9FAD-187B-7EFF-FED0-E2AD352FD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98" name="Connector 11">
              <a:extLst>
                <a:ext uri="{FF2B5EF4-FFF2-40B4-BE49-F238E27FC236}">
                  <a16:creationId xmlns:a16="http://schemas.microsoft.com/office/drawing/2014/main" id="{7C7C67D8-8CB5-D760-117D-3139B4CD5BC5}"/>
                </a:ext>
              </a:extLst>
            </p:cNvPr>
            <p:cNvCxnSpPr>
              <a:cxnSpLocks/>
              <a:stCxn id="100" idx="7"/>
              <a:endCxn id="99" idx="2"/>
            </p:cNvCxnSpPr>
            <p:nvPr/>
          </p:nvCxnSpPr>
          <p:spPr>
            <a:xfrm flipV="1">
              <a:off x="640354" y="4746674"/>
              <a:ext cx="248240" cy="53047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Diamond 49">
              <a:extLst>
                <a:ext uri="{FF2B5EF4-FFF2-40B4-BE49-F238E27FC236}">
                  <a16:creationId xmlns:a16="http://schemas.microsoft.com/office/drawing/2014/main" id="{250850AC-0141-9100-1813-7EC70067A8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337" y="4624159"/>
              <a:ext cx="122515" cy="122515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894F3F08-C6BE-5839-D98D-EE1F9DF005E2}"/>
              </a:ext>
            </a:extLst>
          </p:cNvPr>
          <p:cNvGrpSpPr/>
          <p:nvPr/>
        </p:nvGrpSpPr>
        <p:grpSpPr>
          <a:xfrm>
            <a:off x="6735225" y="4474565"/>
            <a:ext cx="607251" cy="481037"/>
            <a:chOff x="288484" y="4624158"/>
            <a:chExt cx="666644" cy="527434"/>
          </a:xfrm>
        </p:grpSpPr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4A37F2AA-B9D2-C472-A8B5-41C774237C45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C909BA2-50EC-16CF-5CCA-16FA46199F67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96" name="Picture 78" descr="claude.png">
                <a:extLst>
                  <a:ext uri="{FF2B5EF4-FFF2-40B4-BE49-F238E27FC236}">
                    <a16:creationId xmlns:a16="http://schemas.microsoft.com/office/drawing/2014/main" id="{DF991181-A3C0-EA78-EC6C-123D24E8EE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93" name="Connector 11">
              <a:extLst>
                <a:ext uri="{FF2B5EF4-FFF2-40B4-BE49-F238E27FC236}">
                  <a16:creationId xmlns:a16="http://schemas.microsoft.com/office/drawing/2014/main" id="{C33ADE66-7108-446B-0A91-1FDC5E9A2729}"/>
                </a:ext>
              </a:extLst>
            </p:cNvPr>
            <p:cNvCxnSpPr>
              <a:cxnSpLocks/>
              <a:stCxn id="95" idx="7"/>
              <a:endCxn id="94" idx="2"/>
            </p:cNvCxnSpPr>
            <p:nvPr/>
          </p:nvCxnSpPr>
          <p:spPr>
            <a:xfrm flipV="1">
              <a:off x="640354" y="4746522"/>
              <a:ext cx="253592" cy="53200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Diamond 49">
              <a:extLst>
                <a:ext uri="{FF2B5EF4-FFF2-40B4-BE49-F238E27FC236}">
                  <a16:creationId xmlns:a16="http://schemas.microsoft.com/office/drawing/2014/main" id="{F271A9D8-A0E2-6EB6-CB85-51E296F7F0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2764" y="4624158"/>
              <a:ext cx="122364" cy="122364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0F6D66A9-1ADB-0623-D56E-B5A667D7B5A9}"/>
              </a:ext>
            </a:extLst>
          </p:cNvPr>
          <p:cNvGrpSpPr/>
          <p:nvPr/>
        </p:nvGrpSpPr>
        <p:grpSpPr>
          <a:xfrm>
            <a:off x="8807942" y="4459730"/>
            <a:ext cx="602308" cy="495866"/>
            <a:chOff x="288484" y="4607898"/>
            <a:chExt cx="661217" cy="543694"/>
          </a:xfrm>
        </p:grpSpPr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DCEB7D11-C84A-BC3B-FFE2-CBBC5813C8C7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90828A-AE6D-72FE-6794-40D4860ED7E9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91" name="Picture 78" descr="claude.png">
                <a:extLst>
                  <a:ext uri="{FF2B5EF4-FFF2-40B4-BE49-F238E27FC236}">
                    <a16:creationId xmlns:a16="http://schemas.microsoft.com/office/drawing/2014/main" id="{97FB4731-2BD0-94F1-7D68-57D023FE3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88" name="Connector 11">
              <a:extLst>
                <a:ext uri="{FF2B5EF4-FFF2-40B4-BE49-F238E27FC236}">
                  <a16:creationId xmlns:a16="http://schemas.microsoft.com/office/drawing/2014/main" id="{E347B435-AD72-47CA-B8F1-3E9C449F0DD0}"/>
                </a:ext>
              </a:extLst>
            </p:cNvPr>
            <p:cNvCxnSpPr>
              <a:cxnSpLocks/>
              <a:stCxn id="90" idx="7"/>
              <a:endCxn id="89" idx="2"/>
            </p:cNvCxnSpPr>
            <p:nvPr/>
          </p:nvCxnSpPr>
          <p:spPr>
            <a:xfrm flipV="1">
              <a:off x="640355" y="4730262"/>
              <a:ext cx="248164" cy="69459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Diamond 49">
              <a:extLst>
                <a:ext uri="{FF2B5EF4-FFF2-40B4-BE49-F238E27FC236}">
                  <a16:creationId xmlns:a16="http://schemas.microsoft.com/office/drawing/2014/main" id="{F70AB7CF-58CE-C09D-9321-F72544D57E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337" y="4607898"/>
              <a:ext cx="122364" cy="122364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sp>
        <p:nvSpPr>
          <p:cNvPr id="234" name="Oval 233">
            <a:extLst>
              <a:ext uri="{FF2B5EF4-FFF2-40B4-BE49-F238E27FC236}">
                <a16:creationId xmlns:a16="http://schemas.microsoft.com/office/drawing/2014/main" id="{9E66ECEE-1B94-2D83-BC7F-56890CAEFBD4}"/>
              </a:ext>
            </a:extLst>
          </p:cNvPr>
          <p:cNvSpPr/>
          <p:nvPr/>
        </p:nvSpPr>
        <p:spPr>
          <a:xfrm>
            <a:off x="6144576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35" name="TextBox 171">
            <a:extLst>
              <a:ext uri="{FF2B5EF4-FFF2-40B4-BE49-F238E27FC236}">
                <a16:creationId xmlns:a16="http://schemas.microsoft.com/office/drawing/2014/main" id="{468F6827-DD1B-35A1-C134-626E6B8F63C4}"/>
              </a:ext>
            </a:extLst>
          </p:cNvPr>
          <p:cNvSpPr txBox="1"/>
          <p:nvPr/>
        </p:nvSpPr>
        <p:spPr>
          <a:xfrm>
            <a:off x="6098826" y="5787594"/>
            <a:ext cx="633863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de-DE" sz="800" b="0">
                <a:solidFill>
                  <a:srgbClr val="3E4148"/>
                </a:solidFill>
                <a:latin typeface="Albert Sans Medium" pitchFamily="2" charset="77"/>
              </a:rPr>
              <a:t>Hotels</a:t>
            </a:r>
            <a:endParaRPr sz="800" b="0">
              <a:solidFill>
                <a:srgbClr val="3E4148"/>
              </a:solidFill>
              <a:latin typeface="Albert Sans Medium" pitchFamily="2" charset="77"/>
            </a:endParaRPr>
          </a:p>
        </p:txBody>
      </p:sp>
      <p:pic>
        <p:nvPicPr>
          <p:cNvPr id="241" name="Grafik 240">
            <a:extLst>
              <a:ext uri="{FF2B5EF4-FFF2-40B4-BE49-F238E27FC236}">
                <a16:creationId xmlns:a16="http://schemas.microsoft.com/office/drawing/2014/main" id="{40BCFE1F-7F8F-95D7-E473-F5D6BBF46C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6970" y="5335807"/>
            <a:ext cx="279263" cy="285733"/>
          </a:xfrm>
          <a:prstGeom prst="rect">
            <a:avLst/>
          </a:prstGeom>
        </p:spPr>
      </p:pic>
      <p:pic>
        <p:nvPicPr>
          <p:cNvPr id="248" name="Grafik 247" descr="Blitz mit einfarbiger Füllung">
            <a:extLst>
              <a:ext uri="{FF2B5EF4-FFF2-40B4-BE49-F238E27FC236}">
                <a16:creationId xmlns:a16="http://schemas.microsoft.com/office/drawing/2014/main" id="{9B47EC27-6BDE-DF7E-E94C-AE33DD240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3955" y="2397143"/>
            <a:ext cx="317776" cy="390482"/>
          </a:xfrm>
          <a:prstGeom prst="rect">
            <a:avLst/>
          </a:prstGeom>
        </p:spPr>
      </p:pic>
      <p:pic>
        <p:nvPicPr>
          <p:cNvPr id="251" name="Grafik 250" descr="Reservation Completed Icon SVG Vector &amp; PNG Free Download | UXWing">
            <a:extLst>
              <a:ext uri="{FF2B5EF4-FFF2-40B4-BE49-F238E27FC236}">
                <a16:creationId xmlns:a16="http://schemas.microsoft.com/office/drawing/2014/main" id="{F494F39A-C5D1-A5E8-23B9-C33121DE8F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9008064" y="5316548"/>
            <a:ext cx="299077" cy="291600"/>
          </a:xfrm>
          <a:prstGeom prst="rect">
            <a:avLst/>
          </a:prstGeom>
        </p:spPr>
      </p:pic>
      <p:sp>
        <p:nvSpPr>
          <p:cNvPr id="253" name="Oval 252">
            <a:extLst>
              <a:ext uri="{FF2B5EF4-FFF2-40B4-BE49-F238E27FC236}">
                <a16:creationId xmlns:a16="http://schemas.microsoft.com/office/drawing/2014/main" id="{3011B739-FDC2-421E-8980-E0FE7907B0BF}"/>
              </a:ext>
            </a:extLst>
          </p:cNvPr>
          <p:cNvSpPr/>
          <p:nvPr/>
        </p:nvSpPr>
        <p:spPr>
          <a:xfrm>
            <a:off x="6415758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254" name="Connector 23">
            <a:extLst>
              <a:ext uri="{FF2B5EF4-FFF2-40B4-BE49-F238E27FC236}">
                <a16:creationId xmlns:a16="http://schemas.microsoft.com/office/drawing/2014/main" id="{35C35ACD-1692-0AE9-F92D-CD203ED5D9E1}"/>
              </a:ext>
            </a:extLst>
          </p:cNvPr>
          <p:cNvCxnSpPr>
            <a:cxnSpLocks/>
            <a:endCxn id="253" idx="1"/>
          </p:cNvCxnSpPr>
          <p:nvPr/>
        </p:nvCxnSpPr>
        <p:spPr>
          <a:xfrm>
            <a:off x="5340235" y="4607842"/>
            <a:ext cx="1084062" cy="558660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Grafik 258" descr="DB Call a Bike – Apps bei Google Play">
            <a:extLst>
              <a:ext uri="{FF2B5EF4-FFF2-40B4-BE49-F238E27FC236}">
                <a16:creationId xmlns:a16="http://schemas.microsoft.com/office/drawing/2014/main" id="{3164EC56-5198-0D5A-331D-6E59B1A566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70400" y="1803400"/>
            <a:ext cx="0" cy="0"/>
          </a:xfrm>
          <a:prstGeom prst="rect">
            <a:avLst/>
          </a:prstGeom>
        </p:spPr>
      </p:pic>
      <p:grpSp>
        <p:nvGrpSpPr>
          <p:cNvPr id="263" name="Gruppieren 262">
            <a:extLst>
              <a:ext uri="{FF2B5EF4-FFF2-40B4-BE49-F238E27FC236}">
                <a16:creationId xmlns:a16="http://schemas.microsoft.com/office/drawing/2014/main" id="{D83D19EB-00E6-23B8-C72A-8A19B8876017}"/>
              </a:ext>
            </a:extLst>
          </p:cNvPr>
          <p:cNvGrpSpPr/>
          <p:nvPr/>
        </p:nvGrpSpPr>
        <p:grpSpPr>
          <a:xfrm>
            <a:off x="5590514" y="5305593"/>
            <a:ext cx="292492" cy="312304"/>
            <a:chOff x="5610831" y="5323554"/>
            <a:chExt cx="255608" cy="272922"/>
          </a:xfrm>
        </p:grpSpPr>
        <p:pic>
          <p:nvPicPr>
            <p:cNvPr id="258" name="Grafik 257" descr="Bewertungen zu Flinkster - DB Carsharing der Bahn | Lesen Sie  Kundenbewertungen zu flinkster.de">
              <a:extLst>
                <a:ext uri="{FF2B5EF4-FFF2-40B4-BE49-F238E27FC236}">
                  <a16:creationId xmlns:a16="http://schemas.microsoft.com/office/drawing/2014/main" id="{489B6731-CF2A-5415-F74D-BE1712FA4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6353" t="53113" r="5453" b="6715"/>
            <a:stretch>
              <a:fillRect/>
            </a:stretch>
          </p:blipFill>
          <p:spPr>
            <a:xfrm>
              <a:off x="5610839" y="5480050"/>
              <a:ext cx="255600" cy="116426"/>
            </a:xfrm>
            <a:prstGeom prst="rect">
              <a:avLst/>
            </a:prstGeom>
          </p:spPr>
        </p:pic>
        <p:pic>
          <p:nvPicPr>
            <p:cNvPr id="262" name="Grafik 261" descr="DB Call a Bike – Apps bei Google Play">
              <a:extLst>
                <a:ext uri="{FF2B5EF4-FFF2-40B4-BE49-F238E27FC236}">
                  <a16:creationId xmlns:a16="http://schemas.microsoft.com/office/drawing/2014/main" id="{1876AAD6-642C-6E9E-A66A-3417DC14C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7702" t="42553" r="12295" b="6173"/>
            <a:stretch>
              <a:fillRect/>
            </a:stretch>
          </p:blipFill>
          <p:spPr>
            <a:xfrm>
              <a:off x="5610831" y="5323554"/>
              <a:ext cx="255600" cy="163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092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74BE-F82C-2338-343F-BCDBCFAD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uppieren 225">
            <a:extLst>
              <a:ext uri="{FF2B5EF4-FFF2-40B4-BE49-F238E27FC236}">
                <a16:creationId xmlns:a16="http://schemas.microsoft.com/office/drawing/2014/main" id="{B16728C4-F706-8858-EA3F-A435EA8CC9FA}"/>
              </a:ext>
            </a:extLst>
          </p:cNvPr>
          <p:cNvGrpSpPr/>
          <p:nvPr/>
        </p:nvGrpSpPr>
        <p:grpSpPr>
          <a:xfrm>
            <a:off x="10244555" y="5187142"/>
            <a:ext cx="1396585" cy="550415"/>
            <a:chOff x="5048313" y="5187142"/>
            <a:chExt cx="1428942" cy="550415"/>
          </a:xfrm>
        </p:grpSpPr>
        <p:sp>
          <p:nvSpPr>
            <p:cNvPr id="63" name="Abgerundetes Rechteck 62">
              <a:extLst>
                <a:ext uri="{FF2B5EF4-FFF2-40B4-BE49-F238E27FC236}">
                  <a16:creationId xmlns:a16="http://schemas.microsoft.com/office/drawing/2014/main" id="{AE8F3394-4234-CB92-CCC3-1A43E192092B}"/>
                </a:ext>
              </a:extLst>
            </p:cNvPr>
            <p:cNvSpPr/>
            <p:nvPr/>
          </p:nvSpPr>
          <p:spPr>
            <a:xfrm>
              <a:off x="5048313" y="5187142"/>
              <a:ext cx="1171997" cy="550415"/>
            </a:xfrm>
            <a:prstGeom prst="roundRect">
              <a:avLst>
                <a:gd name="adj" fmla="val 22271"/>
              </a:avLst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65" name="TextBox 163">
              <a:extLst>
                <a:ext uri="{FF2B5EF4-FFF2-40B4-BE49-F238E27FC236}">
                  <a16:creationId xmlns:a16="http://schemas.microsoft.com/office/drawing/2014/main" id="{1F26A93C-C550-7B91-8400-58CE7BE17ED6}"/>
                </a:ext>
              </a:extLst>
            </p:cNvPr>
            <p:cNvSpPr txBox="1"/>
            <p:nvPr/>
          </p:nvSpPr>
          <p:spPr>
            <a:xfrm>
              <a:off x="5539800" y="5330311"/>
              <a:ext cx="937455" cy="2526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de-DE" sz="900" b="0">
                  <a:solidFill>
                    <a:srgbClr val="3E4148"/>
                  </a:solidFill>
                  <a:latin typeface="Albert Sans Medium" pitchFamily="2" charset="77"/>
                </a:rPr>
                <a:t>Passenger </a:t>
              </a:r>
            </a:p>
            <a:p>
              <a:r>
                <a:rPr sz="900" b="0">
                  <a:solidFill>
                    <a:srgbClr val="3E4148"/>
                  </a:solidFill>
                  <a:latin typeface="Albert Sans Medium" pitchFamily="2" charset="77"/>
                </a:rPr>
                <a:t>Rights RAG</a:t>
              </a:r>
            </a:p>
          </p:txBody>
        </p:sp>
        <p:pic>
          <p:nvPicPr>
            <p:cNvPr id="85" name="Grafik 84" descr="Database icon - Free Download PNG &amp; SVG | Streamline">
              <a:extLst>
                <a:ext uri="{FF2B5EF4-FFF2-40B4-BE49-F238E27FC236}">
                  <a16:creationId xmlns:a16="http://schemas.microsoft.com/office/drawing/2014/main" id="{D8C72141-CCEF-87D5-0A58-AFC870A96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92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52615" y="5303602"/>
              <a:ext cx="324448" cy="317493"/>
            </a:xfrm>
            <a:prstGeom prst="rect">
              <a:avLst/>
            </a:prstGeom>
          </p:spPr>
        </p:pic>
        <p:pic>
          <p:nvPicPr>
            <p:cNvPr id="86" name="Picture 152" descr="db.png">
              <a:extLst>
                <a:ext uri="{FF2B5EF4-FFF2-40B4-BE49-F238E27FC236}">
                  <a16:creationId xmlns:a16="http://schemas.microsoft.com/office/drawing/2014/main" id="{FBD4CA22-B7EA-F62B-ADAC-6C7E00A50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646485">
              <a:off x="5137468" y="5298606"/>
              <a:ext cx="176900" cy="121175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25A2206-EC6D-9FDB-8F99-8E21846E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Our Architecture employs a Multi-Agent-Setup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54832E-62F1-235A-DDE1-62544316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63423190-2A00-1879-430C-1EE205699FAA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CF156AF-FE25-E9F4-B3AC-B25B109B8004}"/>
              </a:ext>
            </a:extLst>
          </p:cNvPr>
          <p:cNvGrpSpPr/>
          <p:nvPr/>
        </p:nvGrpSpPr>
        <p:grpSpPr>
          <a:xfrm>
            <a:off x="8681092" y="3697848"/>
            <a:ext cx="2530420" cy="2196666"/>
            <a:chOff x="9341357" y="3772531"/>
            <a:chExt cx="2777910" cy="2408541"/>
          </a:xfrm>
        </p:grpSpPr>
        <p:grpSp>
          <p:nvGrpSpPr>
            <p:cNvPr id="197" name="Gruppieren 196">
              <a:extLst>
                <a:ext uri="{FF2B5EF4-FFF2-40B4-BE49-F238E27FC236}">
                  <a16:creationId xmlns:a16="http://schemas.microsoft.com/office/drawing/2014/main" id="{A1EBE91F-97BF-A980-7F24-0C92C89FDEDE}"/>
                </a:ext>
              </a:extLst>
            </p:cNvPr>
            <p:cNvGrpSpPr/>
            <p:nvPr/>
          </p:nvGrpSpPr>
          <p:grpSpPr>
            <a:xfrm>
              <a:off x="9341357" y="3772531"/>
              <a:ext cx="2777910" cy="2408541"/>
              <a:chOff x="9341357" y="3772531"/>
              <a:chExt cx="2777910" cy="2408541"/>
            </a:xfrm>
          </p:grpSpPr>
          <p:cxnSp>
            <p:nvCxnSpPr>
              <p:cNvPr id="199" name="Connector 26">
                <a:extLst>
                  <a:ext uri="{FF2B5EF4-FFF2-40B4-BE49-F238E27FC236}">
                    <a16:creationId xmlns:a16="http://schemas.microsoft.com/office/drawing/2014/main" id="{A1CE8861-735A-F243-DB79-5DB54B26905D}"/>
                  </a:ext>
                </a:extLst>
              </p:cNvPr>
              <p:cNvCxnSpPr/>
              <p:nvPr/>
            </p:nvCxnSpPr>
            <p:spPr>
              <a:xfrm flipH="1">
                <a:off x="9844278" y="4709791"/>
                <a:ext cx="749808" cy="658368"/>
              </a:xfrm>
              <a:prstGeom prst="line">
                <a:avLst/>
              </a:prstGeom>
              <a:ln w="15240">
                <a:solidFill>
                  <a:srgbClr val="A9ADB5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nector 27">
                <a:extLst>
                  <a:ext uri="{FF2B5EF4-FFF2-40B4-BE49-F238E27FC236}">
                    <a16:creationId xmlns:a16="http://schemas.microsoft.com/office/drawing/2014/main" id="{CA8D87B5-04B1-86C4-C5C2-564E638A3C97}"/>
                  </a:ext>
                </a:extLst>
              </p:cNvPr>
              <p:cNvCxnSpPr/>
              <p:nvPr/>
            </p:nvCxnSpPr>
            <p:spPr>
              <a:xfrm>
                <a:off x="10594086" y="4709791"/>
                <a:ext cx="0" cy="658368"/>
              </a:xfrm>
              <a:prstGeom prst="line">
                <a:avLst/>
              </a:prstGeom>
              <a:ln w="15240">
                <a:solidFill>
                  <a:srgbClr val="A9ADB5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Connector 28">
                <a:extLst>
                  <a:ext uri="{FF2B5EF4-FFF2-40B4-BE49-F238E27FC236}">
                    <a16:creationId xmlns:a16="http://schemas.microsoft.com/office/drawing/2014/main" id="{792509ED-126B-847E-4BE2-4E38B1D8C4C9}"/>
                  </a:ext>
                </a:extLst>
              </p:cNvPr>
              <p:cNvCxnSpPr/>
              <p:nvPr/>
            </p:nvCxnSpPr>
            <p:spPr>
              <a:xfrm>
                <a:off x="10594086" y="4709791"/>
                <a:ext cx="749808" cy="658368"/>
              </a:xfrm>
              <a:prstGeom prst="line">
                <a:avLst/>
              </a:prstGeom>
              <a:ln w="15240">
                <a:solidFill>
                  <a:srgbClr val="A9ADB5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Rounded Rectangle 120">
                <a:extLst>
                  <a:ext uri="{FF2B5EF4-FFF2-40B4-BE49-F238E27FC236}">
                    <a16:creationId xmlns:a16="http://schemas.microsoft.com/office/drawing/2014/main" id="{84C8286D-79A2-9FD1-E637-A52ECD2948F3}"/>
                  </a:ext>
                </a:extLst>
              </p:cNvPr>
              <p:cNvSpPr/>
              <p:nvPr/>
            </p:nvSpPr>
            <p:spPr>
              <a:xfrm>
                <a:off x="9835134" y="3804535"/>
                <a:ext cx="1517904" cy="86868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5875">
                <a:solidFill>
                  <a:srgbClr val="E0E2E7"/>
                </a:solidFill>
              </a:ln>
              <a:effectLst>
                <a:outerShdw blurRad="50000" dist="18000" dir="5400000" rotWithShape="0">
                  <a:srgbClr val="16181D">
                    <a:alpha val="9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773DBE2A-7394-0897-3644-1FCE69AB9823}"/>
                  </a:ext>
                </a:extLst>
              </p:cNvPr>
              <p:cNvSpPr/>
              <p:nvPr/>
            </p:nvSpPr>
            <p:spPr>
              <a:xfrm>
                <a:off x="10562082" y="3772531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cxnSp>
            <p:nvCxnSpPr>
              <p:cNvPr id="204" name="Connector 122">
                <a:extLst>
                  <a:ext uri="{FF2B5EF4-FFF2-40B4-BE49-F238E27FC236}">
                    <a16:creationId xmlns:a16="http://schemas.microsoft.com/office/drawing/2014/main" id="{2B39624B-EEB6-DFDF-6FEB-A1B25CB1F044}"/>
                  </a:ext>
                </a:extLst>
              </p:cNvPr>
              <p:cNvCxnSpPr/>
              <p:nvPr/>
            </p:nvCxnSpPr>
            <p:spPr>
              <a:xfrm>
                <a:off x="10127559" y="4038255"/>
                <a:ext cx="0" cy="68031"/>
              </a:xfrm>
              <a:prstGeom prst="line">
                <a:avLst/>
              </a:prstGeom>
              <a:ln w="13779">
                <a:solidFill>
                  <a:srgbClr val="3E414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D2641ECE-AF34-BD4A-AED9-4C67F183DBCA}"/>
                  </a:ext>
                </a:extLst>
              </p:cNvPr>
              <p:cNvSpPr/>
              <p:nvPr/>
            </p:nvSpPr>
            <p:spPr>
              <a:xfrm>
                <a:off x="10103464" y="3994318"/>
                <a:ext cx="48188" cy="48188"/>
              </a:xfrm>
              <a:prstGeom prst="ellipse">
                <a:avLst/>
              </a:prstGeom>
              <a:solidFill>
                <a:srgbClr val="3E414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6" name="Rounded Rectangle 124">
                <a:extLst>
                  <a:ext uri="{FF2B5EF4-FFF2-40B4-BE49-F238E27FC236}">
                    <a16:creationId xmlns:a16="http://schemas.microsoft.com/office/drawing/2014/main" id="{45BBBEDF-F678-B4CC-9522-14B9D4338097}"/>
                  </a:ext>
                </a:extLst>
              </p:cNvPr>
              <p:cNvSpPr/>
              <p:nvPr/>
            </p:nvSpPr>
            <p:spPr>
              <a:xfrm>
                <a:off x="9963150" y="4106286"/>
                <a:ext cx="328818" cy="249448"/>
              </a:xfrm>
              <a:prstGeom prst="roundRect">
                <a:avLst>
                  <a:gd name="adj" fmla="val 28000"/>
                </a:avLst>
              </a:prstGeom>
              <a:solidFill>
                <a:srgbClr val="3E414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28C56E7D-6D9D-F13B-7454-2A43600FF8B9}"/>
                  </a:ext>
                </a:extLst>
              </p:cNvPr>
              <p:cNvSpPr/>
              <p:nvPr/>
            </p:nvSpPr>
            <p:spPr>
              <a:xfrm>
                <a:off x="10036850" y="4174318"/>
                <a:ext cx="59527" cy="595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EAEE606C-8123-A7CE-E4A3-8865034E9156}"/>
                  </a:ext>
                </a:extLst>
              </p:cNvPr>
              <p:cNvSpPr/>
              <p:nvPr/>
            </p:nvSpPr>
            <p:spPr>
              <a:xfrm>
                <a:off x="10158740" y="4174318"/>
                <a:ext cx="59527" cy="595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09" name="Rounded Rectangle 127">
                <a:extLst>
                  <a:ext uri="{FF2B5EF4-FFF2-40B4-BE49-F238E27FC236}">
                    <a16:creationId xmlns:a16="http://schemas.microsoft.com/office/drawing/2014/main" id="{E32C118E-6AB1-E01B-F88E-8295C68A59D5}"/>
                  </a:ext>
                </a:extLst>
              </p:cNvPr>
              <p:cNvSpPr/>
              <p:nvPr/>
            </p:nvSpPr>
            <p:spPr>
              <a:xfrm>
                <a:off x="10073700" y="4276365"/>
                <a:ext cx="107716" cy="31181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0" name="TextBox 128">
                <a:extLst>
                  <a:ext uri="{FF2B5EF4-FFF2-40B4-BE49-F238E27FC236}">
                    <a16:creationId xmlns:a16="http://schemas.microsoft.com/office/drawing/2014/main" id="{2F31B849-FF7F-0A6C-0DCF-F3FF471A62E0}"/>
                  </a:ext>
                </a:extLst>
              </p:cNvPr>
              <p:cNvSpPr txBox="1"/>
              <p:nvPr/>
            </p:nvSpPr>
            <p:spPr>
              <a:xfrm>
                <a:off x="10383774" y="4069018"/>
                <a:ext cx="941832" cy="3712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100" b="1">
                    <a:solidFill>
                      <a:srgbClr val="3E4148"/>
                    </a:solidFill>
                    <a:latin typeface="Albert Sans Black" pitchFamily="2" charset="77"/>
                  </a:rPr>
                  <a:t>Executor</a:t>
                </a:r>
              </a:p>
              <a:p>
                <a:pPr algn="l"/>
                <a:r>
                  <a:rPr sz="1100" b="1">
                    <a:solidFill>
                      <a:srgbClr val="3E4148"/>
                    </a:solidFill>
                    <a:latin typeface="Albert Sans Black" pitchFamily="2" charset="77"/>
                  </a:rPr>
                  <a:t>Agent</a:t>
                </a:r>
              </a:p>
            </p:txBody>
          </p:sp>
          <p:sp>
            <p:nvSpPr>
              <p:cNvPr id="211" name="Diamond 130">
                <a:extLst>
                  <a:ext uri="{FF2B5EF4-FFF2-40B4-BE49-F238E27FC236}">
                    <a16:creationId xmlns:a16="http://schemas.microsoft.com/office/drawing/2014/main" id="{1C895459-5962-B0E9-D4D5-D02F5209035B}"/>
                  </a:ext>
                </a:extLst>
              </p:cNvPr>
              <p:cNvSpPr/>
              <p:nvPr/>
            </p:nvSpPr>
            <p:spPr>
              <a:xfrm>
                <a:off x="10534650" y="4613778"/>
                <a:ext cx="118872" cy="118872"/>
              </a:xfrm>
              <a:prstGeom prst="diamond">
                <a:avLst/>
              </a:prstGeom>
              <a:solidFill>
                <a:srgbClr val="7B79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4767878-1CE4-E07F-6F41-1F9B6E0181C0}"/>
                  </a:ext>
                </a:extLst>
              </p:cNvPr>
              <p:cNvSpPr/>
              <p:nvPr/>
            </p:nvSpPr>
            <p:spPr>
              <a:xfrm>
                <a:off x="9542526" y="5386447"/>
                <a:ext cx="603504" cy="603504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B6AEBCC4-E73D-42B6-9BFA-D901B45AED6F}"/>
                  </a:ext>
                </a:extLst>
              </p:cNvPr>
              <p:cNvSpPr/>
              <p:nvPr/>
            </p:nvSpPr>
            <p:spPr>
              <a:xfrm>
                <a:off x="9812274" y="5354443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5" name="TextBox 186">
                <a:extLst>
                  <a:ext uri="{FF2B5EF4-FFF2-40B4-BE49-F238E27FC236}">
                    <a16:creationId xmlns:a16="http://schemas.microsoft.com/office/drawing/2014/main" id="{1E40E14B-B205-F3F6-9E9C-CC27ED2240A6}"/>
                  </a:ext>
                </a:extLst>
              </p:cNvPr>
              <p:cNvSpPr txBox="1"/>
              <p:nvPr/>
            </p:nvSpPr>
            <p:spPr>
              <a:xfrm>
                <a:off x="9341357" y="6044815"/>
                <a:ext cx="1005841" cy="13498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 b="0">
                    <a:solidFill>
                      <a:srgbClr val="3E4148"/>
                    </a:solidFill>
                    <a:latin typeface="Albert Sans Medium" pitchFamily="2" charset="77"/>
                  </a:rPr>
                  <a:t>Booking</a:t>
                </a:r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F043DF76-AD6A-E57C-AB9C-E8570AE38E06}"/>
                  </a:ext>
                </a:extLst>
              </p:cNvPr>
              <p:cNvSpPr/>
              <p:nvPr/>
            </p:nvSpPr>
            <p:spPr>
              <a:xfrm>
                <a:off x="10292334" y="5386447"/>
                <a:ext cx="603504" cy="603504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2F6A2C27-E869-5106-CD80-674FB968A3D5}"/>
                  </a:ext>
                </a:extLst>
              </p:cNvPr>
              <p:cNvSpPr/>
              <p:nvPr/>
            </p:nvSpPr>
            <p:spPr>
              <a:xfrm>
                <a:off x="10562082" y="5354443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sp>
            <p:nvSpPr>
              <p:cNvPr id="219" name="TextBox 191">
                <a:extLst>
                  <a:ext uri="{FF2B5EF4-FFF2-40B4-BE49-F238E27FC236}">
                    <a16:creationId xmlns:a16="http://schemas.microsoft.com/office/drawing/2014/main" id="{3AEEBF31-0F46-8C91-0E77-C9D6117EDC6E}"/>
                  </a:ext>
                </a:extLst>
              </p:cNvPr>
              <p:cNvSpPr txBox="1"/>
              <p:nvPr/>
            </p:nvSpPr>
            <p:spPr>
              <a:xfrm>
                <a:off x="10091166" y="6044815"/>
                <a:ext cx="100584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 b="0" dirty="0">
                    <a:solidFill>
                      <a:srgbClr val="3E4148"/>
                    </a:solidFill>
                    <a:latin typeface="Albert Sans Medium" pitchFamily="2" charset="77"/>
                  </a:rPr>
                  <a:t>Reschedule</a:t>
                </a:r>
              </a:p>
            </p:txBody>
          </p:sp>
          <p:sp>
            <p:nvSpPr>
              <p:cNvPr id="224" name="TextBox 196">
                <a:extLst>
                  <a:ext uri="{FF2B5EF4-FFF2-40B4-BE49-F238E27FC236}">
                    <a16:creationId xmlns:a16="http://schemas.microsoft.com/office/drawing/2014/main" id="{09A7C5CE-7305-C68E-068C-11BDC5E58F3D}"/>
                  </a:ext>
                </a:extLst>
              </p:cNvPr>
              <p:cNvSpPr txBox="1"/>
              <p:nvPr/>
            </p:nvSpPr>
            <p:spPr>
              <a:xfrm>
                <a:off x="11113426" y="6057961"/>
                <a:ext cx="100584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 b="0">
                    <a:solidFill>
                      <a:srgbClr val="3E4148"/>
                    </a:solidFill>
                    <a:latin typeface="Albert Sans Medium" pitchFamily="2" charset="77"/>
                  </a:rPr>
                  <a:t>Compensation</a:t>
                </a:r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DE871DBB-09B7-E292-9EA8-DD4F538C9A0D}"/>
                  </a:ext>
                </a:extLst>
              </p:cNvPr>
              <p:cNvSpPr/>
              <p:nvPr/>
            </p:nvSpPr>
            <p:spPr>
              <a:xfrm>
                <a:off x="11311890" y="5354443"/>
                <a:ext cx="64008" cy="64008"/>
              </a:xfrm>
              <a:prstGeom prst="ellipse">
                <a:avLst/>
              </a:prstGeom>
              <a:solidFill>
                <a:srgbClr val="8F939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</p:grpSp>
        <p:pic>
          <p:nvPicPr>
            <p:cNvPr id="198" name="Grafik 197" descr="Outlook Calendar color icon in PNG, SVG">
              <a:extLst>
                <a:ext uri="{FF2B5EF4-FFF2-40B4-BE49-F238E27FC236}">
                  <a16:creationId xmlns:a16="http://schemas.microsoft.com/office/drawing/2014/main" id="{539338EB-BF77-8722-0FCD-87C2213CD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/>
          </p:blipFill>
          <p:spPr>
            <a:xfrm>
              <a:off x="10449369" y="5535347"/>
              <a:ext cx="320120" cy="320120"/>
            </a:xfrm>
            <a:prstGeom prst="rect">
              <a:avLst/>
            </a:prstGeom>
          </p:spPr>
        </p:pic>
      </p:grp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8A039B3E-61E8-1BB5-2F16-8DB5452A1178}"/>
              </a:ext>
            </a:extLst>
          </p:cNvPr>
          <p:cNvCxnSpPr>
            <a:cxnSpLocks/>
            <a:stCxn id="195" idx="7"/>
            <a:endCxn id="183" idx="1"/>
          </p:cNvCxnSpPr>
          <p:nvPr/>
        </p:nvCxnSpPr>
        <p:spPr>
          <a:xfrm>
            <a:off x="1876744" y="2548633"/>
            <a:ext cx="1043816" cy="6112"/>
          </a:xfrm>
          <a:prstGeom prst="line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404A77DC-4FB1-C7D2-24F6-89E5AB7E1579}"/>
              </a:ext>
            </a:extLst>
          </p:cNvPr>
          <p:cNvCxnSpPr>
            <a:cxnSpLocks/>
            <a:stCxn id="166" idx="6"/>
          </p:cNvCxnSpPr>
          <p:nvPr/>
        </p:nvCxnSpPr>
        <p:spPr>
          <a:xfrm>
            <a:off x="2458501" y="4150556"/>
            <a:ext cx="522679" cy="0"/>
          </a:xfrm>
          <a:prstGeom prst="line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98F1946B-473D-601D-85EE-718101CC75AA}"/>
              </a:ext>
            </a:extLst>
          </p:cNvPr>
          <p:cNvCxnSpPr>
            <a:cxnSpLocks/>
            <a:stCxn id="24" idx="6"/>
            <a:endCxn id="183" idx="1"/>
          </p:cNvCxnSpPr>
          <p:nvPr/>
        </p:nvCxnSpPr>
        <p:spPr>
          <a:xfrm flipH="1" flipV="1">
            <a:off x="2920561" y="2554745"/>
            <a:ext cx="1043250" cy="1771551"/>
          </a:xfrm>
          <a:prstGeom prst="curvedConnector5">
            <a:avLst>
              <a:gd name="adj1" fmla="val -19960"/>
              <a:gd name="adj2" fmla="val 49176"/>
              <a:gd name="adj3" fmla="val 119960"/>
            </a:avLst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BB871DC8-2E3D-925E-B14B-CB090A932B9D}"/>
              </a:ext>
            </a:extLst>
          </p:cNvPr>
          <p:cNvCxnSpPr>
            <a:cxnSpLocks/>
            <a:stCxn id="185" idx="0"/>
          </p:cNvCxnSpPr>
          <p:nvPr/>
        </p:nvCxnSpPr>
        <p:spPr>
          <a:xfrm flipH="1" flipV="1">
            <a:off x="3890929" y="1641556"/>
            <a:ext cx="66635" cy="233509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3">
            <a:extLst>
              <a:ext uri="{FF2B5EF4-FFF2-40B4-BE49-F238E27FC236}">
                <a16:creationId xmlns:a16="http://schemas.microsoft.com/office/drawing/2014/main" id="{632ACAB8-85C7-312D-11F7-D20813565E9C}"/>
              </a:ext>
            </a:extLst>
          </p:cNvPr>
          <p:cNvCxnSpPr>
            <a:cxnSpLocks/>
          </p:cNvCxnSpPr>
          <p:nvPr/>
        </p:nvCxnSpPr>
        <p:spPr>
          <a:xfrm flipH="1">
            <a:off x="4683022" y="1591519"/>
            <a:ext cx="83932" cy="266868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4">
            <a:extLst>
              <a:ext uri="{FF2B5EF4-FFF2-40B4-BE49-F238E27FC236}">
                <a16:creationId xmlns:a16="http://schemas.microsoft.com/office/drawing/2014/main" id="{EBD24EC5-DC7C-8B10-D3AB-BB66A281E106}"/>
              </a:ext>
            </a:extLst>
          </p:cNvPr>
          <p:cNvCxnSpPr>
            <a:cxnSpLocks/>
            <a:stCxn id="157" idx="2"/>
            <a:endCxn id="186" idx="2"/>
          </p:cNvCxnSpPr>
          <p:nvPr/>
        </p:nvCxnSpPr>
        <p:spPr>
          <a:xfrm flipV="1">
            <a:off x="1704477" y="3246933"/>
            <a:ext cx="3502488" cy="487869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5">
            <a:extLst>
              <a:ext uri="{FF2B5EF4-FFF2-40B4-BE49-F238E27FC236}">
                <a16:creationId xmlns:a16="http://schemas.microsoft.com/office/drawing/2014/main" id="{CE3D113A-BA8E-51CF-E850-27D9C4C55333}"/>
              </a:ext>
            </a:extLst>
          </p:cNvPr>
          <p:cNvCxnSpPr>
            <a:cxnSpLocks/>
            <a:stCxn id="186" idx="2"/>
            <a:endCxn id="46" idx="1"/>
          </p:cNvCxnSpPr>
          <p:nvPr/>
        </p:nvCxnSpPr>
        <p:spPr>
          <a:xfrm>
            <a:off x="5206965" y="3246933"/>
            <a:ext cx="126734" cy="476815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6">
            <a:extLst>
              <a:ext uri="{FF2B5EF4-FFF2-40B4-BE49-F238E27FC236}">
                <a16:creationId xmlns:a16="http://schemas.microsoft.com/office/drawing/2014/main" id="{92C23196-8CAD-3D35-A65D-E592450D255D}"/>
              </a:ext>
            </a:extLst>
          </p:cNvPr>
          <p:cNvCxnSpPr>
            <a:cxnSpLocks/>
            <a:stCxn id="186" idx="2"/>
            <a:endCxn id="114" idx="0"/>
          </p:cNvCxnSpPr>
          <p:nvPr/>
        </p:nvCxnSpPr>
        <p:spPr>
          <a:xfrm>
            <a:off x="5206965" y="3246933"/>
            <a:ext cx="2567712" cy="494375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8EC6892-5EC2-796D-B684-C7034D6C594E}"/>
              </a:ext>
            </a:extLst>
          </p:cNvPr>
          <p:cNvGrpSpPr/>
          <p:nvPr/>
        </p:nvGrpSpPr>
        <p:grpSpPr>
          <a:xfrm>
            <a:off x="689285" y="2108151"/>
            <a:ext cx="1375651" cy="1321115"/>
            <a:chOff x="252545" y="1188720"/>
            <a:chExt cx="1510198" cy="1448540"/>
          </a:xfrm>
        </p:grpSpPr>
        <p:pic>
          <p:nvPicPr>
            <p:cNvPr id="190" name="Picture 29" descr="trigger_node.png">
              <a:extLst>
                <a:ext uri="{FF2B5EF4-FFF2-40B4-BE49-F238E27FC236}">
                  <a16:creationId xmlns:a16="http://schemas.microsoft.com/office/drawing/2014/main" id="{DD5C6FFC-0D95-9CAD-F66A-15F784F2C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920" y="1188720"/>
              <a:ext cx="1024128" cy="1024128"/>
            </a:xfrm>
            <a:prstGeom prst="rect">
              <a:avLst/>
            </a:prstGeom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</p:pic>
        <p:sp>
          <p:nvSpPr>
            <p:cNvPr id="191" name="Rounded Rectangle 30">
              <a:extLst>
                <a:ext uri="{FF2B5EF4-FFF2-40B4-BE49-F238E27FC236}">
                  <a16:creationId xmlns:a16="http://schemas.microsoft.com/office/drawing/2014/main" id="{9294F6F1-6BDB-0A1C-35E6-6862163D6134}"/>
                </a:ext>
              </a:extLst>
            </p:cNvPr>
            <p:cNvSpPr/>
            <p:nvPr/>
          </p:nvSpPr>
          <p:spPr>
            <a:xfrm>
              <a:off x="758951" y="1499616"/>
              <a:ext cx="475488" cy="338328"/>
            </a:xfrm>
            <a:prstGeom prst="roundRect">
              <a:avLst>
                <a:gd name="adj" fmla="val 42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2" name="Isosceles Triangle 31">
              <a:extLst>
                <a:ext uri="{FF2B5EF4-FFF2-40B4-BE49-F238E27FC236}">
                  <a16:creationId xmlns:a16="http://schemas.microsoft.com/office/drawing/2014/main" id="{1683E75D-DAD4-EA7D-979B-63C1043654BC}"/>
                </a:ext>
              </a:extLst>
            </p:cNvPr>
            <p:cNvSpPr/>
            <p:nvPr/>
          </p:nvSpPr>
          <p:spPr>
            <a:xfrm rot="11700000">
              <a:off x="804671" y="1792224"/>
              <a:ext cx="146304" cy="128016"/>
            </a:xfrm>
            <a:prstGeom prst="triangl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3" name="Rounded Rectangle 32">
              <a:extLst>
                <a:ext uri="{FF2B5EF4-FFF2-40B4-BE49-F238E27FC236}">
                  <a16:creationId xmlns:a16="http://schemas.microsoft.com/office/drawing/2014/main" id="{DA435562-E54D-7426-9B5E-CEEAE0A5F568}"/>
                </a:ext>
              </a:extLst>
            </p:cNvPr>
            <p:cNvSpPr/>
            <p:nvPr/>
          </p:nvSpPr>
          <p:spPr>
            <a:xfrm>
              <a:off x="1097280" y="1705356"/>
              <a:ext cx="274320" cy="210312"/>
            </a:xfrm>
            <a:prstGeom prst="roundRect">
              <a:avLst>
                <a:gd name="adj" fmla="val 45000"/>
              </a:avLst>
            </a:prstGeom>
            <a:solidFill>
              <a:srgbClr val="3E4148"/>
            </a:solidFill>
            <a:ln w="1778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5D8D97A-0B08-7B4A-0221-D1CA5BFCAE8E}"/>
                </a:ext>
              </a:extLst>
            </p:cNvPr>
            <p:cNvSpPr/>
            <p:nvPr/>
          </p:nvSpPr>
          <p:spPr>
            <a:xfrm>
              <a:off x="1485900" y="1659636"/>
              <a:ext cx="82296" cy="82296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96" name="TextBox 35">
              <a:extLst>
                <a:ext uri="{FF2B5EF4-FFF2-40B4-BE49-F238E27FC236}">
                  <a16:creationId xmlns:a16="http://schemas.microsoft.com/office/drawing/2014/main" id="{F441283D-D377-97F1-2D33-EA77B9ADDC09}"/>
                </a:ext>
              </a:extLst>
            </p:cNvPr>
            <p:cNvSpPr txBox="1"/>
            <p:nvPr/>
          </p:nvSpPr>
          <p:spPr>
            <a:xfrm>
              <a:off x="252545" y="2266052"/>
              <a:ext cx="1510198" cy="3712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de-DE" sz="1100" b="0">
                  <a:solidFill>
                    <a:srgbClr val="3E4148"/>
                  </a:solidFill>
                </a:rPr>
                <a:t>On </a:t>
              </a:r>
              <a:r>
                <a:rPr lang="de-DE" sz="1100" b="0" err="1">
                  <a:solidFill>
                    <a:srgbClr val="3E4148"/>
                  </a:solidFill>
                </a:rPr>
                <a:t>start</a:t>
              </a:r>
              <a:r>
                <a:rPr lang="de-DE" sz="1100" b="0">
                  <a:solidFill>
                    <a:srgbClr val="3E4148"/>
                  </a:solidFill>
                </a:rPr>
                <a:t> of the </a:t>
              </a:r>
              <a:r>
                <a:rPr lang="de-DE" sz="1100" b="0" err="1">
                  <a:solidFill>
                    <a:srgbClr val="3E4148"/>
                  </a:solidFill>
                </a:rPr>
                <a:t>autopilot</a:t>
              </a:r>
              <a:endParaRPr sz="1100" b="0">
                <a:solidFill>
                  <a:srgbClr val="3E4148"/>
                </a:solidFill>
              </a:endParaRPr>
            </a:p>
          </p:txBody>
        </p:sp>
      </p:grpSp>
      <p:sp>
        <p:nvSpPr>
          <p:cNvPr id="174" name="Rounded Rectangle 37">
            <a:extLst>
              <a:ext uri="{FF2B5EF4-FFF2-40B4-BE49-F238E27FC236}">
                <a16:creationId xmlns:a16="http://schemas.microsoft.com/office/drawing/2014/main" id="{599602E6-C809-9C5B-CF6A-4DB72474A2AC}"/>
              </a:ext>
            </a:extLst>
          </p:cNvPr>
          <p:cNvSpPr/>
          <p:nvPr/>
        </p:nvSpPr>
        <p:spPr>
          <a:xfrm>
            <a:off x="2958043" y="1929273"/>
            <a:ext cx="2498802" cy="125094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0E2E7"/>
            </a:solidFill>
          </a:ln>
          <a:effectLst>
            <a:outerShdw blurRad="50000" dist="18000" dir="5400000" rotWithShape="0">
              <a:srgbClr val="16181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175" name="Connector 38">
            <a:extLst>
              <a:ext uri="{FF2B5EF4-FFF2-40B4-BE49-F238E27FC236}">
                <a16:creationId xmlns:a16="http://schemas.microsoft.com/office/drawing/2014/main" id="{BC099129-C91D-69E0-C7DB-73F37523151C}"/>
              </a:ext>
            </a:extLst>
          </p:cNvPr>
          <p:cNvCxnSpPr/>
          <p:nvPr/>
        </p:nvCxnSpPr>
        <p:spPr>
          <a:xfrm>
            <a:off x="3449474" y="2318041"/>
            <a:ext cx="0" cy="100075"/>
          </a:xfrm>
          <a:prstGeom prst="line">
            <a:avLst/>
          </a:prstGeom>
          <a:ln w="22225">
            <a:solidFill>
              <a:srgbClr val="3E41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12F15046-A339-84EB-42E0-964013340F50}"/>
              </a:ext>
            </a:extLst>
          </p:cNvPr>
          <p:cNvSpPr/>
          <p:nvPr/>
        </p:nvSpPr>
        <p:spPr>
          <a:xfrm>
            <a:off x="3414074" y="2253409"/>
            <a:ext cx="70799" cy="70887"/>
          </a:xfrm>
          <a:prstGeom prst="ellipse">
            <a:avLst/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77" name="Rounded Rectangle 40">
            <a:extLst>
              <a:ext uri="{FF2B5EF4-FFF2-40B4-BE49-F238E27FC236}">
                <a16:creationId xmlns:a16="http://schemas.microsoft.com/office/drawing/2014/main" id="{17EB4682-CECD-4370-3339-4E47ED008F0C}"/>
              </a:ext>
            </a:extLst>
          </p:cNvPr>
          <p:cNvSpPr/>
          <p:nvPr/>
        </p:nvSpPr>
        <p:spPr>
          <a:xfrm>
            <a:off x="3207923" y="2418117"/>
            <a:ext cx="483102" cy="366943"/>
          </a:xfrm>
          <a:prstGeom prst="roundRect">
            <a:avLst>
              <a:gd name="adj" fmla="val 28000"/>
            </a:avLst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DC33B14B-F59D-884E-BACA-8382A9E102F6}"/>
              </a:ext>
            </a:extLst>
          </p:cNvPr>
          <p:cNvSpPr/>
          <p:nvPr/>
        </p:nvSpPr>
        <p:spPr>
          <a:xfrm>
            <a:off x="3316204" y="2518192"/>
            <a:ext cx="87458" cy="875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F69A5025-36A1-E420-2CE7-8DA2F0EE4E15}"/>
              </a:ext>
            </a:extLst>
          </p:cNvPr>
          <p:cNvSpPr/>
          <p:nvPr/>
        </p:nvSpPr>
        <p:spPr>
          <a:xfrm>
            <a:off x="3495285" y="2518192"/>
            <a:ext cx="87458" cy="875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0" name="Rounded Rectangle 43">
            <a:extLst>
              <a:ext uri="{FF2B5EF4-FFF2-40B4-BE49-F238E27FC236}">
                <a16:creationId xmlns:a16="http://schemas.microsoft.com/office/drawing/2014/main" id="{FF6E3224-BD1D-AC45-610C-19E59FA26C53}"/>
              </a:ext>
            </a:extLst>
          </p:cNvPr>
          <p:cNvSpPr/>
          <p:nvPr/>
        </p:nvSpPr>
        <p:spPr>
          <a:xfrm>
            <a:off x="3370345" y="2668305"/>
            <a:ext cx="158257" cy="458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1" name="TextBox 44">
            <a:extLst>
              <a:ext uri="{FF2B5EF4-FFF2-40B4-BE49-F238E27FC236}">
                <a16:creationId xmlns:a16="http://schemas.microsoft.com/office/drawing/2014/main" id="{E4D4F30F-04B7-ABC6-78F8-1019469C180F}"/>
              </a:ext>
            </a:extLst>
          </p:cNvPr>
          <p:cNvSpPr txBox="1"/>
          <p:nvPr/>
        </p:nvSpPr>
        <p:spPr>
          <a:xfrm>
            <a:off x="3832624" y="2244992"/>
            <a:ext cx="15825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600" b="1" err="1">
                <a:solidFill>
                  <a:srgbClr val="3E4148"/>
                </a:solidFill>
                <a:latin typeface="Albert Sans Black" pitchFamily="2" charset="77"/>
              </a:rPr>
              <a:t>Orchestrator</a:t>
            </a:r>
            <a:endParaRPr lang="de-DE" sz="1600" b="1">
              <a:solidFill>
                <a:srgbClr val="3E4148"/>
              </a:solidFill>
              <a:latin typeface="Albert Sans Black" pitchFamily="2" charset="77"/>
            </a:endParaRPr>
          </a:p>
          <a:p>
            <a:r>
              <a:rPr sz="1600" b="1">
                <a:solidFill>
                  <a:srgbClr val="3E4148"/>
                </a:solidFill>
                <a:latin typeface="Albert Sans Black" pitchFamily="2" charset="77"/>
              </a:rPr>
              <a:t>Agent</a:t>
            </a:r>
          </a:p>
        </p:txBody>
      </p:sp>
      <p:sp>
        <p:nvSpPr>
          <p:cNvPr id="182" name="TextBox 45">
            <a:extLst>
              <a:ext uri="{FF2B5EF4-FFF2-40B4-BE49-F238E27FC236}">
                <a16:creationId xmlns:a16="http://schemas.microsoft.com/office/drawing/2014/main" id="{E4016A48-7BCB-9D45-E6B4-69C98000B5E7}"/>
              </a:ext>
            </a:extLst>
          </p:cNvPr>
          <p:cNvSpPr txBox="1"/>
          <p:nvPr/>
        </p:nvSpPr>
        <p:spPr>
          <a:xfrm>
            <a:off x="3819715" y="2779266"/>
            <a:ext cx="162422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B9DA3"/>
                </a:solidFill>
                <a:latin typeface="Albert Sans Medium" pitchFamily="2" charset="77"/>
              </a:rPr>
              <a:t>Orchestrator · </a:t>
            </a:r>
            <a:r>
              <a:rPr sz="1100" b="0" err="1">
                <a:solidFill>
                  <a:srgbClr val="9B9DA3"/>
                </a:solidFill>
                <a:latin typeface="Albert Sans Medium" pitchFamily="2" charset="77"/>
              </a:rPr>
              <a:t>ReAct</a:t>
            </a:r>
            <a:endParaRPr sz="1100" b="0">
              <a:solidFill>
                <a:srgbClr val="9B9DA3"/>
              </a:solidFill>
              <a:latin typeface="Albert Sans Medium" pitchFamily="2" charset="77"/>
            </a:endParaRPr>
          </a:p>
        </p:txBody>
      </p:sp>
      <p:sp>
        <p:nvSpPr>
          <p:cNvPr id="183" name="Rounded Rectangle 46">
            <a:extLst>
              <a:ext uri="{FF2B5EF4-FFF2-40B4-BE49-F238E27FC236}">
                <a16:creationId xmlns:a16="http://schemas.microsoft.com/office/drawing/2014/main" id="{AE7EB52A-9A9D-ECC8-80B6-A5DABBE6874C}"/>
              </a:ext>
            </a:extLst>
          </p:cNvPr>
          <p:cNvSpPr/>
          <p:nvPr/>
        </p:nvSpPr>
        <p:spPr>
          <a:xfrm>
            <a:off x="2920561" y="2488027"/>
            <a:ext cx="45811" cy="133434"/>
          </a:xfrm>
          <a:prstGeom prst="roundRect">
            <a:avLst>
              <a:gd name="adj" fmla="val 50000"/>
            </a:avLst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4" name="Diamond 48">
            <a:extLst>
              <a:ext uri="{FF2B5EF4-FFF2-40B4-BE49-F238E27FC236}">
                <a16:creationId xmlns:a16="http://schemas.microsoft.com/office/drawing/2014/main" id="{F83AA5E0-8582-2287-EA96-2D6CA4A3C3A1}"/>
              </a:ext>
            </a:extLst>
          </p:cNvPr>
          <p:cNvSpPr/>
          <p:nvPr/>
        </p:nvSpPr>
        <p:spPr>
          <a:xfrm>
            <a:off x="4623911" y="1875333"/>
            <a:ext cx="133269" cy="133434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5" name="Diamond 49">
            <a:extLst>
              <a:ext uri="{FF2B5EF4-FFF2-40B4-BE49-F238E27FC236}">
                <a16:creationId xmlns:a16="http://schemas.microsoft.com/office/drawing/2014/main" id="{5D329C6A-5E66-0181-45C2-4EF1DF59C5BF}"/>
              </a:ext>
            </a:extLst>
          </p:cNvPr>
          <p:cNvSpPr/>
          <p:nvPr/>
        </p:nvSpPr>
        <p:spPr>
          <a:xfrm>
            <a:off x="3890929" y="1875065"/>
            <a:ext cx="133269" cy="133434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6" name="Diamond 50">
            <a:extLst>
              <a:ext uri="{FF2B5EF4-FFF2-40B4-BE49-F238E27FC236}">
                <a16:creationId xmlns:a16="http://schemas.microsoft.com/office/drawing/2014/main" id="{1F31E7A4-1498-BF54-EFFC-EAA5317DF0D5}"/>
              </a:ext>
            </a:extLst>
          </p:cNvPr>
          <p:cNvSpPr/>
          <p:nvPr/>
        </p:nvSpPr>
        <p:spPr>
          <a:xfrm>
            <a:off x="5140330" y="3113499"/>
            <a:ext cx="133269" cy="133434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87" name="TextBox 51">
            <a:extLst>
              <a:ext uri="{FF2B5EF4-FFF2-40B4-BE49-F238E27FC236}">
                <a16:creationId xmlns:a16="http://schemas.microsoft.com/office/drawing/2014/main" id="{F76D456A-94E6-D054-EB19-786F882FE93A}"/>
              </a:ext>
            </a:extLst>
          </p:cNvPr>
          <p:cNvSpPr txBox="1"/>
          <p:nvPr/>
        </p:nvSpPr>
        <p:spPr>
          <a:xfrm>
            <a:off x="3229553" y="1749971"/>
            <a:ext cx="83293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>
                <a:solidFill>
                  <a:srgbClr val="9B9DA3"/>
                </a:solidFill>
                <a:latin typeface="Albert Sans Medium" pitchFamily="2" charset="77"/>
              </a:rPr>
              <a:t>Chat Model</a:t>
            </a:r>
            <a:endParaRPr sz="700">
              <a:solidFill>
                <a:srgbClr val="E0245E"/>
              </a:solidFill>
              <a:latin typeface="Albert Sans Medium" pitchFamily="2" charset="77"/>
            </a:endParaRPr>
          </a:p>
        </p:txBody>
      </p:sp>
      <p:sp>
        <p:nvSpPr>
          <p:cNvPr id="188" name="TextBox 52">
            <a:extLst>
              <a:ext uri="{FF2B5EF4-FFF2-40B4-BE49-F238E27FC236}">
                <a16:creationId xmlns:a16="http://schemas.microsoft.com/office/drawing/2014/main" id="{1D8BE497-753C-72C6-58A0-6C9CB619834E}"/>
              </a:ext>
            </a:extLst>
          </p:cNvPr>
          <p:cNvSpPr txBox="1"/>
          <p:nvPr/>
        </p:nvSpPr>
        <p:spPr>
          <a:xfrm>
            <a:off x="4507301" y="1758311"/>
            <a:ext cx="832934" cy="98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Memory</a:t>
            </a:r>
          </a:p>
        </p:txBody>
      </p:sp>
      <p:sp>
        <p:nvSpPr>
          <p:cNvPr id="189" name="TextBox 53">
            <a:extLst>
              <a:ext uri="{FF2B5EF4-FFF2-40B4-BE49-F238E27FC236}">
                <a16:creationId xmlns:a16="http://schemas.microsoft.com/office/drawing/2014/main" id="{A5BDBDF9-6154-2987-5E99-1145A8BF0C54}"/>
              </a:ext>
            </a:extLst>
          </p:cNvPr>
          <p:cNvSpPr txBox="1"/>
          <p:nvPr/>
        </p:nvSpPr>
        <p:spPr>
          <a:xfrm>
            <a:off x="4683023" y="3288631"/>
            <a:ext cx="83293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Tool</a:t>
            </a:r>
            <a:r>
              <a:rPr lang="de-DE" sz="700" b="0">
                <a:solidFill>
                  <a:srgbClr val="9B9DA3"/>
                </a:solidFill>
                <a:latin typeface="Albert Sans Medium" pitchFamily="2" charset="77"/>
              </a:rPr>
              <a:t>s</a:t>
            </a:r>
            <a:endParaRPr sz="700" b="0">
              <a:solidFill>
                <a:srgbClr val="9B9DA3"/>
              </a:solidFill>
              <a:latin typeface="Albert Sans Medium" pitchFamily="2" charset="77"/>
            </a:endParaRPr>
          </a:p>
        </p:txBody>
      </p:sp>
      <p:sp>
        <p:nvSpPr>
          <p:cNvPr id="18" name="Rounded Rectangle 54">
            <a:extLst>
              <a:ext uri="{FF2B5EF4-FFF2-40B4-BE49-F238E27FC236}">
                <a16:creationId xmlns:a16="http://schemas.microsoft.com/office/drawing/2014/main" id="{7FEF73F4-E4B0-0A11-2104-1E47310F2F65}"/>
              </a:ext>
            </a:extLst>
          </p:cNvPr>
          <p:cNvSpPr/>
          <p:nvPr/>
        </p:nvSpPr>
        <p:spPr>
          <a:xfrm>
            <a:off x="2993442" y="3700824"/>
            <a:ext cx="932886" cy="93403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875">
            <a:solidFill>
              <a:srgbClr val="E0E2E7"/>
            </a:solidFill>
          </a:ln>
          <a:effectLst>
            <a:outerShdw blurRad="50000" dist="18000" dir="5400000" rotWithShape="0">
              <a:srgbClr val="16181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81A99B2C-8864-08B9-607E-BB56EE667C26}"/>
              </a:ext>
            </a:extLst>
          </p:cNvPr>
          <p:cNvSpPr/>
          <p:nvPr/>
        </p:nvSpPr>
        <p:spPr>
          <a:xfrm>
            <a:off x="3439062" y="3934334"/>
            <a:ext cx="41647" cy="467019"/>
          </a:xfrm>
          <a:prstGeom prst="rect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0" name="Pentagon 56">
            <a:extLst>
              <a:ext uri="{FF2B5EF4-FFF2-40B4-BE49-F238E27FC236}">
                <a16:creationId xmlns:a16="http://schemas.microsoft.com/office/drawing/2014/main" id="{CC70A0EE-37C9-34A5-D822-2698127DACA1}"/>
              </a:ext>
            </a:extLst>
          </p:cNvPr>
          <p:cNvSpPr/>
          <p:nvPr/>
        </p:nvSpPr>
        <p:spPr>
          <a:xfrm>
            <a:off x="3326616" y="3967692"/>
            <a:ext cx="291527" cy="133434"/>
          </a:xfrm>
          <a:prstGeom prst="homePlate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1" name="Pentagon 57">
            <a:extLst>
              <a:ext uri="{FF2B5EF4-FFF2-40B4-BE49-F238E27FC236}">
                <a16:creationId xmlns:a16="http://schemas.microsoft.com/office/drawing/2014/main" id="{F2BC6910-567A-4BAB-9706-577E28072BB1}"/>
              </a:ext>
            </a:extLst>
          </p:cNvPr>
          <p:cNvSpPr/>
          <p:nvPr/>
        </p:nvSpPr>
        <p:spPr>
          <a:xfrm rot="10800000">
            <a:off x="3301628" y="4159503"/>
            <a:ext cx="291527" cy="133434"/>
          </a:xfrm>
          <a:prstGeom prst="homePlate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2" name="Rounded Rectangle 58">
            <a:extLst>
              <a:ext uri="{FF2B5EF4-FFF2-40B4-BE49-F238E27FC236}">
                <a16:creationId xmlns:a16="http://schemas.microsoft.com/office/drawing/2014/main" id="{E5309BC3-423C-FE2C-0FA0-313C273A1CBF}"/>
              </a:ext>
            </a:extLst>
          </p:cNvPr>
          <p:cNvSpPr/>
          <p:nvPr/>
        </p:nvSpPr>
        <p:spPr>
          <a:xfrm>
            <a:off x="2958274" y="4073018"/>
            <a:ext cx="45812" cy="133434"/>
          </a:xfrm>
          <a:prstGeom prst="roundRect">
            <a:avLst>
              <a:gd name="adj" fmla="val 50000"/>
            </a:avLst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504921-0BAB-7AAC-6BA1-AE812585B26E}"/>
              </a:ext>
            </a:extLst>
          </p:cNvPr>
          <p:cNvSpPr/>
          <p:nvPr/>
        </p:nvSpPr>
        <p:spPr>
          <a:xfrm>
            <a:off x="3888847" y="3971862"/>
            <a:ext cx="74964" cy="7505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1B8B101-3D7E-B629-B1BF-8A7C85F48AC7}"/>
              </a:ext>
            </a:extLst>
          </p:cNvPr>
          <p:cNvSpPr/>
          <p:nvPr/>
        </p:nvSpPr>
        <p:spPr>
          <a:xfrm>
            <a:off x="3888847" y="4288767"/>
            <a:ext cx="74964" cy="7505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5" name="TextBox 61">
            <a:extLst>
              <a:ext uri="{FF2B5EF4-FFF2-40B4-BE49-F238E27FC236}">
                <a16:creationId xmlns:a16="http://schemas.microsoft.com/office/drawing/2014/main" id="{F0A312FE-27C4-7EAE-6FB8-19F85048A3EF}"/>
              </a:ext>
            </a:extLst>
          </p:cNvPr>
          <p:cNvSpPr txBox="1"/>
          <p:nvPr/>
        </p:nvSpPr>
        <p:spPr>
          <a:xfrm>
            <a:off x="3992964" y="3859277"/>
            <a:ext cx="374820" cy="98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true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1342B16A-E0D9-716C-E565-1CA4BA54D2D8}"/>
              </a:ext>
            </a:extLst>
          </p:cNvPr>
          <p:cNvSpPr txBox="1"/>
          <p:nvPr/>
        </p:nvSpPr>
        <p:spPr>
          <a:xfrm>
            <a:off x="3992964" y="4376333"/>
            <a:ext cx="374820" cy="98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B9DA3"/>
                </a:solidFill>
                <a:latin typeface="Albert Sans Medium" pitchFamily="2" charset="77"/>
              </a:rPr>
              <a:t>false</a:t>
            </a:r>
          </a:p>
        </p:txBody>
      </p:sp>
      <p:sp>
        <p:nvSpPr>
          <p:cNvPr id="27" name="TextBox 63">
            <a:extLst>
              <a:ext uri="{FF2B5EF4-FFF2-40B4-BE49-F238E27FC236}">
                <a16:creationId xmlns:a16="http://schemas.microsoft.com/office/drawing/2014/main" id="{64D6982E-541B-D189-3913-FF00E6F44013}"/>
              </a:ext>
            </a:extLst>
          </p:cNvPr>
          <p:cNvSpPr txBox="1"/>
          <p:nvPr/>
        </p:nvSpPr>
        <p:spPr>
          <a:xfrm>
            <a:off x="2606128" y="4681441"/>
            <a:ext cx="1665868" cy="14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3E4148"/>
                </a:solidFill>
                <a:latin typeface="Albert Sans Medium" pitchFamily="2" charset="77"/>
              </a:rPr>
              <a:t>If risk </a:t>
            </a:r>
            <a:r>
              <a:rPr lang="de-DE" sz="1000" b="0">
                <a:solidFill>
                  <a:srgbClr val="3E4148"/>
                </a:solidFill>
                <a:latin typeface="Albert Sans Medium" pitchFamily="2" charset="77"/>
              </a:rPr>
              <a:t>of </a:t>
            </a:r>
            <a:r>
              <a:rPr lang="de-DE" sz="1000" b="0" err="1">
                <a:solidFill>
                  <a:srgbClr val="3E4148"/>
                </a:solidFill>
                <a:latin typeface="Albert Sans Medium" pitchFamily="2" charset="77"/>
              </a:rPr>
              <a:t>disruption</a:t>
            </a:r>
            <a:r>
              <a:rPr lang="de-DE" sz="1000" b="0">
                <a:solidFill>
                  <a:srgbClr val="3E4148"/>
                </a:solidFill>
                <a:latin typeface="Albert Sans Medium" pitchFamily="2" charset="77"/>
              </a:rPr>
              <a:t> </a:t>
            </a:r>
            <a:endParaRPr sz="1000" b="0">
              <a:solidFill>
                <a:srgbClr val="3E4148"/>
              </a:solidFill>
              <a:latin typeface="Albert Sans Medium" pitchFamily="2" charset="77"/>
            </a:endParaRPr>
          </a:p>
        </p:txBody>
      </p:sp>
      <p:sp>
        <p:nvSpPr>
          <p:cNvPr id="28" name="TextBox 68">
            <a:extLst>
              <a:ext uri="{FF2B5EF4-FFF2-40B4-BE49-F238E27FC236}">
                <a16:creationId xmlns:a16="http://schemas.microsoft.com/office/drawing/2014/main" id="{99F45454-6290-1C43-003C-8D845DCB7739}"/>
              </a:ext>
            </a:extLst>
          </p:cNvPr>
          <p:cNvSpPr txBox="1"/>
          <p:nvPr/>
        </p:nvSpPr>
        <p:spPr>
          <a:xfrm>
            <a:off x="9852772" y="1878717"/>
            <a:ext cx="118788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dirty="0">
                <a:solidFill>
                  <a:srgbClr val="3E4148"/>
                </a:solidFill>
              </a:rPr>
              <a:t>Send WhatsApp </a:t>
            </a:r>
            <a:r>
              <a:rPr lang="de-DE" sz="1100" b="0" dirty="0">
                <a:solidFill>
                  <a:srgbClr val="3E4148"/>
                </a:solidFill>
              </a:rPr>
              <a:t>Message</a:t>
            </a:r>
            <a:endParaRPr sz="1100" b="0" dirty="0">
              <a:solidFill>
                <a:srgbClr val="3E4148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B37AF00-AFE4-20B2-6D6D-2790E8B76C68}"/>
              </a:ext>
            </a:extLst>
          </p:cNvPr>
          <p:cNvGrpSpPr/>
          <p:nvPr/>
        </p:nvGrpSpPr>
        <p:grpSpPr>
          <a:xfrm>
            <a:off x="8925010" y="2558586"/>
            <a:ext cx="863093" cy="843812"/>
            <a:chOff x="9293771" y="2156869"/>
            <a:chExt cx="1051166" cy="1024128"/>
          </a:xfrm>
        </p:grpSpPr>
        <p:pic>
          <p:nvPicPr>
            <p:cNvPr id="169" name="Picture 29" descr="trigger_node.png">
              <a:extLst>
                <a:ext uri="{FF2B5EF4-FFF2-40B4-BE49-F238E27FC236}">
                  <a16:creationId xmlns:a16="http://schemas.microsoft.com/office/drawing/2014/main" id="{1AB52E2D-55CA-7D03-C9AD-43D8C2E82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9320809" y="2156869"/>
              <a:ext cx="1024128" cy="1024128"/>
            </a:xfrm>
            <a:prstGeom prst="rect">
              <a:avLst/>
            </a:prstGeom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</p:pic>
        <p:sp>
          <p:nvSpPr>
            <p:cNvPr id="170" name="Rounded Rectangle 71">
              <a:extLst>
                <a:ext uri="{FF2B5EF4-FFF2-40B4-BE49-F238E27FC236}">
                  <a16:creationId xmlns:a16="http://schemas.microsoft.com/office/drawing/2014/main" id="{2A61AC17-B2C1-EB56-74AC-1D9037F8FC54}"/>
                </a:ext>
              </a:extLst>
            </p:cNvPr>
            <p:cNvSpPr/>
            <p:nvPr/>
          </p:nvSpPr>
          <p:spPr>
            <a:xfrm>
              <a:off x="9546868" y="2467765"/>
              <a:ext cx="475488" cy="338328"/>
            </a:xfrm>
            <a:prstGeom prst="roundRect">
              <a:avLst>
                <a:gd name="adj" fmla="val 42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71" name="Isosceles Triangle 72">
              <a:extLst>
                <a:ext uri="{FF2B5EF4-FFF2-40B4-BE49-F238E27FC236}">
                  <a16:creationId xmlns:a16="http://schemas.microsoft.com/office/drawing/2014/main" id="{C961A547-E181-8D03-19BC-CBF3ED078F62}"/>
                </a:ext>
              </a:extLst>
            </p:cNvPr>
            <p:cNvSpPr/>
            <p:nvPr/>
          </p:nvSpPr>
          <p:spPr>
            <a:xfrm rot="11700000">
              <a:off x="9592588" y="2760373"/>
              <a:ext cx="146304" cy="128016"/>
            </a:xfrm>
            <a:prstGeom prst="triangl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72" name="Rounded Rectangle 73">
              <a:extLst>
                <a:ext uri="{FF2B5EF4-FFF2-40B4-BE49-F238E27FC236}">
                  <a16:creationId xmlns:a16="http://schemas.microsoft.com/office/drawing/2014/main" id="{610BB9D0-093E-00DE-C492-4D42CB53EF68}"/>
                </a:ext>
              </a:extLst>
            </p:cNvPr>
            <p:cNvSpPr/>
            <p:nvPr/>
          </p:nvSpPr>
          <p:spPr>
            <a:xfrm>
              <a:off x="9885196" y="2673505"/>
              <a:ext cx="274320" cy="210312"/>
            </a:xfrm>
            <a:prstGeom prst="roundRect">
              <a:avLst>
                <a:gd name="adj" fmla="val 45000"/>
              </a:avLst>
            </a:prstGeom>
            <a:solidFill>
              <a:srgbClr val="3E4148"/>
            </a:solidFill>
            <a:ln w="1778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73" name="Rounded Rectangle 74">
              <a:extLst>
                <a:ext uri="{FF2B5EF4-FFF2-40B4-BE49-F238E27FC236}">
                  <a16:creationId xmlns:a16="http://schemas.microsoft.com/office/drawing/2014/main" id="{35D1E9D2-8287-1B43-1ADC-27D2876D923A}"/>
                </a:ext>
              </a:extLst>
            </p:cNvPr>
            <p:cNvSpPr/>
            <p:nvPr/>
          </p:nvSpPr>
          <p:spPr>
            <a:xfrm>
              <a:off x="9293771" y="2595781"/>
              <a:ext cx="50292" cy="146304"/>
            </a:xfrm>
            <a:prstGeom prst="roundRect">
              <a:avLst>
                <a:gd name="adj" fmla="val 50000"/>
              </a:avLst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7768A9E0-028A-A1C1-439A-AB0A58574EA2}"/>
              </a:ext>
            </a:extLst>
          </p:cNvPr>
          <p:cNvSpPr txBox="1"/>
          <p:nvPr/>
        </p:nvSpPr>
        <p:spPr>
          <a:xfrm>
            <a:off x="9852772" y="2916644"/>
            <a:ext cx="111420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3E4148"/>
                </a:solidFill>
              </a:rPr>
              <a:t>Reply in chat</a:t>
            </a: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685FDA0-ED97-9F1A-9DF0-8D121053570D}"/>
              </a:ext>
            </a:extLst>
          </p:cNvPr>
          <p:cNvGrpSpPr>
            <a:grpSpLocks noChangeAspect="1"/>
          </p:cNvGrpSpPr>
          <p:nvPr/>
        </p:nvGrpSpPr>
        <p:grpSpPr>
          <a:xfrm>
            <a:off x="3458729" y="1118254"/>
            <a:ext cx="550917" cy="551597"/>
            <a:chOff x="3282696" y="809244"/>
            <a:chExt cx="713232" cy="7132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9FC0670-80A6-F634-63CA-BDCAD0C5C18E}"/>
                </a:ext>
              </a:extLst>
            </p:cNvPr>
            <p:cNvSpPr/>
            <p:nvPr/>
          </p:nvSpPr>
          <p:spPr>
            <a:xfrm>
              <a:off x="3282696" y="809244"/>
              <a:ext cx="713232" cy="713232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b="1">
                <a:latin typeface="Albert Sans Black" pitchFamily="2" charset="77"/>
              </a:endParaRPr>
            </a:p>
          </p:txBody>
        </p:sp>
        <p:pic>
          <p:nvPicPr>
            <p:cNvPr id="168" name="Picture 78" descr="claude.png">
              <a:extLst>
                <a:ext uri="{FF2B5EF4-FFF2-40B4-BE49-F238E27FC236}">
                  <a16:creationId xmlns:a16="http://schemas.microsoft.com/office/drawing/2014/main" id="{004A443E-B88C-9827-3631-97F5B08A7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8144" y="964692"/>
              <a:ext cx="402336" cy="402336"/>
            </a:xfrm>
            <a:prstGeom prst="rect">
              <a:avLst/>
            </a:prstGeom>
          </p:spPr>
        </p:pic>
      </p:grpSp>
      <p:sp>
        <p:nvSpPr>
          <p:cNvPr id="32" name="TextBox 80">
            <a:extLst>
              <a:ext uri="{FF2B5EF4-FFF2-40B4-BE49-F238E27FC236}">
                <a16:creationId xmlns:a16="http://schemas.microsoft.com/office/drawing/2014/main" id="{8B9F9F63-D75B-FC84-8D53-80F6C681B3BD}"/>
              </a:ext>
            </a:extLst>
          </p:cNvPr>
          <p:cNvSpPr txBox="1"/>
          <p:nvPr/>
        </p:nvSpPr>
        <p:spPr>
          <a:xfrm>
            <a:off x="2694059" y="1225225"/>
            <a:ext cx="88868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3E4148"/>
                </a:solidFill>
                <a:latin typeface="Albert Sans Medium" pitchFamily="2" charset="77"/>
              </a:rPr>
              <a:t>Claude Sonnet 4.6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3C637FC-8A5D-8E2F-4243-A300521FAC77}"/>
              </a:ext>
            </a:extLst>
          </p:cNvPr>
          <p:cNvSpPr/>
          <p:nvPr/>
        </p:nvSpPr>
        <p:spPr>
          <a:xfrm>
            <a:off x="3861776" y="1599858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DD07CB35-BC19-F996-1D57-D1D842FC0F49}"/>
              </a:ext>
            </a:extLst>
          </p:cNvPr>
          <p:cNvGrpSpPr/>
          <p:nvPr/>
        </p:nvGrpSpPr>
        <p:grpSpPr>
          <a:xfrm>
            <a:off x="1042294" y="3705613"/>
            <a:ext cx="1416207" cy="875659"/>
            <a:chOff x="2843784" y="3488436"/>
            <a:chExt cx="1554720" cy="960119"/>
          </a:xfrm>
        </p:grpSpPr>
        <p:sp>
          <p:nvSpPr>
            <p:cNvPr id="156" name="Rounded Rectangle 87">
              <a:extLst>
                <a:ext uri="{FF2B5EF4-FFF2-40B4-BE49-F238E27FC236}">
                  <a16:creationId xmlns:a16="http://schemas.microsoft.com/office/drawing/2014/main" id="{5884D817-DF2F-D786-F1E5-17DDB8DFB2B6}"/>
                </a:ext>
              </a:extLst>
            </p:cNvPr>
            <p:cNvSpPr/>
            <p:nvPr/>
          </p:nvSpPr>
          <p:spPr>
            <a:xfrm>
              <a:off x="2843784" y="3520440"/>
              <a:ext cx="1517904" cy="86868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5875">
              <a:solidFill>
                <a:srgbClr val="E0E2E7"/>
              </a:solidFill>
            </a:ln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85C05CB-F655-BF79-E471-EBD558416970}"/>
                </a:ext>
              </a:extLst>
            </p:cNvPr>
            <p:cNvSpPr/>
            <p:nvPr/>
          </p:nvSpPr>
          <p:spPr>
            <a:xfrm>
              <a:off x="3570732" y="3488436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cxnSp>
          <p:nvCxnSpPr>
            <p:cNvPr id="158" name="Connector 89">
              <a:extLst>
                <a:ext uri="{FF2B5EF4-FFF2-40B4-BE49-F238E27FC236}">
                  <a16:creationId xmlns:a16="http://schemas.microsoft.com/office/drawing/2014/main" id="{0815686C-115A-5021-5810-E4D38D12AFC6}"/>
                </a:ext>
              </a:extLst>
            </p:cNvPr>
            <p:cNvCxnSpPr/>
            <p:nvPr/>
          </p:nvCxnSpPr>
          <p:spPr>
            <a:xfrm>
              <a:off x="3136209" y="3754160"/>
              <a:ext cx="0" cy="68031"/>
            </a:xfrm>
            <a:prstGeom prst="line">
              <a:avLst/>
            </a:prstGeom>
            <a:ln w="13779">
              <a:solidFill>
                <a:srgbClr val="3E41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1EF9E85-9DF6-E3BD-FBEA-426DC74DDDE0}"/>
                </a:ext>
              </a:extLst>
            </p:cNvPr>
            <p:cNvSpPr/>
            <p:nvPr/>
          </p:nvSpPr>
          <p:spPr>
            <a:xfrm>
              <a:off x="3112114" y="3710223"/>
              <a:ext cx="48188" cy="48188"/>
            </a:xfrm>
            <a:prstGeom prst="ellips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0" name="Rounded Rectangle 91">
              <a:extLst>
                <a:ext uri="{FF2B5EF4-FFF2-40B4-BE49-F238E27FC236}">
                  <a16:creationId xmlns:a16="http://schemas.microsoft.com/office/drawing/2014/main" id="{9DEEE938-1BD7-95A9-1774-34BB6526D0C4}"/>
                </a:ext>
              </a:extLst>
            </p:cNvPr>
            <p:cNvSpPr/>
            <p:nvPr/>
          </p:nvSpPr>
          <p:spPr>
            <a:xfrm>
              <a:off x="2971800" y="3822191"/>
              <a:ext cx="328818" cy="249448"/>
            </a:xfrm>
            <a:prstGeom prst="roundRect">
              <a:avLst>
                <a:gd name="adj" fmla="val 28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3F03CFE-BD04-F786-ADFE-15BB7CD8ED48}"/>
                </a:ext>
              </a:extLst>
            </p:cNvPr>
            <p:cNvSpPr/>
            <p:nvPr/>
          </p:nvSpPr>
          <p:spPr>
            <a:xfrm>
              <a:off x="3045500" y="3890223"/>
              <a:ext cx="59527" cy="595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695F5340-ABC7-BA40-7B50-8E70125E261B}"/>
                </a:ext>
              </a:extLst>
            </p:cNvPr>
            <p:cNvSpPr/>
            <p:nvPr/>
          </p:nvSpPr>
          <p:spPr>
            <a:xfrm>
              <a:off x="3167390" y="3890223"/>
              <a:ext cx="59527" cy="595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3" name="Rounded Rectangle 94">
              <a:extLst>
                <a:ext uri="{FF2B5EF4-FFF2-40B4-BE49-F238E27FC236}">
                  <a16:creationId xmlns:a16="http://schemas.microsoft.com/office/drawing/2014/main" id="{3BDC878F-3FD7-04A6-540B-E680B6D71594}"/>
                </a:ext>
              </a:extLst>
            </p:cNvPr>
            <p:cNvSpPr/>
            <p:nvPr/>
          </p:nvSpPr>
          <p:spPr>
            <a:xfrm>
              <a:off x="3082350" y="3992270"/>
              <a:ext cx="107716" cy="3118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4" name="TextBox 95">
              <a:extLst>
                <a:ext uri="{FF2B5EF4-FFF2-40B4-BE49-F238E27FC236}">
                  <a16:creationId xmlns:a16="http://schemas.microsoft.com/office/drawing/2014/main" id="{C0D5BAC6-70BB-B3EF-BB12-97559F57EC43}"/>
                </a:ext>
              </a:extLst>
            </p:cNvPr>
            <p:cNvSpPr txBox="1"/>
            <p:nvPr/>
          </p:nvSpPr>
          <p:spPr>
            <a:xfrm>
              <a:off x="3392424" y="3775793"/>
              <a:ext cx="941832" cy="37120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3E4148"/>
                  </a:solidFill>
                  <a:latin typeface="Albert Sans Black" pitchFamily="2" charset="77"/>
                </a:rPr>
                <a:t>Monitoring</a:t>
              </a:r>
            </a:p>
            <a:p>
              <a:pPr algn="l"/>
              <a:r>
                <a:rPr sz="1100" b="1">
                  <a:solidFill>
                    <a:srgbClr val="3E4148"/>
                  </a:solidFill>
                  <a:latin typeface="Albert Sans Black" pitchFamily="2" charset="77"/>
                </a:rPr>
                <a:t>Agent</a:t>
              </a:r>
            </a:p>
          </p:txBody>
        </p:sp>
        <p:sp>
          <p:nvSpPr>
            <p:cNvPr id="165" name="Diamond 97">
              <a:extLst>
                <a:ext uri="{FF2B5EF4-FFF2-40B4-BE49-F238E27FC236}">
                  <a16:creationId xmlns:a16="http://schemas.microsoft.com/office/drawing/2014/main" id="{3F3B77F7-3A42-EA63-5022-4F3CAF047258}"/>
                </a:ext>
              </a:extLst>
            </p:cNvPr>
            <p:cNvSpPr/>
            <p:nvPr/>
          </p:nvSpPr>
          <p:spPr>
            <a:xfrm>
              <a:off x="3543300" y="4329683"/>
              <a:ext cx="118872" cy="118872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7D2177F0-4A5E-8925-0D3D-9E01D28AA40B}"/>
                </a:ext>
              </a:extLst>
            </p:cNvPr>
            <p:cNvSpPr/>
            <p:nvPr/>
          </p:nvSpPr>
          <p:spPr>
            <a:xfrm>
              <a:off x="4316208" y="3935147"/>
              <a:ext cx="82296" cy="82296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A2C7D18-8495-64C8-E6C2-F8A3ED66D0DE}"/>
              </a:ext>
            </a:extLst>
          </p:cNvPr>
          <p:cNvGrpSpPr/>
          <p:nvPr/>
        </p:nvGrpSpPr>
        <p:grpSpPr>
          <a:xfrm>
            <a:off x="588343" y="4575114"/>
            <a:ext cx="2282238" cy="1329865"/>
            <a:chOff x="2350008" y="4425696"/>
            <a:chExt cx="2505456" cy="1458135"/>
          </a:xfrm>
        </p:grpSpPr>
        <p:cxnSp>
          <p:nvCxnSpPr>
            <p:cNvPr id="134" name="Connector 17">
              <a:extLst>
                <a:ext uri="{FF2B5EF4-FFF2-40B4-BE49-F238E27FC236}">
                  <a16:creationId xmlns:a16="http://schemas.microsoft.com/office/drawing/2014/main" id="{2D1F20FD-F830-0151-12C4-373A1A63DE01}"/>
                </a:ext>
              </a:extLst>
            </p:cNvPr>
            <p:cNvCxnSpPr/>
            <p:nvPr/>
          </p:nvCxnSpPr>
          <p:spPr>
            <a:xfrm flipH="1">
              <a:off x="2852928" y="4425696"/>
              <a:ext cx="749808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8">
              <a:extLst>
                <a:ext uri="{FF2B5EF4-FFF2-40B4-BE49-F238E27FC236}">
                  <a16:creationId xmlns:a16="http://schemas.microsoft.com/office/drawing/2014/main" id="{30A8F16A-031B-5F40-D595-B3B55CD93A02}"/>
                </a:ext>
              </a:extLst>
            </p:cNvPr>
            <p:cNvCxnSpPr/>
            <p:nvPr/>
          </p:nvCxnSpPr>
          <p:spPr>
            <a:xfrm>
              <a:off x="3602736" y="4425696"/>
              <a:ext cx="0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9">
              <a:extLst>
                <a:ext uri="{FF2B5EF4-FFF2-40B4-BE49-F238E27FC236}">
                  <a16:creationId xmlns:a16="http://schemas.microsoft.com/office/drawing/2014/main" id="{41534F83-A935-AFEE-863B-B92A5A1798D3}"/>
                </a:ext>
              </a:extLst>
            </p:cNvPr>
            <p:cNvCxnSpPr/>
            <p:nvPr/>
          </p:nvCxnSpPr>
          <p:spPr>
            <a:xfrm>
              <a:off x="3602736" y="4425696"/>
              <a:ext cx="749808" cy="658368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A9483400-63DD-07C5-FC03-BCC70CA66BC2}"/>
                </a:ext>
              </a:extLst>
            </p:cNvPr>
            <p:cNvSpPr/>
            <p:nvPr/>
          </p:nvSpPr>
          <p:spPr>
            <a:xfrm>
              <a:off x="2551176" y="5102352"/>
              <a:ext cx="603504" cy="603504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F791829C-562E-FEA8-89F6-9A3609E0A38B}"/>
                </a:ext>
              </a:extLst>
            </p:cNvPr>
            <p:cNvSpPr/>
            <p:nvPr/>
          </p:nvSpPr>
          <p:spPr>
            <a:xfrm>
              <a:off x="2820924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pic>
          <p:nvPicPr>
            <p:cNvPr id="139" name="Picture 133" descr="db.png">
              <a:extLst>
                <a:ext uri="{FF2B5EF4-FFF2-40B4-BE49-F238E27FC236}">
                  <a16:creationId xmlns:a16="http://schemas.microsoft.com/office/drawing/2014/main" id="{E6CFD6C7-CFB9-B058-D666-040749444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97480" y="5295290"/>
              <a:ext cx="310896" cy="217627"/>
            </a:xfrm>
            <a:prstGeom prst="rect">
              <a:avLst/>
            </a:prstGeom>
          </p:spPr>
        </p:pic>
        <p:sp>
          <p:nvSpPr>
            <p:cNvPr id="140" name="TextBox 134">
              <a:extLst>
                <a:ext uri="{FF2B5EF4-FFF2-40B4-BE49-F238E27FC236}">
                  <a16:creationId xmlns:a16="http://schemas.microsoft.com/office/drawing/2014/main" id="{08CABB38-7CC1-D3D6-B523-FADD181A477D}"/>
                </a:ext>
              </a:extLst>
            </p:cNvPr>
            <p:cNvSpPr txBox="1"/>
            <p:nvPr/>
          </p:nvSpPr>
          <p:spPr>
            <a:xfrm>
              <a:off x="2350008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DB Live Data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54FC3812-E581-C7E5-82A8-5B23964B7A9A}"/>
                </a:ext>
              </a:extLst>
            </p:cNvPr>
            <p:cNvSpPr/>
            <p:nvPr/>
          </p:nvSpPr>
          <p:spPr>
            <a:xfrm>
              <a:off x="3300984" y="5102352"/>
              <a:ext cx="603504" cy="603504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794BB4D-4A32-2FD6-E218-8AC4E1FFDCE3}"/>
                </a:ext>
              </a:extLst>
            </p:cNvPr>
            <p:cNvSpPr/>
            <p:nvPr/>
          </p:nvSpPr>
          <p:spPr>
            <a:xfrm>
              <a:off x="3570732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4" name="Rounded Rectangle 138">
              <a:extLst>
                <a:ext uri="{FF2B5EF4-FFF2-40B4-BE49-F238E27FC236}">
                  <a16:creationId xmlns:a16="http://schemas.microsoft.com/office/drawing/2014/main" id="{CD04DA8B-E563-9E09-1604-BB135D92FFAD}"/>
                </a:ext>
              </a:extLst>
            </p:cNvPr>
            <p:cNvSpPr/>
            <p:nvPr/>
          </p:nvSpPr>
          <p:spPr>
            <a:xfrm>
              <a:off x="3461004" y="5458968"/>
              <a:ext cx="73152" cy="100584"/>
            </a:xfrm>
            <a:prstGeom prst="roundRect">
              <a:avLst>
                <a:gd name="adj" fmla="val 30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5" name="Rounded Rectangle 139">
              <a:extLst>
                <a:ext uri="{FF2B5EF4-FFF2-40B4-BE49-F238E27FC236}">
                  <a16:creationId xmlns:a16="http://schemas.microsoft.com/office/drawing/2014/main" id="{A2F01409-5645-319E-8B94-E4B014BAAF0B}"/>
                </a:ext>
              </a:extLst>
            </p:cNvPr>
            <p:cNvSpPr/>
            <p:nvPr/>
          </p:nvSpPr>
          <p:spPr>
            <a:xfrm>
              <a:off x="3566160" y="5385816"/>
              <a:ext cx="73152" cy="173736"/>
            </a:xfrm>
            <a:prstGeom prst="roundRect">
              <a:avLst>
                <a:gd name="adj" fmla="val 30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6" name="Rounded Rectangle 140">
              <a:extLst>
                <a:ext uri="{FF2B5EF4-FFF2-40B4-BE49-F238E27FC236}">
                  <a16:creationId xmlns:a16="http://schemas.microsoft.com/office/drawing/2014/main" id="{3895E444-0E70-9FDB-2F8B-6AA531CC2127}"/>
                </a:ext>
              </a:extLst>
            </p:cNvPr>
            <p:cNvSpPr/>
            <p:nvPr/>
          </p:nvSpPr>
          <p:spPr>
            <a:xfrm>
              <a:off x="3671315" y="5312664"/>
              <a:ext cx="73152" cy="246888"/>
            </a:xfrm>
            <a:prstGeom prst="roundRect">
              <a:avLst>
                <a:gd name="adj" fmla="val 30000"/>
              </a:avLst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47" name="TextBox 141">
              <a:extLst>
                <a:ext uri="{FF2B5EF4-FFF2-40B4-BE49-F238E27FC236}">
                  <a16:creationId xmlns:a16="http://schemas.microsoft.com/office/drawing/2014/main" id="{220E2E99-87F0-52D4-5349-43E90F7EDB5D}"/>
                </a:ext>
              </a:extLst>
            </p:cNvPr>
            <p:cNvSpPr txBox="1"/>
            <p:nvPr/>
          </p:nvSpPr>
          <p:spPr>
            <a:xfrm>
              <a:off x="3099815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Delay History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93FEB68A-96D8-6380-85A9-4E937E9402E7}"/>
                </a:ext>
              </a:extLst>
            </p:cNvPr>
            <p:cNvSpPr/>
            <p:nvPr/>
          </p:nvSpPr>
          <p:spPr>
            <a:xfrm>
              <a:off x="4050791" y="5102352"/>
              <a:ext cx="603504" cy="603504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25C2FB5-8BEC-D9DF-995B-F973BEFEFBE8}"/>
                </a:ext>
              </a:extLst>
            </p:cNvPr>
            <p:cNvSpPr/>
            <p:nvPr/>
          </p:nvSpPr>
          <p:spPr>
            <a:xfrm>
              <a:off x="4320540" y="5070348"/>
              <a:ext cx="64008" cy="64008"/>
            </a:xfrm>
            <a:prstGeom prst="ellipse">
              <a:avLst/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1" name="Block Arc 145">
              <a:extLst>
                <a:ext uri="{FF2B5EF4-FFF2-40B4-BE49-F238E27FC236}">
                  <a16:creationId xmlns:a16="http://schemas.microsoft.com/office/drawing/2014/main" id="{5D6915B0-9339-E91F-30AF-41E2C130B52F}"/>
                </a:ext>
              </a:extLst>
            </p:cNvPr>
            <p:cNvSpPr/>
            <p:nvPr/>
          </p:nvSpPr>
          <p:spPr>
            <a:xfrm>
              <a:off x="4197096" y="5259760"/>
              <a:ext cx="310896" cy="290648"/>
            </a:xfrm>
            <a:prstGeom prst="blockArc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cxnSp>
          <p:nvCxnSpPr>
            <p:cNvPr id="152" name="Connector 146">
              <a:extLst>
                <a:ext uri="{FF2B5EF4-FFF2-40B4-BE49-F238E27FC236}">
                  <a16:creationId xmlns:a16="http://schemas.microsoft.com/office/drawing/2014/main" id="{1F60A96E-314C-C4BB-5D7F-6D1EE42502C6}"/>
                </a:ext>
              </a:extLst>
            </p:cNvPr>
            <p:cNvCxnSpPr/>
            <p:nvPr/>
          </p:nvCxnSpPr>
          <p:spPr>
            <a:xfrm flipV="1">
              <a:off x="4352544" y="5367528"/>
              <a:ext cx="100584" cy="128016"/>
            </a:xfrm>
            <a:prstGeom prst="line">
              <a:avLst/>
            </a:prstGeom>
            <a:ln w="25400">
              <a:solidFill>
                <a:srgbClr val="3E41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5187EE5-F620-4EA7-C517-98B8D0AACC49}"/>
                </a:ext>
              </a:extLst>
            </p:cNvPr>
            <p:cNvSpPr/>
            <p:nvPr/>
          </p:nvSpPr>
          <p:spPr>
            <a:xfrm>
              <a:off x="4325112" y="5468112"/>
              <a:ext cx="54864" cy="54864"/>
            </a:xfrm>
            <a:prstGeom prst="ellipse">
              <a:avLst/>
            </a:prstGeom>
            <a:solidFill>
              <a:srgbClr val="3E41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sp>
          <p:nvSpPr>
            <p:cNvPr id="154" name="TextBox 148">
              <a:extLst>
                <a:ext uri="{FF2B5EF4-FFF2-40B4-BE49-F238E27FC236}">
                  <a16:creationId xmlns:a16="http://schemas.microsoft.com/office/drawing/2014/main" id="{657BB2F8-0C78-281D-A80E-E89ACADD42C5}"/>
                </a:ext>
              </a:extLst>
            </p:cNvPr>
            <p:cNvSpPr txBox="1"/>
            <p:nvPr/>
          </p:nvSpPr>
          <p:spPr>
            <a:xfrm>
              <a:off x="3849624" y="5760720"/>
              <a:ext cx="100584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>
                  <a:solidFill>
                    <a:srgbClr val="3E4148"/>
                  </a:solidFill>
                  <a:latin typeface="Albert Sans Medium" pitchFamily="2" charset="77"/>
                </a:rPr>
                <a:t>Risk Model</a:t>
              </a:r>
            </a:p>
          </p:txBody>
        </p:sp>
      </p:grpSp>
      <p:cxnSp>
        <p:nvCxnSpPr>
          <p:cNvPr id="112" name="Connector 24">
            <a:extLst>
              <a:ext uri="{FF2B5EF4-FFF2-40B4-BE49-F238E27FC236}">
                <a16:creationId xmlns:a16="http://schemas.microsoft.com/office/drawing/2014/main" id="{9F850554-3FEA-3693-89A8-BABBEE62F9A7}"/>
              </a:ext>
            </a:extLst>
          </p:cNvPr>
          <p:cNvCxnSpPr>
            <a:cxnSpLocks/>
            <a:stCxn id="123" idx="2"/>
            <a:endCxn id="125" idx="4"/>
          </p:cNvCxnSpPr>
          <p:nvPr/>
        </p:nvCxnSpPr>
        <p:spPr>
          <a:xfrm>
            <a:off x="7774680" y="4590963"/>
            <a:ext cx="43836" cy="618871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09">
            <a:extLst>
              <a:ext uri="{FF2B5EF4-FFF2-40B4-BE49-F238E27FC236}">
                <a16:creationId xmlns:a16="http://schemas.microsoft.com/office/drawing/2014/main" id="{98D416E8-A088-D6EA-D4EA-E7000C75EF89}"/>
              </a:ext>
            </a:extLst>
          </p:cNvPr>
          <p:cNvSpPr/>
          <p:nvPr/>
        </p:nvSpPr>
        <p:spPr>
          <a:xfrm>
            <a:off x="7083344" y="3741308"/>
            <a:ext cx="1382671" cy="792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0E2E7"/>
            </a:solidFill>
          </a:ln>
          <a:effectLst>
            <a:outerShdw blurRad="50000" dist="18000" dir="5400000" rotWithShape="0">
              <a:srgbClr val="16181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F08C9EEA-AB40-1281-400C-D45C526F5415}"/>
              </a:ext>
            </a:extLst>
          </p:cNvPr>
          <p:cNvSpPr/>
          <p:nvPr/>
        </p:nvSpPr>
        <p:spPr>
          <a:xfrm>
            <a:off x="7745527" y="3712119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116" name="Connector 111">
            <a:extLst>
              <a:ext uri="{FF2B5EF4-FFF2-40B4-BE49-F238E27FC236}">
                <a16:creationId xmlns:a16="http://schemas.microsoft.com/office/drawing/2014/main" id="{B4E143DC-702F-90A4-48FE-85FD5AB1F118}"/>
              </a:ext>
            </a:extLst>
          </p:cNvPr>
          <p:cNvCxnSpPr/>
          <p:nvPr/>
        </p:nvCxnSpPr>
        <p:spPr>
          <a:xfrm>
            <a:off x="7349717" y="3954468"/>
            <a:ext cx="0" cy="62047"/>
          </a:xfrm>
          <a:prstGeom prst="line">
            <a:avLst/>
          </a:prstGeom>
          <a:ln w="13779">
            <a:solidFill>
              <a:srgbClr val="3E41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2A6B9E9D-0B07-A305-38B5-511BC0B7FF7F}"/>
              </a:ext>
            </a:extLst>
          </p:cNvPr>
          <p:cNvSpPr/>
          <p:nvPr/>
        </p:nvSpPr>
        <p:spPr>
          <a:xfrm>
            <a:off x="7327768" y="3914396"/>
            <a:ext cx="43895" cy="43949"/>
          </a:xfrm>
          <a:prstGeom prst="ellipse">
            <a:avLst/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18" name="Rounded Rectangle 113">
            <a:extLst>
              <a:ext uri="{FF2B5EF4-FFF2-40B4-BE49-F238E27FC236}">
                <a16:creationId xmlns:a16="http://schemas.microsoft.com/office/drawing/2014/main" id="{91250522-B1FF-CDF5-D28D-FC39D6CD605E}"/>
              </a:ext>
            </a:extLst>
          </p:cNvPr>
          <p:cNvSpPr/>
          <p:nvPr/>
        </p:nvSpPr>
        <p:spPr>
          <a:xfrm>
            <a:off x="7199955" y="4016515"/>
            <a:ext cx="299523" cy="227505"/>
          </a:xfrm>
          <a:prstGeom prst="roundRect">
            <a:avLst>
              <a:gd name="adj" fmla="val 28000"/>
            </a:avLst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BBCA01E8-3C49-7A3F-1044-B169F9A3A465}"/>
              </a:ext>
            </a:extLst>
          </p:cNvPr>
          <p:cNvSpPr/>
          <p:nvPr/>
        </p:nvSpPr>
        <p:spPr>
          <a:xfrm>
            <a:off x="7267089" y="4078562"/>
            <a:ext cx="54224" cy="542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E3DE12E-CE88-7C38-A507-4BD294EBA233}"/>
              </a:ext>
            </a:extLst>
          </p:cNvPr>
          <p:cNvSpPr/>
          <p:nvPr/>
        </p:nvSpPr>
        <p:spPr>
          <a:xfrm>
            <a:off x="7378120" y="4078562"/>
            <a:ext cx="54224" cy="542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21" name="Rounded Rectangle 116">
            <a:extLst>
              <a:ext uri="{FF2B5EF4-FFF2-40B4-BE49-F238E27FC236}">
                <a16:creationId xmlns:a16="http://schemas.microsoft.com/office/drawing/2014/main" id="{3E1C3601-90F3-151A-E2CB-3B907593CE8C}"/>
              </a:ext>
            </a:extLst>
          </p:cNvPr>
          <p:cNvSpPr/>
          <p:nvPr/>
        </p:nvSpPr>
        <p:spPr>
          <a:xfrm>
            <a:off x="7300656" y="4171632"/>
            <a:ext cx="98119" cy="284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22" name="TextBox 117">
            <a:extLst>
              <a:ext uri="{FF2B5EF4-FFF2-40B4-BE49-F238E27FC236}">
                <a16:creationId xmlns:a16="http://schemas.microsoft.com/office/drawing/2014/main" id="{CA29E921-44AD-2C9A-53E7-B562DC945FC8}"/>
              </a:ext>
            </a:extLst>
          </p:cNvPr>
          <p:cNvSpPr txBox="1"/>
          <p:nvPr/>
        </p:nvSpPr>
        <p:spPr>
          <a:xfrm>
            <a:off x="7544359" y="3992714"/>
            <a:ext cx="85792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err="1">
                <a:solidFill>
                  <a:srgbClr val="3E4148"/>
                </a:solidFill>
                <a:latin typeface="Albert Sans Black" pitchFamily="2" charset="77"/>
              </a:rPr>
              <a:t>Communi</a:t>
            </a:r>
            <a:r>
              <a:rPr lang="de-DE" sz="1100" b="1">
                <a:solidFill>
                  <a:srgbClr val="3E4148"/>
                </a:solidFill>
                <a:latin typeface="Albert Sans Black" pitchFamily="2" charset="77"/>
              </a:rPr>
              <a:t>-</a:t>
            </a:r>
            <a:r>
              <a:rPr sz="1100" b="1" err="1">
                <a:solidFill>
                  <a:srgbClr val="3E4148"/>
                </a:solidFill>
                <a:latin typeface="Albert Sans Black" pitchFamily="2" charset="77"/>
              </a:rPr>
              <a:t>cato</a:t>
            </a:r>
            <a:r>
              <a:rPr lang="de-DE" sz="1100" b="1" err="1">
                <a:solidFill>
                  <a:srgbClr val="3E4148"/>
                </a:solidFill>
                <a:latin typeface="Albert Sans Black" pitchFamily="2" charset="77"/>
              </a:rPr>
              <a:t>r</a:t>
            </a:r>
            <a:r>
              <a:rPr lang="de-DE" sz="1100" b="1">
                <a:solidFill>
                  <a:srgbClr val="3E4148"/>
                </a:solidFill>
                <a:latin typeface="Albert Sans Black" pitchFamily="2" charset="77"/>
              </a:rPr>
              <a:t> </a:t>
            </a:r>
            <a:r>
              <a:rPr sz="1100" b="1">
                <a:solidFill>
                  <a:srgbClr val="3E4148"/>
                </a:solidFill>
                <a:latin typeface="Albert Sans Black" pitchFamily="2" charset="77"/>
              </a:rPr>
              <a:t>Agent</a:t>
            </a:r>
          </a:p>
        </p:txBody>
      </p:sp>
      <p:sp>
        <p:nvSpPr>
          <p:cNvPr id="123" name="Diamond 119">
            <a:extLst>
              <a:ext uri="{FF2B5EF4-FFF2-40B4-BE49-F238E27FC236}">
                <a16:creationId xmlns:a16="http://schemas.microsoft.com/office/drawing/2014/main" id="{1CF26CFB-100D-3659-2EAE-188E1AA44DA7}"/>
              </a:ext>
            </a:extLst>
          </p:cNvPr>
          <p:cNvSpPr/>
          <p:nvPr/>
        </p:nvSpPr>
        <p:spPr>
          <a:xfrm>
            <a:off x="7720539" y="4479363"/>
            <a:ext cx="108281" cy="111600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B99F277A-85F0-4E7A-3F8B-77E0D7B0CB31}"/>
              </a:ext>
            </a:extLst>
          </p:cNvPr>
          <p:cNvSpPr/>
          <p:nvPr/>
        </p:nvSpPr>
        <p:spPr>
          <a:xfrm>
            <a:off x="7537012" y="5184063"/>
            <a:ext cx="549736" cy="551597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9CD2742B-59EF-4C00-6928-9BF591EC76C4}"/>
              </a:ext>
            </a:extLst>
          </p:cNvPr>
          <p:cNvSpPr/>
          <p:nvPr/>
        </p:nvSpPr>
        <p:spPr>
          <a:xfrm>
            <a:off x="7789363" y="5151457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pic>
        <p:nvPicPr>
          <p:cNvPr id="126" name="Picture 175" descr="outlook.png">
            <a:extLst>
              <a:ext uri="{FF2B5EF4-FFF2-40B4-BE49-F238E27FC236}">
                <a16:creationId xmlns:a16="http://schemas.microsoft.com/office/drawing/2014/main" id="{59FD6227-4644-806C-094A-E39CFB9585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6941" y="5342776"/>
            <a:ext cx="254827" cy="237600"/>
          </a:xfrm>
          <a:prstGeom prst="rect">
            <a:avLst/>
          </a:prstGeom>
        </p:spPr>
      </p:pic>
      <p:sp>
        <p:nvSpPr>
          <p:cNvPr id="127" name="TextBox 176">
            <a:extLst>
              <a:ext uri="{FF2B5EF4-FFF2-40B4-BE49-F238E27FC236}">
                <a16:creationId xmlns:a16="http://schemas.microsoft.com/office/drawing/2014/main" id="{4D9C11FE-A3B2-9A81-6300-518DE94C8901}"/>
              </a:ext>
            </a:extLst>
          </p:cNvPr>
          <p:cNvSpPr txBox="1"/>
          <p:nvPr/>
        </p:nvSpPr>
        <p:spPr>
          <a:xfrm>
            <a:off x="7394407" y="5784517"/>
            <a:ext cx="916227" cy="11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dirty="0">
                <a:solidFill>
                  <a:srgbClr val="3E4148"/>
                </a:solidFill>
                <a:latin typeface="Albert Sans Medium" pitchFamily="2" charset="77"/>
              </a:rPr>
              <a:t>Outlook Mail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0F93423F-95FE-C90B-4A56-D3E6160FEA2A}"/>
              </a:ext>
            </a:extLst>
          </p:cNvPr>
          <p:cNvGrpSpPr>
            <a:grpSpLocks noChangeAspect="1"/>
          </p:cNvGrpSpPr>
          <p:nvPr/>
        </p:nvGrpSpPr>
        <p:grpSpPr>
          <a:xfrm>
            <a:off x="4625068" y="1118254"/>
            <a:ext cx="550917" cy="551597"/>
            <a:chOff x="4583430" y="835532"/>
            <a:chExt cx="658368" cy="658368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AE8DAC7-6A09-C1F5-11ED-DE801F3C04BA}"/>
                </a:ext>
              </a:extLst>
            </p:cNvPr>
            <p:cNvSpPr/>
            <p:nvPr/>
          </p:nvSpPr>
          <p:spPr>
            <a:xfrm>
              <a:off x="4583430" y="835532"/>
              <a:ext cx="658368" cy="658368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  <p:pic>
          <p:nvPicPr>
            <p:cNvPr id="111" name="Picture 83" descr="sqlite.png">
              <a:extLst>
                <a:ext uri="{FF2B5EF4-FFF2-40B4-BE49-F238E27FC236}">
                  <a16:creationId xmlns:a16="http://schemas.microsoft.com/office/drawing/2014/main" id="{3817A1B9-9D23-0CC9-2036-A747BDC9C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84014" y="1056369"/>
              <a:ext cx="457200" cy="216693"/>
            </a:xfrm>
            <a:prstGeom prst="rect">
              <a:avLst/>
            </a:prstGeom>
          </p:spPr>
        </p:pic>
      </p:grpSp>
      <p:sp>
        <p:nvSpPr>
          <p:cNvPr id="38" name="TextBox 85">
            <a:extLst>
              <a:ext uri="{FF2B5EF4-FFF2-40B4-BE49-F238E27FC236}">
                <a16:creationId xmlns:a16="http://schemas.microsoft.com/office/drawing/2014/main" id="{CEF4819F-6FA0-DB9F-C81A-316D34A933FF}"/>
              </a:ext>
            </a:extLst>
          </p:cNvPr>
          <p:cNvSpPr txBox="1"/>
          <p:nvPr/>
        </p:nvSpPr>
        <p:spPr>
          <a:xfrm>
            <a:off x="4862009" y="1299482"/>
            <a:ext cx="13326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3E4148"/>
                </a:solidFill>
                <a:latin typeface="Albert Sans Medium" pitchFamily="2" charset="77"/>
              </a:rPr>
              <a:t>Memory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058E070-8C15-B621-C039-24BBAC6760D5}"/>
              </a:ext>
            </a:extLst>
          </p:cNvPr>
          <p:cNvSpPr/>
          <p:nvPr/>
        </p:nvSpPr>
        <p:spPr>
          <a:xfrm>
            <a:off x="4720964" y="1605148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40" name="Connector 9">
            <a:extLst>
              <a:ext uri="{FF2B5EF4-FFF2-40B4-BE49-F238E27FC236}">
                <a16:creationId xmlns:a16="http://schemas.microsoft.com/office/drawing/2014/main" id="{6C75114E-6FA6-3765-4DBF-F663DE602C27}"/>
              </a:ext>
            </a:extLst>
          </p:cNvPr>
          <p:cNvCxnSpPr>
            <a:cxnSpLocks/>
            <a:stCxn id="23" idx="6"/>
            <a:endCxn id="74" idx="1"/>
          </p:cNvCxnSpPr>
          <p:nvPr/>
        </p:nvCxnSpPr>
        <p:spPr>
          <a:xfrm flipV="1">
            <a:off x="3963811" y="4005860"/>
            <a:ext cx="668015" cy="3531"/>
          </a:xfrm>
          <a:prstGeom prst="curvedConnector3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16">
            <a:extLst>
              <a:ext uri="{FF2B5EF4-FFF2-40B4-BE49-F238E27FC236}">
                <a16:creationId xmlns:a16="http://schemas.microsoft.com/office/drawing/2014/main" id="{2EB321F7-A705-2DF5-A11F-3ECEBE697C16}"/>
              </a:ext>
            </a:extLst>
          </p:cNvPr>
          <p:cNvCxnSpPr>
            <a:cxnSpLocks/>
            <a:stCxn id="186" idx="2"/>
            <a:endCxn id="203" idx="7"/>
          </p:cNvCxnSpPr>
          <p:nvPr/>
        </p:nvCxnSpPr>
        <p:spPr>
          <a:xfrm>
            <a:off x="5206965" y="3246933"/>
            <a:ext cx="4635861" cy="45946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9">
            <a:extLst>
              <a:ext uri="{FF2B5EF4-FFF2-40B4-BE49-F238E27FC236}">
                <a16:creationId xmlns:a16="http://schemas.microsoft.com/office/drawing/2014/main" id="{3AFCA659-E134-0425-A5C8-BDFA6AB676B2}"/>
              </a:ext>
            </a:extLst>
          </p:cNvPr>
          <p:cNvCxnSpPr>
            <a:cxnSpLocks/>
            <a:stCxn id="174" idx="3"/>
            <a:endCxn id="109" idx="1"/>
          </p:cNvCxnSpPr>
          <p:nvPr/>
        </p:nvCxnSpPr>
        <p:spPr>
          <a:xfrm flipV="1">
            <a:off x="5456845" y="2004080"/>
            <a:ext cx="3468164" cy="550665"/>
          </a:xfrm>
          <a:prstGeom prst="curvedConnector3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74E09C4D-6A8B-6CA7-8084-5EB2ADECAA75}"/>
              </a:ext>
            </a:extLst>
          </p:cNvPr>
          <p:cNvGrpSpPr>
            <a:grpSpLocks noChangeAspect="1"/>
          </p:cNvGrpSpPr>
          <p:nvPr/>
        </p:nvGrpSpPr>
        <p:grpSpPr>
          <a:xfrm>
            <a:off x="8925010" y="1615449"/>
            <a:ext cx="865022" cy="843812"/>
            <a:chOff x="9293771" y="657253"/>
            <a:chExt cx="1051166" cy="1024128"/>
          </a:xfrm>
        </p:grpSpPr>
        <p:pic>
          <p:nvPicPr>
            <p:cNvPr id="107" name="Picture 29" descr="trigger_node.png">
              <a:extLst>
                <a:ext uri="{FF2B5EF4-FFF2-40B4-BE49-F238E27FC236}">
                  <a16:creationId xmlns:a16="http://schemas.microsoft.com/office/drawing/2014/main" id="{FECDF220-8CC1-753C-1471-20698AA02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9320809" y="657253"/>
              <a:ext cx="1024128" cy="1024128"/>
            </a:xfrm>
            <a:prstGeom prst="rect">
              <a:avLst/>
            </a:prstGeom>
            <a:effectLst>
              <a:outerShdw blurRad="50000" dist="18000" dir="5400000" rotWithShape="0">
                <a:srgbClr val="16181D">
                  <a:alpha val="9000"/>
                </a:srgbClr>
              </a:outerShdw>
            </a:effectLst>
          </p:spPr>
        </p:pic>
        <p:pic>
          <p:nvPicPr>
            <p:cNvPr id="108" name="Picture 66" descr="whatsapp.png">
              <a:extLst>
                <a:ext uri="{FF2B5EF4-FFF2-40B4-BE49-F238E27FC236}">
                  <a16:creationId xmlns:a16="http://schemas.microsoft.com/office/drawing/2014/main" id="{2BC2A743-F9AA-90F4-06A0-FEF711ECE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18776" y="866274"/>
              <a:ext cx="604824" cy="606084"/>
            </a:xfrm>
            <a:prstGeom prst="rect">
              <a:avLst/>
            </a:prstGeom>
          </p:spPr>
        </p:pic>
        <p:sp>
          <p:nvSpPr>
            <p:cNvPr id="109" name="Rounded Rectangle 74">
              <a:extLst>
                <a:ext uri="{FF2B5EF4-FFF2-40B4-BE49-F238E27FC236}">
                  <a16:creationId xmlns:a16="http://schemas.microsoft.com/office/drawing/2014/main" id="{F1B59E98-41C3-8A69-6B91-FEE9F32E009C}"/>
                </a:ext>
              </a:extLst>
            </p:cNvPr>
            <p:cNvSpPr/>
            <p:nvPr/>
          </p:nvSpPr>
          <p:spPr>
            <a:xfrm>
              <a:off x="9293771" y="1055779"/>
              <a:ext cx="50292" cy="146304"/>
            </a:xfrm>
            <a:prstGeom prst="roundRect">
              <a:avLst>
                <a:gd name="adj" fmla="val 50000"/>
              </a:avLst>
            </a:prstGeom>
            <a:solidFill>
              <a:srgbClr val="8F93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cxnSp>
        <p:nvCxnSpPr>
          <p:cNvPr id="78" name="Connector 9">
            <a:extLst>
              <a:ext uri="{FF2B5EF4-FFF2-40B4-BE49-F238E27FC236}">
                <a16:creationId xmlns:a16="http://schemas.microsoft.com/office/drawing/2014/main" id="{CD7ABB4D-FC76-E8A2-34AA-E1820107F0AF}"/>
              </a:ext>
            </a:extLst>
          </p:cNvPr>
          <p:cNvCxnSpPr>
            <a:cxnSpLocks/>
            <a:stCxn id="79" idx="6"/>
            <a:endCxn id="173" idx="1"/>
          </p:cNvCxnSpPr>
          <p:nvPr/>
        </p:nvCxnSpPr>
        <p:spPr>
          <a:xfrm>
            <a:off x="5489338" y="2547863"/>
            <a:ext cx="3435672" cy="432629"/>
          </a:xfrm>
          <a:prstGeom prst="curvedConnector3">
            <a:avLst/>
          </a:prstGeom>
          <a:ln w="17780">
            <a:solidFill>
              <a:srgbClr val="A9A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78A19F76-1FDA-9D95-5F98-FD8CC880E4A7}"/>
              </a:ext>
            </a:extLst>
          </p:cNvPr>
          <p:cNvSpPr/>
          <p:nvPr/>
        </p:nvSpPr>
        <p:spPr>
          <a:xfrm>
            <a:off x="5414374" y="2510335"/>
            <a:ext cx="74964" cy="7505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0DD6BB27-F0F7-F967-2794-2DB98E62AD8F}"/>
              </a:ext>
            </a:extLst>
          </p:cNvPr>
          <p:cNvGrpSpPr/>
          <p:nvPr/>
        </p:nvGrpSpPr>
        <p:grpSpPr>
          <a:xfrm>
            <a:off x="722022" y="4469620"/>
            <a:ext cx="602308" cy="485980"/>
            <a:chOff x="288484" y="4618738"/>
            <a:chExt cx="661218" cy="532854"/>
          </a:xfrm>
        </p:grpSpPr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3E30517F-092E-A5FE-34F5-56E2455FE7CF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24B0365-DA17-3A61-FFED-A6477A0F1312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106" name="Picture 78" descr="claude.png">
                <a:extLst>
                  <a:ext uri="{FF2B5EF4-FFF2-40B4-BE49-F238E27FC236}">
                    <a16:creationId xmlns:a16="http://schemas.microsoft.com/office/drawing/2014/main" id="{1573E4AB-6A6C-66DF-24BE-FFEB45A754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103" name="Connector 11">
              <a:extLst>
                <a:ext uri="{FF2B5EF4-FFF2-40B4-BE49-F238E27FC236}">
                  <a16:creationId xmlns:a16="http://schemas.microsoft.com/office/drawing/2014/main" id="{53A3E720-6CAD-9824-77CD-6C876DD07245}"/>
                </a:ext>
              </a:extLst>
            </p:cNvPr>
            <p:cNvCxnSpPr>
              <a:cxnSpLocks/>
              <a:stCxn id="105" idx="7"/>
              <a:endCxn id="104" idx="2"/>
            </p:cNvCxnSpPr>
            <p:nvPr/>
          </p:nvCxnSpPr>
          <p:spPr>
            <a:xfrm flipV="1">
              <a:off x="640354" y="4741102"/>
              <a:ext cx="248166" cy="58620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Diamond 49">
              <a:extLst>
                <a:ext uri="{FF2B5EF4-FFF2-40B4-BE49-F238E27FC236}">
                  <a16:creationId xmlns:a16="http://schemas.microsoft.com/office/drawing/2014/main" id="{67CFD75C-50BB-B032-E880-4CE92C97D6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338" y="4618738"/>
              <a:ext cx="122364" cy="122364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cxnSp>
        <p:nvCxnSpPr>
          <p:cNvPr id="42" name="Connector 21">
            <a:extLst>
              <a:ext uri="{FF2B5EF4-FFF2-40B4-BE49-F238E27FC236}">
                <a16:creationId xmlns:a16="http://schemas.microsoft.com/office/drawing/2014/main" id="{634CC951-EE98-9133-8E53-EE03D9095FCC}"/>
              </a:ext>
            </a:extLst>
          </p:cNvPr>
          <p:cNvCxnSpPr>
            <a:cxnSpLocks/>
            <a:stCxn id="54" idx="2"/>
            <a:endCxn id="64" idx="7"/>
          </p:cNvCxnSpPr>
          <p:nvPr/>
        </p:nvCxnSpPr>
        <p:spPr>
          <a:xfrm flipH="1">
            <a:off x="4391015" y="4590858"/>
            <a:ext cx="963298" cy="57564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2">
            <a:extLst>
              <a:ext uri="{FF2B5EF4-FFF2-40B4-BE49-F238E27FC236}">
                <a16:creationId xmlns:a16="http://schemas.microsoft.com/office/drawing/2014/main" id="{3F1FA1DA-487B-3339-772D-F37A1EB01F26}"/>
              </a:ext>
            </a:extLst>
          </p:cNvPr>
          <p:cNvCxnSpPr>
            <a:cxnSpLocks/>
            <a:stCxn id="54" idx="2"/>
            <a:endCxn id="60" idx="7"/>
          </p:cNvCxnSpPr>
          <p:nvPr/>
        </p:nvCxnSpPr>
        <p:spPr>
          <a:xfrm flipH="1">
            <a:off x="5068488" y="4590858"/>
            <a:ext cx="285825" cy="57564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3">
            <a:extLst>
              <a:ext uri="{FF2B5EF4-FFF2-40B4-BE49-F238E27FC236}">
                <a16:creationId xmlns:a16="http://schemas.microsoft.com/office/drawing/2014/main" id="{5E5C0486-D57B-B467-186C-6CABC56546F3}"/>
              </a:ext>
            </a:extLst>
          </p:cNvPr>
          <p:cNvCxnSpPr>
            <a:cxnSpLocks/>
            <a:stCxn id="54" idx="2"/>
            <a:endCxn id="68" idx="6"/>
          </p:cNvCxnSpPr>
          <p:nvPr/>
        </p:nvCxnSpPr>
        <p:spPr>
          <a:xfrm>
            <a:off x="5354313" y="4590858"/>
            <a:ext cx="406552" cy="596284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98">
            <a:extLst>
              <a:ext uri="{FF2B5EF4-FFF2-40B4-BE49-F238E27FC236}">
                <a16:creationId xmlns:a16="http://schemas.microsoft.com/office/drawing/2014/main" id="{2CCCC18B-CDD8-4DEE-8537-25D3036BF89A}"/>
              </a:ext>
            </a:extLst>
          </p:cNvPr>
          <p:cNvSpPr/>
          <p:nvPr/>
        </p:nvSpPr>
        <p:spPr>
          <a:xfrm>
            <a:off x="4662978" y="3744387"/>
            <a:ext cx="1382671" cy="792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0E2E7"/>
            </a:solidFill>
          </a:ln>
          <a:effectLst>
            <a:outerShdw blurRad="50000" dist="18000" dir="5400000" rotWithShape="0">
              <a:srgbClr val="16181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94C7A68-0BB3-0D47-6BC6-80CAB70B92E4}"/>
              </a:ext>
            </a:extLst>
          </p:cNvPr>
          <p:cNvSpPr/>
          <p:nvPr/>
        </p:nvSpPr>
        <p:spPr>
          <a:xfrm>
            <a:off x="5325161" y="3715199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47" name="Connector 100">
            <a:extLst>
              <a:ext uri="{FF2B5EF4-FFF2-40B4-BE49-F238E27FC236}">
                <a16:creationId xmlns:a16="http://schemas.microsoft.com/office/drawing/2014/main" id="{F9286B9E-D171-001D-CAE4-5A7C4144AF8D}"/>
              </a:ext>
            </a:extLst>
          </p:cNvPr>
          <p:cNvCxnSpPr/>
          <p:nvPr/>
        </p:nvCxnSpPr>
        <p:spPr>
          <a:xfrm>
            <a:off x="4929351" y="3957547"/>
            <a:ext cx="0" cy="62046"/>
          </a:xfrm>
          <a:prstGeom prst="line">
            <a:avLst/>
          </a:prstGeom>
          <a:ln w="13779">
            <a:solidFill>
              <a:srgbClr val="3E41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616CDBC-1528-4758-E1F9-B9E4444277E0}"/>
              </a:ext>
            </a:extLst>
          </p:cNvPr>
          <p:cNvSpPr/>
          <p:nvPr/>
        </p:nvSpPr>
        <p:spPr>
          <a:xfrm>
            <a:off x="4907403" y="3917476"/>
            <a:ext cx="43895" cy="43949"/>
          </a:xfrm>
          <a:prstGeom prst="ellipse">
            <a:avLst/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49" name="Rounded Rectangle 102">
            <a:extLst>
              <a:ext uri="{FF2B5EF4-FFF2-40B4-BE49-F238E27FC236}">
                <a16:creationId xmlns:a16="http://schemas.microsoft.com/office/drawing/2014/main" id="{D8C42D6B-7C5A-12C2-3B3C-5E6259EAC70C}"/>
              </a:ext>
            </a:extLst>
          </p:cNvPr>
          <p:cNvSpPr/>
          <p:nvPr/>
        </p:nvSpPr>
        <p:spPr>
          <a:xfrm>
            <a:off x="4779589" y="4019594"/>
            <a:ext cx="299523" cy="227505"/>
          </a:xfrm>
          <a:prstGeom prst="roundRect">
            <a:avLst>
              <a:gd name="adj" fmla="val 28000"/>
            </a:avLst>
          </a:prstGeom>
          <a:solidFill>
            <a:srgbClr val="3E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87983CB-8DEC-AD4D-342C-3DF6A56557EB}"/>
              </a:ext>
            </a:extLst>
          </p:cNvPr>
          <p:cNvSpPr/>
          <p:nvPr/>
        </p:nvSpPr>
        <p:spPr>
          <a:xfrm>
            <a:off x="4846723" y="4081641"/>
            <a:ext cx="54224" cy="542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85B0E1E-F312-ED10-3B98-39FB021760BB}"/>
              </a:ext>
            </a:extLst>
          </p:cNvPr>
          <p:cNvSpPr/>
          <p:nvPr/>
        </p:nvSpPr>
        <p:spPr>
          <a:xfrm>
            <a:off x="4957754" y="4081641"/>
            <a:ext cx="54224" cy="542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2" name="Rounded Rectangle 105">
            <a:extLst>
              <a:ext uri="{FF2B5EF4-FFF2-40B4-BE49-F238E27FC236}">
                <a16:creationId xmlns:a16="http://schemas.microsoft.com/office/drawing/2014/main" id="{3E84518A-F50A-839E-1B68-506A002E69AC}"/>
              </a:ext>
            </a:extLst>
          </p:cNvPr>
          <p:cNvSpPr/>
          <p:nvPr/>
        </p:nvSpPr>
        <p:spPr>
          <a:xfrm>
            <a:off x="4880290" y="4174711"/>
            <a:ext cx="98120" cy="284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3" name="TextBox 106">
            <a:extLst>
              <a:ext uri="{FF2B5EF4-FFF2-40B4-BE49-F238E27FC236}">
                <a16:creationId xmlns:a16="http://schemas.microsoft.com/office/drawing/2014/main" id="{BE1A3A95-F73B-FD9D-A7F1-7039636B0FF9}"/>
              </a:ext>
            </a:extLst>
          </p:cNvPr>
          <p:cNvSpPr txBox="1"/>
          <p:nvPr/>
        </p:nvSpPr>
        <p:spPr>
          <a:xfrm>
            <a:off x="5162739" y="3995027"/>
            <a:ext cx="85792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E4148"/>
                </a:solidFill>
                <a:latin typeface="Albert Sans Black" pitchFamily="2" charset="77"/>
              </a:rPr>
              <a:t>Planner</a:t>
            </a:r>
          </a:p>
          <a:p>
            <a:pPr algn="l"/>
            <a:r>
              <a:rPr sz="1100" b="1">
                <a:solidFill>
                  <a:srgbClr val="3E4148"/>
                </a:solidFill>
                <a:latin typeface="Albert Sans Black" pitchFamily="2" charset="77"/>
              </a:rPr>
              <a:t>Agent</a:t>
            </a:r>
          </a:p>
        </p:txBody>
      </p:sp>
      <p:sp>
        <p:nvSpPr>
          <p:cNvPr id="54" name="Diamond 108">
            <a:extLst>
              <a:ext uri="{FF2B5EF4-FFF2-40B4-BE49-F238E27FC236}">
                <a16:creationId xmlns:a16="http://schemas.microsoft.com/office/drawing/2014/main" id="{A2C1E44E-0842-862C-C58C-C4D587AB5B84}"/>
              </a:ext>
            </a:extLst>
          </p:cNvPr>
          <p:cNvSpPr/>
          <p:nvPr/>
        </p:nvSpPr>
        <p:spPr>
          <a:xfrm>
            <a:off x="5300173" y="4482443"/>
            <a:ext cx="108281" cy="108415"/>
          </a:xfrm>
          <a:prstGeom prst="diamond">
            <a:avLst/>
          </a:prstGeom>
          <a:solidFill>
            <a:srgbClr val="7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562B78C-5458-F611-602A-C2DEE677CF61}"/>
              </a:ext>
            </a:extLst>
          </p:cNvPr>
          <p:cNvSpPr/>
          <p:nvPr/>
        </p:nvSpPr>
        <p:spPr>
          <a:xfrm>
            <a:off x="4090000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pic>
        <p:nvPicPr>
          <p:cNvPr id="56" name="Picture 152" descr="db.png">
            <a:extLst>
              <a:ext uri="{FF2B5EF4-FFF2-40B4-BE49-F238E27FC236}">
                <a16:creationId xmlns:a16="http://schemas.microsoft.com/office/drawing/2014/main" id="{E27E2132-2D94-6C0D-5737-C71C1C41B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269" y="5363107"/>
            <a:ext cx="283198" cy="198483"/>
          </a:xfrm>
          <a:prstGeom prst="rect">
            <a:avLst/>
          </a:prstGeom>
        </p:spPr>
      </p:pic>
      <p:sp>
        <p:nvSpPr>
          <p:cNvPr id="57" name="TextBox 153">
            <a:extLst>
              <a:ext uri="{FF2B5EF4-FFF2-40B4-BE49-F238E27FC236}">
                <a16:creationId xmlns:a16="http://schemas.microsoft.com/office/drawing/2014/main" id="{AB75405B-5C19-8B1D-1FBA-46A602908696}"/>
              </a:ext>
            </a:extLst>
          </p:cNvPr>
          <p:cNvSpPr txBox="1"/>
          <p:nvPr/>
        </p:nvSpPr>
        <p:spPr>
          <a:xfrm>
            <a:off x="3906754" y="5787594"/>
            <a:ext cx="916227" cy="11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3E4148"/>
                </a:solidFill>
                <a:latin typeface="Albert Sans Medium" pitchFamily="2" charset="77"/>
              </a:rPr>
              <a:t>DB Reroutes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A738397-440D-DD10-8156-3C764133FF4A}"/>
              </a:ext>
            </a:extLst>
          </p:cNvPr>
          <p:cNvSpPr/>
          <p:nvPr/>
        </p:nvSpPr>
        <p:spPr>
          <a:xfrm>
            <a:off x="4773005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22146C5-9D96-E894-8D88-B897263AF4C5}"/>
              </a:ext>
            </a:extLst>
          </p:cNvPr>
          <p:cNvSpPr/>
          <p:nvPr/>
        </p:nvSpPr>
        <p:spPr>
          <a:xfrm>
            <a:off x="5018721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1" name="TextBox 158">
            <a:extLst>
              <a:ext uri="{FF2B5EF4-FFF2-40B4-BE49-F238E27FC236}">
                <a16:creationId xmlns:a16="http://schemas.microsoft.com/office/drawing/2014/main" id="{AB8E5795-55FD-48E7-0A5A-C01B5A1BFD3C}"/>
              </a:ext>
            </a:extLst>
          </p:cNvPr>
          <p:cNvSpPr txBox="1"/>
          <p:nvPr/>
        </p:nvSpPr>
        <p:spPr>
          <a:xfrm>
            <a:off x="4589760" y="5787594"/>
            <a:ext cx="916227" cy="11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3E4148"/>
                </a:solidFill>
                <a:latin typeface="Albert Sans Medium" pitchFamily="2" charset="77"/>
              </a:rPr>
              <a:t>Calendar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CA78CB9-CE9A-51A7-9719-4ECB6FDA4642}"/>
              </a:ext>
            </a:extLst>
          </p:cNvPr>
          <p:cNvSpPr/>
          <p:nvPr/>
        </p:nvSpPr>
        <p:spPr>
          <a:xfrm>
            <a:off x="4341248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D02595C-2384-0866-581A-3ECA143DB165}"/>
              </a:ext>
            </a:extLst>
          </p:cNvPr>
          <p:cNvSpPr/>
          <p:nvPr/>
        </p:nvSpPr>
        <p:spPr>
          <a:xfrm>
            <a:off x="5456845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EEAB9F0-099F-30E0-C5E3-DD88DED4121F}"/>
              </a:ext>
            </a:extLst>
          </p:cNvPr>
          <p:cNvSpPr/>
          <p:nvPr/>
        </p:nvSpPr>
        <p:spPr>
          <a:xfrm>
            <a:off x="5702560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73" name="TextBox 171">
            <a:extLst>
              <a:ext uri="{FF2B5EF4-FFF2-40B4-BE49-F238E27FC236}">
                <a16:creationId xmlns:a16="http://schemas.microsoft.com/office/drawing/2014/main" id="{FEE67B6C-A901-1F61-C7BC-23C49F59EF49}"/>
              </a:ext>
            </a:extLst>
          </p:cNvPr>
          <p:cNvSpPr txBox="1"/>
          <p:nvPr/>
        </p:nvSpPr>
        <p:spPr>
          <a:xfrm>
            <a:off x="5273599" y="5787594"/>
            <a:ext cx="916227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de-DE" sz="800" b="0">
                <a:solidFill>
                  <a:srgbClr val="3E4148"/>
                </a:solidFill>
                <a:latin typeface="Albert Sans Medium" pitchFamily="2" charset="77"/>
              </a:rPr>
              <a:t>Train Alternatives</a:t>
            </a:r>
            <a:endParaRPr sz="800" b="0">
              <a:solidFill>
                <a:srgbClr val="3E4148"/>
              </a:solidFill>
              <a:latin typeface="Albert Sans Medium" pitchFamily="2" charset="77"/>
            </a:endParaRPr>
          </a:p>
        </p:txBody>
      </p:sp>
      <p:sp>
        <p:nvSpPr>
          <p:cNvPr id="74" name="Rounded Rectangle 67">
            <a:extLst>
              <a:ext uri="{FF2B5EF4-FFF2-40B4-BE49-F238E27FC236}">
                <a16:creationId xmlns:a16="http://schemas.microsoft.com/office/drawing/2014/main" id="{99970DB1-57BF-CE1D-519B-8AA7DF20D066}"/>
              </a:ext>
            </a:extLst>
          </p:cNvPr>
          <p:cNvSpPr/>
          <p:nvPr/>
        </p:nvSpPr>
        <p:spPr>
          <a:xfrm>
            <a:off x="4631826" y="3939143"/>
            <a:ext cx="45812" cy="133434"/>
          </a:xfrm>
          <a:prstGeom prst="roundRect">
            <a:avLst>
              <a:gd name="adj" fmla="val 50000"/>
            </a:avLst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pic>
        <p:nvPicPr>
          <p:cNvPr id="80" name="Grafik 79" descr="Outlook Calendar color icon in PNG, SVG">
            <a:extLst>
              <a:ext uri="{FF2B5EF4-FFF2-40B4-BE49-F238E27FC236}">
                <a16:creationId xmlns:a16="http://schemas.microsoft.com/office/drawing/2014/main" id="{9BC8BBBD-A4EF-8CA8-B189-B9F4645D3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900127" y="5305593"/>
            <a:ext cx="291241" cy="291600"/>
          </a:xfrm>
          <a:prstGeom prst="rect">
            <a:avLst/>
          </a:prstGeom>
        </p:spPr>
      </p:pic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72AC069D-2332-30DB-DAED-D918259A6969}"/>
              </a:ext>
            </a:extLst>
          </p:cNvPr>
          <p:cNvGrpSpPr/>
          <p:nvPr/>
        </p:nvGrpSpPr>
        <p:grpSpPr>
          <a:xfrm>
            <a:off x="4296218" y="4474565"/>
            <a:ext cx="602445" cy="481036"/>
            <a:chOff x="288484" y="4624159"/>
            <a:chExt cx="661368" cy="527433"/>
          </a:xfrm>
        </p:grpSpPr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38B77789-BB24-BDDC-5B09-FA9B30172E4B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1DE12048-CA8C-6032-91B5-EBF00DA4586E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101" name="Picture 78" descr="claude.png">
                <a:extLst>
                  <a:ext uri="{FF2B5EF4-FFF2-40B4-BE49-F238E27FC236}">
                    <a16:creationId xmlns:a16="http://schemas.microsoft.com/office/drawing/2014/main" id="{6092E616-A945-877A-BE51-70AB001A8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98" name="Connector 11">
              <a:extLst>
                <a:ext uri="{FF2B5EF4-FFF2-40B4-BE49-F238E27FC236}">
                  <a16:creationId xmlns:a16="http://schemas.microsoft.com/office/drawing/2014/main" id="{882F64A6-768C-6696-43C3-CB167306EC0A}"/>
                </a:ext>
              </a:extLst>
            </p:cNvPr>
            <p:cNvCxnSpPr>
              <a:cxnSpLocks/>
              <a:stCxn id="100" idx="7"/>
              <a:endCxn id="99" idx="2"/>
            </p:cNvCxnSpPr>
            <p:nvPr/>
          </p:nvCxnSpPr>
          <p:spPr>
            <a:xfrm flipV="1">
              <a:off x="640354" y="4746674"/>
              <a:ext cx="248240" cy="53047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Diamond 49">
              <a:extLst>
                <a:ext uri="{FF2B5EF4-FFF2-40B4-BE49-F238E27FC236}">
                  <a16:creationId xmlns:a16="http://schemas.microsoft.com/office/drawing/2014/main" id="{847711B2-57E3-34E0-6E1E-A63D671C2D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337" y="4624159"/>
              <a:ext cx="122515" cy="122515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4ABA6DAA-F968-ECFA-7F9F-06177A59A5E8}"/>
              </a:ext>
            </a:extLst>
          </p:cNvPr>
          <p:cNvGrpSpPr/>
          <p:nvPr/>
        </p:nvGrpSpPr>
        <p:grpSpPr>
          <a:xfrm>
            <a:off x="6735225" y="4474565"/>
            <a:ext cx="607251" cy="481037"/>
            <a:chOff x="288484" y="4624158"/>
            <a:chExt cx="666644" cy="527434"/>
          </a:xfrm>
        </p:grpSpPr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F9C38141-480C-8517-6434-D97C4848F97F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B93AA95-18F4-CA18-ED1A-9374B9E7C98B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96" name="Picture 78" descr="claude.png">
                <a:extLst>
                  <a:ext uri="{FF2B5EF4-FFF2-40B4-BE49-F238E27FC236}">
                    <a16:creationId xmlns:a16="http://schemas.microsoft.com/office/drawing/2014/main" id="{13F30BC6-CAFA-E586-45E4-E2FE0635F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93" name="Connector 11">
              <a:extLst>
                <a:ext uri="{FF2B5EF4-FFF2-40B4-BE49-F238E27FC236}">
                  <a16:creationId xmlns:a16="http://schemas.microsoft.com/office/drawing/2014/main" id="{B66B3B40-F3DC-FABE-28B3-FC0E564D4D9B}"/>
                </a:ext>
              </a:extLst>
            </p:cNvPr>
            <p:cNvCxnSpPr>
              <a:cxnSpLocks/>
              <a:stCxn id="95" idx="7"/>
              <a:endCxn id="94" idx="2"/>
            </p:cNvCxnSpPr>
            <p:nvPr/>
          </p:nvCxnSpPr>
          <p:spPr>
            <a:xfrm flipV="1">
              <a:off x="640354" y="4746522"/>
              <a:ext cx="253592" cy="53200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Diamond 49">
              <a:extLst>
                <a:ext uri="{FF2B5EF4-FFF2-40B4-BE49-F238E27FC236}">
                  <a16:creationId xmlns:a16="http://schemas.microsoft.com/office/drawing/2014/main" id="{8B91AEB0-51E9-7B1E-418E-B2024B3019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2764" y="4624158"/>
              <a:ext cx="122364" cy="122364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1DFB5699-3E6C-BACF-924C-7443541A30F8}"/>
              </a:ext>
            </a:extLst>
          </p:cNvPr>
          <p:cNvGrpSpPr/>
          <p:nvPr/>
        </p:nvGrpSpPr>
        <p:grpSpPr>
          <a:xfrm>
            <a:off x="8807942" y="4459730"/>
            <a:ext cx="602308" cy="495866"/>
            <a:chOff x="288484" y="4607898"/>
            <a:chExt cx="661217" cy="543694"/>
          </a:xfrm>
        </p:grpSpPr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0EC13C2E-3DE5-76C6-94EE-A062F2812195}"/>
                </a:ext>
              </a:extLst>
            </p:cNvPr>
            <p:cNvGrpSpPr/>
            <p:nvPr/>
          </p:nvGrpSpPr>
          <p:grpSpPr>
            <a:xfrm>
              <a:off x="288484" y="4739350"/>
              <a:ext cx="412242" cy="412242"/>
              <a:chOff x="3435096" y="961644"/>
              <a:chExt cx="713232" cy="713232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DA1AA27F-E85D-4408-6EC9-45D6784E4172}"/>
                  </a:ext>
                </a:extLst>
              </p:cNvPr>
              <p:cNvSpPr/>
              <p:nvPr/>
            </p:nvSpPr>
            <p:spPr>
              <a:xfrm>
                <a:off x="3435096" y="961644"/>
                <a:ext cx="713232" cy="713232"/>
              </a:xfrm>
              <a:prstGeom prst="ellipse">
                <a:avLst/>
              </a:prstGeom>
              <a:solidFill>
                <a:srgbClr val="F0F1F3"/>
              </a:solidFill>
              <a:ln w="15875">
                <a:solidFill>
                  <a:srgbClr val="DBDDE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>
                  <a:latin typeface="Albert Sans Medium" pitchFamily="2" charset="77"/>
                </a:endParaRPr>
              </a:p>
            </p:txBody>
          </p:sp>
          <p:pic>
            <p:nvPicPr>
              <p:cNvPr id="91" name="Picture 78" descr="claude.png">
                <a:extLst>
                  <a:ext uri="{FF2B5EF4-FFF2-40B4-BE49-F238E27FC236}">
                    <a16:creationId xmlns:a16="http://schemas.microsoft.com/office/drawing/2014/main" id="{C6355E83-B7CB-FA1E-F57C-571F5EB7E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0544" y="1117092"/>
                <a:ext cx="402336" cy="402336"/>
              </a:xfrm>
              <a:prstGeom prst="rect">
                <a:avLst/>
              </a:prstGeom>
            </p:spPr>
          </p:pic>
        </p:grpSp>
        <p:cxnSp>
          <p:nvCxnSpPr>
            <p:cNvPr id="88" name="Connector 11">
              <a:extLst>
                <a:ext uri="{FF2B5EF4-FFF2-40B4-BE49-F238E27FC236}">
                  <a16:creationId xmlns:a16="http://schemas.microsoft.com/office/drawing/2014/main" id="{9E613137-E7BF-52D5-360F-E2A14BFBDAD2}"/>
                </a:ext>
              </a:extLst>
            </p:cNvPr>
            <p:cNvCxnSpPr>
              <a:cxnSpLocks/>
              <a:stCxn id="90" idx="7"/>
              <a:endCxn id="89" idx="2"/>
            </p:cNvCxnSpPr>
            <p:nvPr/>
          </p:nvCxnSpPr>
          <p:spPr>
            <a:xfrm flipV="1">
              <a:off x="640355" y="4730262"/>
              <a:ext cx="248164" cy="69459"/>
            </a:xfrm>
            <a:prstGeom prst="line">
              <a:avLst/>
            </a:prstGeom>
            <a:ln w="15240">
              <a:solidFill>
                <a:srgbClr val="A9ADB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Diamond 49">
              <a:extLst>
                <a:ext uri="{FF2B5EF4-FFF2-40B4-BE49-F238E27FC236}">
                  <a16:creationId xmlns:a16="http://schemas.microsoft.com/office/drawing/2014/main" id="{B10D33B4-23E5-B785-A3F5-143A957D60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337" y="4607898"/>
              <a:ext cx="122364" cy="122364"/>
            </a:xfrm>
            <a:prstGeom prst="diamond">
              <a:avLst/>
            </a:prstGeom>
            <a:solidFill>
              <a:srgbClr val="7B7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Albert Sans Medium" pitchFamily="2" charset="77"/>
              </a:endParaRPr>
            </a:p>
          </p:txBody>
        </p:sp>
      </p:grpSp>
      <p:sp>
        <p:nvSpPr>
          <p:cNvPr id="234" name="Oval 233">
            <a:extLst>
              <a:ext uri="{FF2B5EF4-FFF2-40B4-BE49-F238E27FC236}">
                <a16:creationId xmlns:a16="http://schemas.microsoft.com/office/drawing/2014/main" id="{10FA81CE-B98E-E957-9DB4-A6868250F78B}"/>
              </a:ext>
            </a:extLst>
          </p:cNvPr>
          <p:cNvSpPr/>
          <p:nvPr/>
        </p:nvSpPr>
        <p:spPr>
          <a:xfrm>
            <a:off x="6144576" y="5187142"/>
            <a:ext cx="549736" cy="550415"/>
          </a:xfrm>
          <a:prstGeom prst="ellipse">
            <a:avLst/>
          </a:prstGeom>
          <a:solidFill>
            <a:srgbClr val="F0F1F3"/>
          </a:solidFill>
          <a:ln w="15875">
            <a:solidFill>
              <a:srgbClr val="DB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sp>
        <p:nvSpPr>
          <p:cNvPr id="235" name="TextBox 171">
            <a:extLst>
              <a:ext uri="{FF2B5EF4-FFF2-40B4-BE49-F238E27FC236}">
                <a16:creationId xmlns:a16="http://schemas.microsoft.com/office/drawing/2014/main" id="{5464C40F-3CAC-AECD-9CB7-66B3D22050D0}"/>
              </a:ext>
            </a:extLst>
          </p:cNvPr>
          <p:cNvSpPr txBox="1"/>
          <p:nvPr/>
        </p:nvSpPr>
        <p:spPr>
          <a:xfrm>
            <a:off x="6098826" y="5787594"/>
            <a:ext cx="633863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de-DE" sz="800" b="0">
                <a:solidFill>
                  <a:srgbClr val="3E4148"/>
                </a:solidFill>
                <a:latin typeface="Albert Sans Medium" pitchFamily="2" charset="77"/>
              </a:rPr>
              <a:t>Hotels</a:t>
            </a:r>
            <a:endParaRPr sz="800" b="0">
              <a:solidFill>
                <a:srgbClr val="3E4148"/>
              </a:solidFill>
              <a:latin typeface="Albert Sans Medium" pitchFamily="2" charset="77"/>
            </a:endParaRPr>
          </a:p>
        </p:txBody>
      </p:sp>
      <p:pic>
        <p:nvPicPr>
          <p:cNvPr id="241" name="Grafik 240">
            <a:extLst>
              <a:ext uri="{FF2B5EF4-FFF2-40B4-BE49-F238E27FC236}">
                <a16:creationId xmlns:a16="http://schemas.microsoft.com/office/drawing/2014/main" id="{1F1B0390-2D83-6180-FC16-DB54029E5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6970" y="5335807"/>
            <a:ext cx="279263" cy="285733"/>
          </a:xfrm>
          <a:prstGeom prst="rect">
            <a:avLst/>
          </a:prstGeom>
        </p:spPr>
      </p:pic>
      <p:pic>
        <p:nvPicPr>
          <p:cNvPr id="248" name="Grafik 247" descr="Blitz mit einfarbiger Füllung">
            <a:extLst>
              <a:ext uri="{FF2B5EF4-FFF2-40B4-BE49-F238E27FC236}">
                <a16:creationId xmlns:a16="http://schemas.microsoft.com/office/drawing/2014/main" id="{D112321E-FC83-782B-7E86-74BC7BC38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3955" y="2397143"/>
            <a:ext cx="317776" cy="390482"/>
          </a:xfrm>
          <a:prstGeom prst="rect">
            <a:avLst/>
          </a:prstGeom>
        </p:spPr>
      </p:pic>
      <p:pic>
        <p:nvPicPr>
          <p:cNvPr id="251" name="Grafik 250" descr="Reservation Completed Icon SVG Vector &amp; PNG Free Download | UXWing">
            <a:extLst>
              <a:ext uri="{FF2B5EF4-FFF2-40B4-BE49-F238E27FC236}">
                <a16:creationId xmlns:a16="http://schemas.microsoft.com/office/drawing/2014/main" id="{C2613674-BC8B-8E08-422B-3ED7C9FEF0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9008064" y="5316548"/>
            <a:ext cx="299077" cy="291600"/>
          </a:xfrm>
          <a:prstGeom prst="rect">
            <a:avLst/>
          </a:prstGeom>
        </p:spPr>
      </p:pic>
      <p:sp>
        <p:nvSpPr>
          <p:cNvPr id="253" name="Oval 252">
            <a:extLst>
              <a:ext uri="{FF2B5EF4-FFF2-40B4-BE49-F238E27FC236}">
                <a16:creationId xmlns:a16="http://schemas.microsoft.com/office/drawing/2014/main" id="{ADD08D49-E93B-BC42-7396-269DE8E0B5FC}"/>
              </a:ext>
            </a:extLst>
          </p:cNvPr>
          <p:cNvSpPr/>
          <p:nvPr/>
        </p:nvSpPr>
        <p:spPr>
          <a:xfrm>
            <a:off x="6415758" y="5157953"/>
            <a:ext cx="58305" cy="58377"/>
          </a:xfrm>
          <a:prstGeom prst="ellipse">
            <a:avLst/>
          </a:prstGeom>
          <a:solidFill>
            <a:srgbClr val="8F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Albert Sans Medium" pitchFamily="2" charset="77"/>
            </a:endParaRPr>
          </a:p>
        </p:txBody>
      </p:sp>
      <p:cxnSp>
        <p:nvCxnSpPr>
          <p:cNvPr id="254" name="Connector 23">
            <a:extLst>
              <a:ext uri="{FF2B5EF4-FFF2-40B4-BE49-F238E27FC236}">
                <a16:creationId xmlns:a16="http://schemas.microsoft.com/office/drawing/2014/main" id="{2ABA353A-F054-3159-8E16-C1DE84D716D4}"/>
              </a:ext>
            </a:extLst>
          </p:cNvPr>
          <p:cNvCxnSpPr>
            <a:cxnSpLocks/>
            <a:endCxn id="253" idx="1"/>
          </p:cNvCxnSpPr>
          <p:nvPr/>
        </p:nvCxnSpPr>
        <p:spPr>
          <a:xfrm>
            <a:off x="5340235" y="4607842"/>
            <a:ext cx="1084062" cy="558660"/>
          </a:xfrm>
          <a:prstGeom prst="line">
            <a:avLst/>
          </a:prstGeom>
          <a:ln w="15240">
            <a:solidFill>
              <a:srgbClr val="A9AD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Grafik 258" descr="DB Call a Bike – Apps bei Google Play">
            <a:extLst>
              <a:ext uri="{FF2B5EF4-FFF2-40B4-BE49-F238E27FC236}">
                <a16:creationId xmlns:a16="http://schemas.microsoft.com/office/drawing/2014/main" id="{DAC236AB-688C-D2BA-5112-550380BDA4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70400" y="1803400"/>
            <a:ext cx="0" cy="0"/>
          </a:xfrm>
          <a:prstGeom prst="rect">
            <a:avLst/>
          </a:prstGeom>
        </p:spPr>
      </p:pic>
      <p:grpSp>
        <p:nvGrpSpPr>
          <p:cNvPr id="263" name="Gruppieren 262">
            <a:extLst>
              <a:ext uri="{FF2B5EF4-FFF2-40B4-BE49-F238E27FC236}">
                <a16:creationId xmlns:a16="http://schemas.microsoft.com/office/drawing/2014/main" id="{123C8628-D0FE-076C-8F88-7295537D268B}"/>
              </a:ext>
            </a:extLst>
          </p:cNvPr>
          <p:cNvGrpSpPr/>
          <p:nvPr/>
        </p:nvGrpSpPr>
        <p:grpSpPr>
          <a:xfrm>
            <a:off x="5590514" y="5305593"/>
            <a:ext cx="292492" cy="312304"/>
            <a:chOff x="5610831" y="5323554"/>
            <a:chExt cx="255608" cy="272922"/>
          </a:xfrm>
        </p:grpSpPr>
        <p:pic>
          <p:nvPicPr>
            <p:cNvPr id="258" name="Grafik 257" descr="Bewertungen zu Flinkster - DB Carsharing der Bahn | Lesen Sie  Kundenbewertungen zu flinkster.de">
              <a:extLst>
                <a:ext uri="{FF2B5EF4-FFF2-40B4-BE49-F238E27FC236}">
                  <a16:creationId xmlns:a16="http://schemas.microsoft.com/office/drawing/2014/main" id="{4E09D6B5-9032-1169-E4B5-DECBA1818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6353" t="53113" r="5453" b="6715"/>
            <a:stretch>
              <a:fillRect/>
            </a:stretch>
          </p:blipFill>
          <p:spPr>
            <a:xfrm>
              <a:off x="5610839" y="5480050"/>
              <a:ext cx="255600" cy="116426"/>
            </a:xfrm>
            <a:prstGeom prst="rect">
              <a:avLst/>
            </a:prstGeom>
          </p:spPr>
        </p:pic>
        <p:pic>
          <p:nvPicPr>
            <p:cNvPr id="262" name="Grafik 261" descr="DB Call a Bike – Apps bei Google Play">
              <a:extLst>
                <a:ext uri="{FF2B5EF4-FFF2-40B4-BE49-F238E27FC236}">
                  <a16:creationId xmlns:a16="http://schemas.microsoft.com/office/drawing/2014/main" id="{D30573FC-8944-D7EB-FAEE-A321A2B3E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7702" t="42553" r="12295" b="6173"/>
            <a:stretch>
              <a:fillRect/>
            </a:stretch>
          </p:blipFill>
          <p:spPr>
            <a:xfrm>
              <a:off x="5610831" y="5323554"/>
              <a:ext cx="255600" cy="163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283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rd 1">
            <a:extLst>
              <a:ext uri="{FF2B5EF4-FFF2-40B4-BE49-F238E27FC236}">
                <a16:creationId xmlns:a16="http://schemas.microsoft.com/office/drawing/2014/main" id="{FD4B10F2-1EEC-A49A-F7CA-11F5638371CE}"/>
              </a:ext>
            </a:extLst>
          </p:cNvPr>
          <p:cNvSpPr/>
          <p:nvPr/>
        </p:nvSpPr>
        <p:spPr>
          <a:xfrm>
            <a:off x="3881966" y="1905000"/>
            <a:ext cx="7759172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1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 2">
            <a:extLst>
              <a:ext uri="{FF2B5EF4-FFF2-40B4-BE49-F238E27FC236}">
                <a16:creationId xmlns:a16="http://schemas.microsoft.com/office/drawing/2014/main" id="{F8236544-8BEF-1598-5D93-1E6A1655A919}"/>
              </a:ext>
            </a:extLst>
          </p:cNvPr>
          <p:cNvSpPr/>
          <p:nvPr/>
        </p:nvSpPr>
        <p:spPr>
          <a:xfrm>
            <a:off x="3881966" y="2628900"/>
            <a:ext cx="7759172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1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 3">
            <a:extLst>
              <a:ext uri="{FF2B5EF4-FFF2-40B4-BE49-F238E27FC236}">
                <a16:creationId xmlns:a16="http://schemas.microsoft.com/office/drawing/2014/main" id="{9E1BE218-4DA3-A350-3C3A-959B149A0B9B}"/>
              </a:ext>
            </a:extLst>
          </p:cNvPr>
          <p:cNvSpPr/>
          <p:nvPr/>
        </p:nvSpPr>
        <p:spPr>
          <a:xfrm>
            <a:off x="3881966" y="3352800"/>
            <a:ext cx="7759172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1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4">
            <a:extLst>
              <a:ext uri="{FF2B5EF4-FFF2-40B4-BE49-F238E27FC236}">
                <a16:creationId xmlns:a16="http://schemas.microsoft.com/office/drawing/2014/main" id="{D029A816-4145-F82C-6F1D-C530EDB7C3CA}"/>
              </a:ext>
            </a:extLst>
          </p:cNvPr>
          <p:cNvSpPr/>
          <p:nvPr/>
        </p:nvSpPr>
        <p:spPr>
          <a:xfrm>
            <a:off x="3881966" y="4076700"/>
            <a:ext cx="7759172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1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Card 5">
            <a:extLst>
              <a:ext uri="{FF2B5EF4-FFF2-40B4-BE49-F238E27FC236}">
                <a16:creationId xmlns:a16="http://schemas.microsoft.com/office/drawing/2014/main" id="{737CA5A1-E4D0-7E90-FE3A-CD1423606970}"/>
              </a:ext>
            </a:extLst>
          </p:cNvPr>
          <p:cNvSpPr/>
          <p:nvPr/>
        </p:nvSpPr>
        <p:spPr>
          <a:xfrm>
            <a:off x="3881966" y="4800600"/>
            <a:ext cx="7759172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1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Card 6">
            <a:extLst>
              <a:ext uri="{FF2B5EF4-FFF2-40B4-BE49-F238E27FC236}">
                <a16:creationId xmlns:a16="http://schemas.microsoft.com/office/drawing/2014/main" id="{4E7DD362-A15D-DF5E-EF9A-7E784A8FDDCA}"/>
              </a:ext>
            </a:extLst>
          </p:cNvPr>
          <p:cNvSpPr/>
          <p:nvPr/>
        </p:nvSpPr>
        <p:spPr>
          <a:xfrm>
            <a:off x="3881966" y="5524500"/>
            <a:ext cx="7759172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1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7FF76B-55AB-6A77-76C7-AF45B800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Deep Dive Data Sources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539069-C7A4-4748-A4BF-E659E894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101" name="Bar 1"/>
          <p:cNvSpPr/>
          <p:nvPr/>
        </p:nvSpPr>
        <p:spPr>
          <a:xfrm>
            <a:off x="3634104" y="1905000"/>
            <a:ext cx="63500" cy="6096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CardText 1"/>
          <p:cNvSpPr txBox="1"/>
          <p:nvPr/>
        </p:nvSpPr>
        <p:spPr>
          <a:xfrm>
            <a:off x="939800" y="1905000"/>
            <a:ext cx="3556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b="1">
                <a:solidFill>
                  <a:srgbClr val="005176"/>
                </a:solidFill>
              </a:rPr>
              <a:t>Live DB Data</a:t>
            </a:r>
          </a:p>
        </p:txBody>
      </p:sp>
      <p:sp>
        <p:nvSpPr>
          <p:cNvPr id="104" name="Bar 2"/>
          <p:cNvSpPr/>
          <p:nvPr/>
        </p:nvSpPr>
        <p:spPr>
          <a:xfrm>
            <a:off x="3634104" y="2628900"/>
            <a:ext cx="63500" cy="6096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CardText 2"/>
          <p:cNvSpPr txBox="1"/>
          <p:nvPr/>
        </p:nvSpPr>
        <p:spPr>
          <a:xfrm>
            <a:off x="939800" y="2628900"/>
            <a:ext cx="3556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b="1">
                <a:solidFill>
                  <a:srgbClr val="005176"/>
                </a:solidFill>
              </a:rPr>
              <a:t>Delay History</a:t>
            </a:r>
          </a:p>
        </p:txBody>
      </p:sp>
      <p:sp>
        <p:nvSpPr>
          <p:cNvPr id="107" name="Bar 3"/>
          <p:cNvSpPr/>
          <p:nvPr/>
        </p:nvSpPr>
        <p:spPr>
          <a:xfrm>
            <a:off x="3634104" y="3352800"/>
            <a:ext cx="63500" cy="6096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Text 3"/>
          <p:cNvSpPr txBox="1"/>
          <p:nvPr/>
        </p:nvSpPr>
        <p:spPr>
          <a:xfrm>
            <a:off x="939800" y="3352800"/>
            <a:ext cx="3556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b="1">
                <a:solidFill>
                  <a:srgbClr val="005176"/>
                </a:solidFill>
              </a:rPr>
              <a:t>Calendar &amp; E-Mail</a:t>
            </a:r>
          </a:p>
        </p:txBody>
      </p:sp>
      <p:sp>
        <p:nvSpPr>
          <p:cNvPr id="110" name="Bar 4"/>
          <p:cNvSpPr/>
          <p:nvPr/>
        </p:nvSpPr>
        <p:spPr>
          <a:xfrm>
            <a:off x="3634104" y="4076700"/>
            <a:ext cx="63500" cy="6096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Text 4"/>
          <p:cNvSpPr txBox="1"/>
          <p:nvPr/>
        </p:nvSpPr>
        <p:spPr>
          <a:xfrm>
            <a:off x="939800" y="4076700"/>
            <a:ext cx="3556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b="1">
                <a:solidFill>
                  <a:srgbClr val="005176"/>
                </a:solidFill>
              </a:rPr>
              <a:t>Hotels</a:t>
            </a:r>
          </a:p>
        </p:txBody>
      </p:sp>
      <p:sp>
        <p:nvSpPr>
          <p:cNvPr id="113" name="Bar 5"/>
          <p:cNvSpPr/>
          <p:nvPr/>
        </p:nvSpPr>
        <p:spPr>
          <a:xfrm>
            <a:off x="3634104" y="4800600"/>
            <a:ext cx="63500" cy="6096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CardText 5"/>
          <p:cNvSpPr txBox="1"/>
          <p:nvPr/>
        </p:nvSpPr>
        <p:spPr>
          <a:xfrm>
            <a:off x="939800" y="4800600"/>
            <a:ext cx="3556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b="1">
                <a:solidFill>
                  <a:srgbClr val="005176"/>
                </a:solidFill>
              </a:rPr>
              <a:t>WhatsApp Messaging</a:t>
            </a:r>
          </a:p>
        </p:txBody>
      </p:sp>
      <p:sp>
        <p:nvSpPr>
          <p:cNvPr id="116" name="Bar 6"/>
          <p:cNvSpPr/>
          <p:nvPr/>
        </p:nvSpPr>
        <p:spPr>
          <a:xfrm>
            <a:off x="3634104" y="5524500"/>
            <a:ext cx="63500" cy="6096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CardText 6"/>
          <p:cNvSpPr txBox="1"/>
          <p:nvPr/>
        </p:nvSpPr>
        <p:spPr>
          <a:xfrm>
            <a:off x="939800" y="5524500"/>
            <a:ext cx="3556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b="1">
                <a:solidFill>
                  <a:srgbClr val="005176"/>
                </a:solidFill>
              </a:rPr>
              <a:t>Passenger Rights</a:t>
            </a:r>
          </a:p>
        </p:txBody>
      </p:sp>
      <p:pic>
        <p:nvPicPr>
          <p:cNvPr id="118" name="Copied Picture 118" descr="db.png">
            <a:extLst>
              <a:ext uri="{FF2B5EF4-FFF2-40B4-BE49-F238E27FC236}">
                <a16:creationId xmlns:a16="http://schemas.microsoft.com/office/drawing/2014/main" id="{905C3361-0F38-0E5C-FBD9-8A9438068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676900"/>
            <a:ext cx="457200" cy="330200"/>
          </a:xfrm>
          <a:prstGeom prst="rect">
            <a:avLst/>
          </a:prstGeom>
        </p:spPr>
      </p:pic>
      <p:pic>
        <p:nvPicPr>
          <p:cNvPr id="120" name="Copied Picture 120" descr="Outlook Calendar color icon in PNG, SVG">
            <a:extLst>
              <a:ext uri="{FF2B5EF4-FFF2-40B4-BE49-F238E27FC236}">
                <a16:creationId xmlns:a16="http://schemas.microsoft.com/office/drawing/2014/main" id="{67BCE3C3-7ED0-ED8A-CB5C-7D342D65A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65600" y="3492500"/>
            <a:ext cx="381000" cy="381000"/>
          </a:xfrm>
          <a:prstGeom prst="rect">
            <a:avLst/>
          </a:prstGeom>
        </p:spPr>
      </p:pic>
      <p:pic>
        <p:nvPicPr>
          <p:cNvPr id="121" name="Copied Picture 121">
            <a:extLst>
              <a:ext uri="{FF2B5EF4-FFF2-40B4-BE49-F238E27FC236}">
                <a16:creationId xmlns:a16="http://schemas.microsoft.com/office/drawing/2014/main" id="{40BCFE1F-7F8F-95D7-E473-F5D6BBF46C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600" y="4216400"/>
            <a:ext cx="381000" cy="381000"/>
          </a:xfrm>
          <a:prstGeom prst="rect">
            <a:avLst/>
          </a:prstGeom>
        </p:spPr>
      </p:pic>
      <p:sp>
        <p:nvSpPr>
          <p:cNvPr id="130" name="GitHub Logo 130"/>
          <p:cNvSpPr/>
          <p:nvPr/>
        </p:nvSpPr>
        <p:spPr>
          <a:xfrm>
            <a:off x="4165600" y="2044700"/>
            <a:ext cx="330200" cy="330200"/>
          </a:xfrm>
          <a:custGeom>
            <a:avLst/>
            <a:gdLst/>
            <a:ahLst/>
            <a:cxnLst/>
            <a:rect l="0" t="0" r="16000" b="16000"/>
            <a:pathLst>
              <a:path w="16000" h="16000">
                <a:moveTo>
                  <a:pt x="8000" y="0"/>
                </a:moveTo>
                <a:cubicBezTo>
                  <a:pt x="3580" y="0"/>
                  <a:pt x="0" y="3580"/>
                  <a:pt x="0" y="8000"/>
                </a:cubicBezTo>
                <a:cubicBezTo>
                  <a:pt x="0" y="11540"/>
                  <a:pt x="2290" y="14530"/>
                  <a:pt x="5470" y="15590"/>
                </a:cubicBezTo>
                <a:cubicBezTo>
                  <a:pt x="5870" y="15660"/>
                  <a:pt x="6020" y="15420"/>
                  <a:pt x="6020" y="15210"/>
                </a:cubicBezTo>
                <a:cubicBezTo>
                  <a:pt x="6020" y="15020"/>
                  <a:pt x="6010" y="14390"/>
                  <a:pt x="6010" y="13720"/>
                </a:cubicBezTo>
                <a:cubicBezTo>
                  <a:pt x="4000" y="14090"/>
                  <a:pt x="3480" y="13230"/>
                  <a:pt x="3320" y="12780"/>
                </a:cubicBezTo>
                <a:cubicBezTo>
                  <a:pt x="3230" y="12550"/>
                  <a:pt x="2840" y="11840"/>
                  <a:pt x="2500" y="11650"/>
                </a:cubicBezTo>
                <a:cubicBezTo>
                  <a:pt x="2220" y="11500"/>
                  <a:pt x="1820" y="11130"/>
                  <a:pt x="2490" y="11120"/>
                </a:cubicBezTo>
                <a:cubicBezTo>
                  <a:pt x="3120" y="11110"/>
                  <a:pt x="3570" y="11700"/>
                  <a:pt x="3720" y="11940"/>
                </a:cubicBezTo>
                <a:cubicBezTo>
                  <a:pt x="4440" y="13150"/>
                  <a:pt x="5590" y="12810"/>
                  <a:pt x="6050" y="12600"/>
                </a:cubicBezTo>
                <a:cubicBezTo>
                  <a:pt x="6120" y="12080"/>
                  <a:pt x="6330" y="11730"/>
                  <a:pt x="6560" y="11530"/>
                </a:cubicBezTo>
                <a:cubicBezTo>
                  <a:pt x="4780" y="11330"/>
                  <a:pt x="2920" y="10640"/>
                  <a:pt x="2920" y="7580"/>
                </a:cubicBezTo>
                <a:cubicBezTo>
                  <a:pt x="2920" y="6710"/>
                  <a:pt x="3230" y="5990"/>
                  <a:pt x="3740" y="5430"/>
                </a:cubicBezTo>
                <a:cubicBezTo>
                  <a:pt x="3660" y="5230"/>
                  <a:pt x="3380" y="4410"/>
                  <a:pt x="3820" y="3310"/>
                </a:cubicBezTo>
                <a:cubicBezTo>
                  <a:pt x="3820" y="3310"/>
                  <a:pt x="4490" y="3100"/>
                  <a:pt x="6020" y="4130"/>
                </a:cubicBezTo>
                <a:cubicBezTo>
                  <a:pt x="6660" y="3950"/>
                  <a:pt x="7340" y="3860"/>
                  <a:pt x="8020" y="3860"/>
                </a:cubicBezTo>
                <a:cubicBezTo>
                  <a:pt x="8700" y="3860"/>
                  <a:pt x="9380" y="3950"/>
                  <a:pt x="10020" y="4130"/>
                </a:cubicBezTo>
                <a:cubicBezTo>
                  <a:pt x="11550" y="3090"/>
                  <a:pt x="12220" y="3310"/>
                  <a:pt x="12220" y="3310"/>
                </a:cubicBezTo>
                <a:cubicBezTo>
                  <a:pt x="12660" y="4410"/>
                  <a:pt x="12380" y="5230"/>
                  <a:pt x="12300" y="5430"/>
                </a:cubicBezTo>
                <a:cubicBezTo>
                  <a:pt x="12810" y="5990"/>
                  <a:pt x="13120" y="6700"/>
                  <a:pt x="13120" y="7580"/>
                </a:cubicBezTo>
                <a:cubicBezTo>
                  <a:pt x="13120" y="10650"/>
                  <a:pt x="11250" y="11330"/>
                  <a:pt x="9470" y="11530"/>
                </a:cubicBezTo>
                <a:cubicBezTo>
                  <a:pt x="9760" y="11780"/>
                  <a:pt x="10010" y="12260"/>
                  <a:pt x="10010" y="13010"/>
                </a:cubicBezTo>
                <a:cubicBezTo>
                  <a:pt x="10010" y="14080"/>
                  <a:pt x="10000" y="14940"/>
                  <a:pt x="10000" y="15210"/>
                </a:cubicBezTo>
                <a:cubicBezTo>
                  <a:pt x="10000" y="15420"/>
                  <a:pt x="10150" y="15670"/>
                  <a:pt x="10550" y="15590"/>
                </a:cubicBezTo>
                <a:cubicBezTo>
                  <a:pt x="14070" y="14370"/>
                  <a:pt x="16000" y="11280"/>
                  <a:pt x="16000" y="8000"/>
                </a:cubicBezTo>
                <a:cubicBezTo>
                  <a:pt x="16000" y="3580"/>
                  <a:pt x="12420" y="0"/>
                  <a:pt x="8000" y="0"/>
                </a:cubicBezTo>
                <a:close/>
              </a:path>
            </a:pathLst>
          </a:custGeom>
          <a:solidFill>
            <a:srgbClr val="1817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GitHub Logo 131"/>
          <p:cNvSpPr/>
          <p:nvPr/>
        </p:nvSpPr>
        <p:spPr>
          <a:xfrm>
            <a:off x="4165600" y="2768600"/>
            <a:ext cx="330200" cy="330200"/>
          </a:xfrm>
          <a:custGeom>
            <a:avLst/>
            <a:gdLst/>
            <a:ahLst/>
            <a:cxnLst/>
            <a:rect l="0" t="0" r="16000" b="16000"/>
            <a:pathLst>
              <a:path w="16000" h="16000">
                <a:moveTo>
                  <a:pt x="8000" y="0"/>
                </a:moveTo>
                <a:cubicBezTo>
                  <a:pt x="3580" y="0"/>
                  <a:pt x="0" y="3580"/>
                  <a:pt x="0" y="8000"/>
                </a:cubicBezTo>
                <a:cubicBezTo>
                  <a:pt x="0" y="11540"/>
                  <a:pt x="2290" y="14530"/>
                  <a:pt x="5470" y="15590"/>
                </a:cubicBezTo>
                <a:cubicBezTo>
                  <a:pt x="5870" y="15660"/>
                  <a:pt x="6020" y="15420"/>
                  <a:pt x="6020" y="15210"/>
                </a:cubicBezTo>
                <a:cubicBezTo>
                  <a:pt x="6020" y="15020"/>
                  <a:pt x="6010" y="14390"/>
                  <a:pt x="6010" y="13720"/>
                </a:cubicBezTo>
                <a:cubicBezTo>
                  <a:pt x="4000" y="14090"/>
                  <a:pt x="3480" y="13230"/>
                  <a:pt x="3320" y="12780"/>
                </a:cubicBezTo>
                <a:cubicBezTo>
                  <a:pt x="3230" y="12550"/>
                  <a:pt x="2840" y="11840"/>
                  <a:pt x="2500" y="11650"/>
                </a:cubicBezTo>
                <a:cubicBezTo>
                  <a:pt x="2220" y="11500"/>
                  <a:pt x="1820" y="11130"/>
                  <a:pt x="2490" y="11120"/>
                </a:cubicBezTo>
                <a:cubicBezTo>
                  <a:pt x="3120" y="11110"/>
                  <a:pt x="3570" y="11700"/>
                  <a:pt x="3720" y="11940"/>
                </a:cubicBezTo>
                <a:cubicBezTo>
                  <a:pt x="4440" y="13150"/>
                  <a:pt x="5590" y="12810"/>
                  <a:pt x="6050" y="12600"/>
                </a:cubicBezTo>
                <a:cubicBezTo>
                  <a:pt x="6120" y="12080"/>
                  <a:pt x="6330" y="11730"/>
                  <a:pt x="6560" y="11530"/>
                </a:cubicBezTo>
                <a:cubicBezTo>
                  <a:pt x="4780" y="11330"/>
                  <a:pt x="2920" y="10640"/>
                  <a:pt x="2920" y="7580"/>
                </a:cubicBezTo>
                <a:cubicBezTo>
                  <a:pt x="2920" y="6710"/>
                  <a:pt x="3230" y="5990"/>
                  <a:pt x="3740" y="5430"/>
                </a:cubicBezTo>
                <a:cubicBezTo>
                  <a:pt x="3660" y="5230"/>
                  <a:pt x="3380" y="4410"/>
                  <a:pt x="3820" y="3310"/>
                </a:cubicBezTo>
                <a:cubicBezTo>
                  <a:pt x="3820" y="3310"/>
                  <a:pt x="4490" y="3100"/>
                  <a:pt x="6020" y="4130"/>
                </a:cubicBezTo>
                <a:cubicBezTo>
                  <a:pt x="6660" y="3950"/>
                  <a:pt x="7340" y="3860"/>
                  <a:pt x="8020" y="3860"/>
                </a:cubicBezTo>
                <a:cubicBezTo>
                  <a:pt x="8700" y="3860"/>
                  <a:pt x="9380" y="3950"/>
                  <a:pt x="10020" y="4130"/>
                </a:cubicBezTo>
                <a:cubicBezTo>
                  <a:pt x="11550" y="3090"/>
                  <a:pt x="12220" y="3310"/>
                  <a:pt x="12220" y="3310"/>
                </a:cubicBezTo>
                <a:cubicBezTo>
                  <a:pt x="12660" y="4410"/>
                  <a:pt x="12380" y="5230"/>
                  <a:pt x="12300" y="5430"/>
                </a:cubicBezTo>
                <a:cubicBezTo>
                  <a:pt x="12810" y="5990"/>
                  <a:pt x="13120" y="6700"/>
                  <a:pt x="13120" y="7580"/>
                </a:cubicBezTo>
                <a:cubicBezTo>
                  <a:pt x="13120" y="10650"/>
                  <a:pt x="11250" y="11330"/>
                  <a:pt x="9470" y="11530"/>
                </a:cubicBezTo>
                <a:cubicBezTo>
                  <a:pt x="9760" y="11780"/>
                  <a:pt x="10010" y="12260"/>
                  <a:pt x="10010" y="13010"/>
                </a:cubicBezTo>
                <a:cubicBezTo>
                  <a:pt x="10010" y="14080"/>
                  <a:pt x="10000" y="14940"/>
                  <a:pt x="10000" y="15210"/>
                </a:cubicBezTo>
                <a:cubicBezTo>
                  <a:pt x="10000" y="15420"/>
                  <a:pt x="10150" y="15670"/>
                  <a:pt x="10550" y="15590"/>
                </a:cubicBezTo>
                <a:cubicBezTo>
                  <a:pt x="14070" y="14370"/>
                  <a:pt x="16000" y="11280"/>
                  <a:pt x="16000" y="8000"/>
                </a:cubicBezTo>
                <a:cubicBezTo>
                  <a:pt x="16000" y="3580"/>
                  <a:pt x="12420" y="0"/>
                  <a:pt x="8000" y="0"/>
                </a:cubicBezTo>
                <a:close/>
              </a:path>
            </a:pathLst>
          </a:custGeom>
          <a:solidFill>
            <a:srgbClr val="1817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SourceText 1"/>
          <p:cNvSpPr txBox="1"/>
          <p:nvPr/>
        </p:nvSpPr>
        <p:spPr>
          <a:xfrm>
            <a:off x="4673600" y="1905000"/>
            <a:ext cx="60706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b="1"/>
              <a:t>db-vendo-client</a:t>
            </a:r>
          </a:p>
          <a:p>
            <a:pPr>
              <a:buNone/>
            </a:pPr>
            <a:r>
              <a:rPr lang="en-US" sz="1400"/>
              <a:t>github.com/public-transport/db-vendo-client</a:t>
            </a:r>
          </a:p>
        </p:txBody>
      </p:sp>
      <p:sp>
        <p:nvSpPr>
          <p:cNvPr id="138" name="SourceText 2"/>
          <p:cNvSpPr txBox="1"/>
          <p:nvPr/>
        </p:nvSpPr>
        <p:spPr>
          <a:xfrm>
            <a:off x="4673600" y="2628900"/>
            <a:ext cx="60706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b="1"/>
              <a:t>Deutsche Bahn Data Project</a:t>
            </a:r>
          </a:p>
          <a:p>
            <a:pPr>
              <a:buNone/>
            </a:pPr>
            <a:r>
              <a:rPr lang="en-US" sz="1400"/>
              <a:t>piebro.github.io/deutsche-bahn-data</a:t>
            </a:r>
          </a:p>
        </p:txBody>
      </p:sp>
      <p:sp>
        <p:nvSpPr>
          <p:cNvPr id="139" name="SourceText 3"/>
          <p:cNvSpPr txBox="1"/>
          <p:nvPr/>
        </p:nvSpPr>
        <p:spPr>
          <a:xfrm>
            <a:off x="4673600" y="3352800"/>
            <a:ext cx="60706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b="1"/>
              <a:t>Microsoft Outlook</a:t>
            </a:r>
          </a:p>
          <a:p>
            <a:pPr>
              <a:buNone/>
            </a:pPr>
            <a:r>
              <a:rPr lang="en-US" sz="1400"/>
              <a:t>outlook.office.com</a:t>
            </a:r>
          </a:p>
        </p:txBody>
      </p:sp>
      <p:sp>
        <p:nvSpPr>
          <p:cNvPr id="140" name="SourceText 4"/>
          <p:cNvSpPr txBox="1"/>
          <p:nvPr/>
        </p:nvSpPr>
        <p:spPr>
          <a:xfrm>
            <a:off x="4673600" y="4076700"/>
            <a:ext cx="60706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b="1"/>
              <a:t>OpenStreetMap</a:t>
            </a:r>
          </a:p>
          <a:p>
            <a:pPr>
              <a:buNone/>
            </a:pPr>
            <a:r>
              <a:rPr lang="en-US" sz="1400"/>
              <a:t>openstreetmap.org</a:t>
            </a:r>
          </a:p>
        </p:txBody>
      </p:sp>
      <p:sp>
        <p:nvSpPr>
          <p:cNvPr id="141" name="SourceText 5"/>
          <p:cNvSpPr txBox="1"/>
          <p:nvPr/>
        </p:nvSpPr>
        <p:spPr>
          <a:xfrm>
            <a:off x="4673600" y="4800600"/>
            <a:ext cx="60706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b="1"/>
              <a:t>Twilio API</a:t>
            </a:r>
          </a:p>
          <a:p>
            <a:pPr>
              <a:buNone/>
            </a:pPr>
            <a:r>
              <a:rPr lang="en-US" sz="1400"/>
              <a:t>twilio.com</a:t>
            </a:r>
          </a:p>
        </p:txBody>
      </p:sp>
      <p:sp>
        <p:nvSpPr>
          <p:cNvPr id="142" name="SourceText 6"/>
          <p:cNvSpPr txBox="1"/>
          <p:nvPr/>
        </p:nvSpPr>
        <p:spPr>
          <a:xfrm>
            <a:off x="4673600" y="5524500"/>
            <a:ext cx="60706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b="1"/>
              <a:t>bahn.de passenger rights</a:t>
            </a:r>
          </a:p>
          <a:p>
            <a:pPr>
              <a:buNone/>
            </a:pPr>
            <a:r>
              <a:rPr lang="en-US" sz="1400"/>
              <a:t>bahn.de/service/</a:t>
            </a:r>
            <a:r>
              <a:rPr lang="en-US" sz="1400" err="1"/>
              <a:t>informationen-buchung</a:t>
            </a:r>
            <a:r>
              <a:rPr lang="en-US" sz="1400"/>
              <a:t>/fahrgastrechte</a:t>
            </a:r>
          </a:p>
        </p:txBody>
      </p:sp>
      <p:pic>
        <p:nvPicPr>
          <p:cNvPr id="3" name="Grafik 2" descr="twilio | agilea Schnittstellen">
            <a:extLst>
              <a:ext uri="{FF2B5EF4-FFF2-40B4-BE49-F238E27FC236}">
                <a16:creationId xmlns:a16="http://schemas.microsoft.com/office/drawing/2014/main" id="{D626DFF2-1583-31F0-2C3B-E05DD47712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83" t="16497" r="15219" b="23384"/>
          <a:stretch>
            <a:fillRect/>
          </a:stretch>
        </p:blipFill>
        <p:spPr>
          <a:xfrm>
            <a:off x="4051834" y="4861375"/>
            <a:ext cx="544632" cy="473859"/>
          </a:xfrm>
          <a:prstGeom prst="rect">
            <a:avLst/>
          </a:prstGeom>
        </p:spPr>
      </p:pic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DA605D62-EF31-D838-B253-4518D76184CA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156009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956C97-42B8-4620-BDDE-B661ADD52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03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EA4E176E-AA02-46E1-8A25-B25B2720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DEMO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79E51BE-14F3-4DE2-979D-816DF372A6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97F5529B-F93F-1FEB-4DB4-CC9D583A4D8B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>
                <a:solidFill>
                  <a:schemeClr val="bg1"/>
                </a:solidFill>
              </a:rPr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357160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E9DC0DB-D5AE-60C8-73A1-13B55450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A1203A-69DD-9DD0-9066-B0C4B92748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083F90A-C8CC-D7A1-5D2E-214897A53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45" y="745200"/>
            <a:ext cx="2460627" cy="53676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4D64D2D-59DC-728D-9B39-87D73458C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498" y="745200"/>
            <a:ext cx="2448177" cy="53676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4BCE9A7-9191-D9A5-2208-65DA948CE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584" y="745200"/>
            <a:ext cx="2454415" cy="53676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Fußzeilenplatzhalter 5">
            <a:extLst>
              <a:ext uri="{FF2B5EF4-FFF2-40B4-BE49-F238E27FC236}">
                <a16:creationId xmlns:a16="http://schemas.microsoft.com/office/drawing/2014/main" id="{C9B75574-A671-31C4-1F7F-D869697EA29A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240950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29B5-636F-BB81-28B9-E20FFF25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16AE55C0-5506-E018-EA26-A5F86175A7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04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520F802E-A1BB-CA9F-8702-25198861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Albert Sans Black"/>
              </a:rPr>
              <a:t>OUTLOOK</a:t>
            </a:r>
            <a:endParaRPr lang="en-US" noProof="1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5CF4056-2217-F733-C6F1-CDEE3966D6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en-US" noProof="1" smtClean="0"/>
              <a:pPr/>
              <a:t>12</a:t>
            </a:fld>
            <a:endParaRPr lang="en-US" noProof="1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7AEA0833-F8E1-FA4D-3F85-C90ECDDAC2C2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>
                <a:solidFill>
                  <a:schemeClr val="bg1"/>
                </a:solidFill>
              </a:rPr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1654197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9D8A-A3E7-39AB-3851-54706A1F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7EA69A-7C98-4B68-A7E0-C49FDB49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95300"/>
            <a:ext cx="10960100" cy="1219200"/>
          </a:xfrm>
        </p:spPr>
        <p:txBody>
          <a:bodyPr/>
          <a:lstStyle/>
          <a:p>
            <a:r>
              <a:rPr lang="en-US">
                <a:latin typeface="Albert Sans Black"/>
              </a:rPr>
              <a:t>Outlook</a:t>
            </a: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78D033-E4A6-0A72-77D4-E7EE9231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300" name="Header Next Steps"/>
          <p:cNvSpPr/>
          <p:nvPr/>
        </p:nvSpPr>
        <p:spPr>
          <a:xfrm>
            <a:off x="5695546" y="1941055"/>
            <a:ext cx="6070600" cy="304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05176"/>
                </a:solidFill>
              </a:rPr>
              <a:t>Next Steps</a:t>
            </a:r>
          </a:p>
        </p:txBody>
      </p:sp>
      <p:sp>
        <p:nvSpPr>
          <p:cNvPr id="301" name="Header Limitations"/>
          <p:cNvSpPr/>
          <p:nvPr/>
        </p:nvSpPr>
        <p:spPr>
          <a:xfrm>
            <a:off x="685800" y="1941055"/>
            <a:ext cx="4686300" cy="304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05176"/>
                </a:solidFill>
              </a:rPr>
              <a:t>Limitations</a:t>
            </a:r>
          </a:p>
        </p:txBody>
      </p:sp>
      <p:sp>
        <p:nvSpPr>
          <p:cNvPr id="241" name="NS Card 2"/>
          <p:cNvSpPr/>
          <p:nvPr/>
        </p:nvSpPr>
        <p:spPr>
          <a:xfrm>
            <a:off x="5695546" y="2347455"/>
            <a:ext cx="6070600" cy="8890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noFill/>
          </a:ln>
        </p:spPr>
        <p:txBody>
          <a:bodyPr wrap="square" lIns="0" tIns="0" rIns="91440" bIns="0" rtlCol="0" anchor="ctr"/>
          <a:lstStyle/>
          <a:p>
            <a:pPr marL="558800"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Build out open points</a:t>
            </a:r>
          </a:p>
          <a:p>
            <a:pPr marL="558800" algn="l">
              <a:buNone/>
            </a:pPr>
            <a:r>
              <a:rPr lang="en-US" sz="1400">
                <a:solidFill>
                  <a:srgbClr val="3C3C3C"/>
                </a:solidFill>
              </a:rPr>
              <a:t>Taxi integration, risk score improvements, booking flow</a:t>
            </a:r>
          </a:p>
        </p:txBody>
      </p:sp>
      <p:sp>
        <p:nvSpPr>
          <p:cNvPr id="242" name="NS Card 3"/>
          <p:cNvSpPr/>
          <p:nvPr/>
        </p:nvSpPr>
        <p:spPr>
          <a:xfrm>
            <a:off x="5695546" y="3471405"/>
            <a:ext cx="6070600" cy="8890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noFill/>
          </a:ln>
        </p:spPr>
        <p:txBody>
          <a:bodyPr wrap="square" lIns="0" tIns="0" rIns="91440" bIns="0" rtlCol="0" anchor="ctr"/>
          <a:lstStyle/>
          <a:p>
            <a:pPr marL="558800"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Broaden what users can ask</a:t>
            </a:r>
          </a:p>
          <a:p>
            <a:pPr marL="558800" algn="l">
              <a:buNone/>
            </a:pPr>
            <a:r>
              <a:rPr lang="en-US" sz="1400">
                <a:solidFill>
                  <a:srgbClr val="3C3C3C"/>
                </a:solidFill>
              </a:rPr>
              <a:t>Flexible requests, e.g. passenger-rights questions, hotel bookings</a:t>
            </a:r>
          </a:p>
        </p:txBody>
      </p:sp>
      <p:sp>
        <p:nvSpPr>
          <p:cNvPr id="243" name="NS Card 4"/>
          <p:cNvSpPr/>
          <p:nvPr/>
        </p:nvSpPr>
        <p:spPr>
          <a:xfrm>
            <a:off x="5695546" y="4595355"/>
            <a:ext cx="6070600" cy="889000"/>
          </a:xfrm>
          <a:prstGeom prst="roundRect">
            <a:avLst>
              <a:gd name="adj" fmla="val 8000"/>
            </a:avLst>
          </a:prstGeom>
          <a:solidFill>
            <a:srgbClr val="EEF5F8"/>
          </a:solidFill>
          <a:ln>
            <a:noFill/>
          </a:ln>
        </p:spPr>
        <p:txBody>
          <a:bodyPr wrap="square" lIns="0" tIns="0" rIns="91440" bIns="0" rtlCol="0" anchor="ctr"/>
          <a:lstStyle/>
          <a:p>
            <a:pPr marL="558800"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Improve performance &amp; UX</a:t>
            </a:r>
          </a:p>
          <a:p>
            <a:pPr marL="558800" algn="l">
              <a:buNone/>
            </a:pPr>
            <a:r>
              <a:rPr lang="en-US" sz="1400">
                <a:solidFill>
                  <a:srgbClr val="3C3C3C"/>
                </a:solidFill>
              </a:rPr>
              <a:t>Cut loading time, stream agent progress live</a:t>
            </a:r>
          </a:p>
        </p:txBody>
      </p:sp>
      <p:sp>
        <p:nvSpPr>
          <p:cNvPr id="250" name="Limitations Panel"/>
          <p:cNvSpPr/>
          <p:nvPr/>
        </p:nvSpPr>
        <p:spPr>
          <a:xfrm>
            <a:off x="685800" y="2347455"/>
            <a:ext cx="4686300" cy="3136900"/>
          </a:xfrm>
          <a:prstGeom prst="roundRect">
            <a:avLst>
              <a:gd name="adj" fmla="val 0"/>
            </a:avLst>
          </a:prstGeom>
          <a:solidFill>
            <a:srgbClr val="005176"/>
          </a:solidFill>
          <a:ln>
            <a:noFill/>
          </a:ln>
        </p:spPr>
        <p:txBody>
          <a:bodyPr wrap="square" lIns="182880" tIns="137160" rIns="137160" bIns="91440" rtlCol="0" anchor="t"/>
          <a:lstStyle/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lang="en-US" sz="1600" b="1">
                <a:solidFill>
                  <a:srgbClr val="FFFFFF"/>
                </a:solidFill>
              </a:rPr>
              <a:t>Mocked data – </a:t>
            </a:r>
            <a:r>
              <a:rPr lang="en-US" sz="1600">
                <a:solidFill>
                  <a:srgbClr val="FFFFFF"/>
                </a:solidFill>
              </a:rPr>
              <a:t>hotel booking and taxi are not yet live</a:t>
            </a:r>
          </a:p>
          <a:p>
            <a:pPr algn="l">
              <a:spcAft>
                <a:spcPts val="600"/>
              </a:spcAft>
            </a:pPr>
            <a:endParaRPr lang="en-US" sz="1600">
              <a:solidFill>
                <a:srgbClr val="FFFFFF"/>
              </a:solidFill>
            </a:endParaRPr>
          </a:p>
          <a:p>
            <a:pPr marL="171450" indent="-171450" algn="l">
              <a:spcAft>
                <a:spcPts val="600"/>
              </a:spcAft>
              <a:buFont typeface="Arial"/>
              <a:buChar char="•"/>
            </a:pPr>
            <a:r>
              <a:rPr lang="en-US" sz="1600" b="1">
                <a:solidFill>
                  <a:srgbClr val="FFFFFF"/>
                </a:solidFill>
              </a:rPr>
              <a:t>Token usage – </a:t>
            </a:r>
            <a:r>
              <a:rPr lang="en-US" sz="1600">
                <a:solidFill>
                  <a:srgbClr val="FFFFFF"/>
                </a:solidFill>
              </a:rPr>
              <a:t>current </a:t>
            </a:r>
            <a:r>
              <a:rPr lang="en-US" sz="1600" err="1">
                <a:solidFill>
                  <a:srgbClr val="FFFFFF"/>
                </a:solidFill>
              </a:rPr>
              <a:t>tokenomics</a:t>
            </a:r>
            <a:r>
              <a:rPr lang="en-US" sz="1600">
                <a:solidFill>
                  <a:srgbClr val="FFFFFF"/>
                </a:solidFill>
              </a:rPr>
              <a:t> are inefficient</a:t>
            </a:r>
          </a:p>
          <a:p>
            <a:pPr algn="l">
              <a:spcAft>
                <a:spcPts val="600"/>
              </a:spcAft>
            </a:pPr>
            <a:endParaRPr lang="en-US" sz="1600">
              <a:solidFill>
                <a:srgbClr val="FFFFFF"/>
              </a:solidFill>
            </a:endParaRPr>
          </a:p>
          <a:p>
            <a:pPr marL="171450" indent="-171450" algn="l">
              <a:buFont typeface="Arial"/>
              <a:buChar char="•"/>
            </a:pPr>
            <a:r>
              <a:rPr lang="en-US" sz="1600" b="1">
                <a:solidFill>
                  <a:srgbClr val="FFFFFF"/>
                </a:solidFill>
              </a:rPr>
              <a:t>Risk score – </a:t>
            </a:r>
            <a:r>
              <a:rPr lang="en-US" sz="1600">
                <a:solidFill>
                  <a:srgbClr val="FFFFFF"/>
                </a:solidFill>
              </a:rPr>
              <a:t>based only on expected delay derived from historical train data</a:t>
            </a:r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E6AC2764-8B89-8DAE-8CF8-CC688CDC6856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280796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D77FF-C58A-A8AD-426C-A9343AEE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8A25D30C-4425-BAB0-4311-58A27BEB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 noProof="1"/>
              <a:t>Thank you!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03E5F40-B0B9-817F-E949-597A5C4C5A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en-US" noProof="1" smtClean="0"/>
              <a:pPr/>
              <a:t>14</a:t>
            </a:fld>
            <a:endParaRPr lang="en-US" noProof="1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D0A2070E-D5A7-2474-1A58-93AF12E45A0B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>
                <a:solidFill>
                  <a:schemeClr val="bg1"/>
                </a:solidFill>
              </a:rPr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4197198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EBC1-65A3-3256-41FA-BF96201D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D3D3C0E8-784F-357E-9D54-A836FA2F6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05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6CC5460-F2D2-9126-1109-1BC50C58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Backup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11A9D1E-B892-1BCD-5AD9-CA4A019DF5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en-US" noProof="1" smtClean="0"/>
              <a:pPr/>
              <a:t>15</a:t>
            </a:fld>
            <a:endParaRPr lang="en-US" noProof="1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6644A000-A6F5-3680-E28E-5E2B693BE3FE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>
                <a:solidFill>
                  <a:schemeClr val="bg1"/>
                </a:solidFill>
              </a:rPr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911598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6FCA-9DDB-1F86-800A-4816DAA6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0A3D0-9B69-A4EE-28CC-FF79A03A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Decisions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E43C99-FEE6-62DE-F9D6-E9029CF4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262" name="ADR Card 3">
            <a:extLst>
              <a:ext uri="{FF2B5EF4-FFF2-40B4-BE49-F238E27FC236}">
                <a16:creationId xmlns:a16="http://schemas.microsoft.com/office/drawing/2014/main" id="{F47B7317-C65A-4FB9-C3E6-3971F9A3251C}"/>
              </a:ext>
            </a:extLst>
          </p:cNvPr>
          <p:cNvSpPr/>
          <p:nvPr/>
        </p:nvSpPr>
        <p:spPr>
          <a:xfrm>
            <a:off x="6179208" y="1625073"/>
            <a:ext cx="5461929" cy="2006600"/>
          </a:xfrm>
          <a:prstGeom prst="roundRect">
            <a:avLst>
              <a:gd name="adj" fmla="val 500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482600" rIns="152400" bIns="101600" anchor="t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Orchestrator Pattern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b="1">
                <a:solidFill>
                  <a:srgbClr val="005176"/>
                </a:solidFill>
              </a:rPr>
              <a:t>Why: </a:t>
            </a:r>
            <a:r>
              <a:rPr lang="en-US" sz="1400">
                <a:solidFill>
                  <a:srgbClr val="3C3C3C"/>
                </a:solidFill>
              </a:rPr>
              <a:t>Coordinates Monitoring, Planner &amp; Communicator agents with context isolation</a:t>
            </a:r>
          </a:p>
          <a:p>
            <a:pPr algn="l">
              <a:buNone/>
            </a:pPr>
            <a:r>
              <a:rPr lang="en-US" sz="1400" b="1">
                <a:solidFill>
                  <a:srgbClr val="005176"/>
                </a:solidFill>
              </a:rPr>
              <a:t>Trade-off: </a:t>
            </a:r>
            <a:r>
              <a:rPr lang="en-US" sz="1400">
                <a:solidFill>
                  <a:srgbClr val="3C3C3C"/>
                </a:solidFill>
              </a:rPr>
              <a:t>Single coordination point – must stay lightweight</a:t>
            </a:r>
          </a:p>
        </p:txBody>
      </p:sp>
      <p:sp>
        <p:nvSpPr>
          <p:cNvPr id="272" name="ADR Chip 3">
            <a:extLst>
              <a:ext uri="{FF2B5EF4-FFF2-40B4-BE49-F238E27FC236}">
                <a16:creationId xmlns:a16="http://schemas.microsoft.com/office/drawing/2014/main" id="{0BA43569-E571-C38D-0D51-1D49224498E7}"/>
              </a:ext>
            </a:extLst>
          </p:cNvPr>
          <p:cNvSpPr/>
          <p:nvPr/>
        </p:nvSpPr>
        <p:spPr>
          <a:xfrm>
            <a:off x="6342600" y="1807530"/>
            <a:ext cx="787400" cy="279400"/>
          </a:xfrm>
          <a:prstGeom prst="roundRect">
            <a:avLst>
              <a:gd name="adj" fmla="val 50000"/>
            </a:avLst>
          </a:prstGeom>
          <a:solidFill>
            <a:srgbClr val="00517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</a:rPr>
              <a:t>ADR-02</a:t>
            </a:r>
          </a:p>
        </p:txBody>
      </p:sp>
      <p:sp>
        <p:nvSpPr>
          <p:cNvPr id="263" name="ADR Card 4">
            <a:extLst>
              <a:ext uri="{FF2B5EF4-FFF2-40B4-BE49-F238E27FC236}">
                <a16:creationId xmlns:a16="http://schemas.microsoft.com/office/drawing/2014/main" id="{DC780684-27D9-6A89-DBD1-98EE9C7554DC}"/>
              </a:ext>
            </a:extLst>
          </p:cNvPr>
          <p:cNvSpPr/>
          <p:nvPr/>
        </p:nvSpPr>
        <p:spPr>
          <a:xfrm>
            <a:off x="686305" y="3834214"/>
            <a:ext cx="5296499" cy="2006600"/>
          </a:xfrm>
          <a:prstGeom prst="roundRect">
            <a:avLst>
              <a:gd name="adj" fmla="val 500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482600" rIns="152400" bIns="101600" anchor="t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Passenger rights RAG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b="1">
                <a:solidFill>
                  <a:srgbClr val="005176"/>
                </a:solidFill>
              </a:rPr>
              <a:t>Why: </a:t>
            </a:r>
            <a:r>
              <a:rPr lang="en-US" sz="1400">
                <a:solidFill>
                  <a:srgbClr val="3C3C3C"/>
                </a:solidFill>
              </a:rPr>
              <a:t>Claims grounded in official passenger rights rules – no hallucinated entitlements</a:t>
            </a:r>
          </a:p>
          <a:p>
            <a:pPr algn="l">
              <a:buNone/>
            </a:pPr>
            <a:r>
              <a:rPr lang="en-US" sz="1400" b="1">
                <a:solidFill>
                  <a:srgbClr val="005176"/>
                </a:solidFill>
              </a:rPr>
              <a:t>Trade-off: </a:t>
            </a:r>
            <a:r>
              <a:rPr lang="en-US" sz="1400">
                <a:solidFill>
                  <a:srgbClr val="3C3C3C"/>
                </a:solidFill>
              </a:rPr>
              <a:t>Knowledge base must be kept up to date</a:t>
            </a:r>
          </a:p>
        </p:txBody>
      </p:sp>
      <p:sp>
        <p:nvSpPr>
          <p:cNvPr id="273" name="ADR Chip 4">
            <a:extLst>
              <a:ext uri="{FF2B5EF4-FFF2-40B4-BE49-F238E27FC236}">
                <a16:creationId xmlns:a16="http://schemas.microsoft.com/office/drawing/2014/main" id="{C84859C8-723B-A096-90EA-02E6321960C0}"/>
              </a:ext>
            </a:extLst>
          </p:cNvPr>
          <p:cNvSpPr/>
          <p:nvPr/>
        </p:nvSpPr>
        <p:spPr>
          <a:xfrm>
            <a:off x="831849" y="3961214"/>
            <a:ext cx="787400" cy="279400"/>
          </a:xfrm>
          <a:prstGeom prst="roundRect">
            <a:avLst>
              <a:gd name="adj" fmla="val 50000"/>
            </a:avLst>
          </a:prstGeom>
          <a:solidFill>
            <a:srgbClr val="00517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</a:rPr>
              <a:t>ADR-03</a:t>
            </a:r>
          </a:p>
        </p:txBody>
      </p:sp>
      <p:sp>
        <p:nvSpPr>
          <p:cNvPr id="264" name="ADR Card 5">
            <a:extLst>
              <a:ext uri="{FF2B5EF4-FFF2-40B4-BE49-F238E27FC236}">
                <a16:creationId xmlns:a16="http://schemas.microsoft.com/office/drawing/2014/main" id="{BC4969B1-1B2A-9EB7-A2C2-D31543F13F3B}"/>
              </a:ext>
            </a:extLst>
          </p:cNvPr>
          <p:cNvSpPr/>
          <p:nvPr/>
        </p:nvSpPr>
        <p:spPr>
          <a:xfrm>
            <a:off x="6205053" y="3814130"/>
            <a:ext cx="5461929" cy="2006600"/>
          </a:xfrm>
          <a:prstGeom prst="roundRect">
            <a:avLst>
              <a:gd name="adj" fmla="val 500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482600" rIns="152400" bIns="101600" anchor="t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SQLite Persistency Store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b="1">
                <a:solidFill>
                  <a:srgbClr val="005176"/>
                </a:solidFill>
              </a:rPr>
              <a:t>Why: </a:t>
            </a:r>
            <a:r>
              <a:rPr lang="en-US" sz="1400">
                <a:solidFill>
                  <a:srgbClr val="3C3C3C"/>
                </a:solidFill>
              </a:rPr>
              <a:t>Lightweight store for preferences, trips &amp; agent state – zero-ops, file-based</a:t>
            </a:r>
          </a:p>
          <a:p>
            <a:pPr algn="l">
              <a:buNone/>
            </a:pPr>
            <a:r>
              <a:rPr lang="en-US" sz="1400" b="1">
                <a:solidFill>
                  <a:srgbClr val="005176"/>
                </a:solidFill>
              </a:rPr>
              <a:t>Trade-off: </a:t>
            </a:r>
            <a:r>
              <a:rPr lang="en-US" sz="1400">
                <a:solidFill>
                  <a:srgbClr val="3C3C3C"/>
                </a:solidFill>
              </a:rPr>
              <a:t>Limited concurrency – fine for single-user scope</a:t>
            </a:r>
          </a:p>
        </p:txBody>
      </p:sp>
      <p:sp>
        <p:nvSpPr>
          <p:cNvPr id="274" name="ADR Chip 5">
            <a:extLst>
              <a:ext uri="{FF2B5EF4-FFF2-40B4-BE49-F238E27FC236}">
                <a16:creationId xmlns:a16="http://schemas.microsoft.com/office/drawing/2014/main" id="{573B5429-BEFD-0942-2B01-620F3B66015D}"/>
              </a:ext>
            </a:extLst>
          </p:cNvPr>
          <p:cNvSpPr/>
          <p:nvPr/>
        </p:nvSpPr>
        <p:spPr>
          <a:xfrm>
            <a:off x="6342600" y="3961214"/>
            <a:ext cx="787400" cy="279400"/>
          </a:xfrm>
          <a:prstGeom prst="roundRect">
            <a:avLst>
              <a:gd name="adj" fmla="val 50000"/>
            </a:avLst>
          </a:prstGeom>
          <a:solidFill>
            <a:srgbClr val="00517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</a:rPr>
              <a:t>ADR-04</a:t>
            </a:r>
          </a:p>
        </p:txBody>
      </p:sp>
      <p:sp>
        <p:nvSpPr>
          <p:cNvPr id="265" name="ADR Card 6">
            <a:extLst>
              <a:ext uri="{FF2B5EF4-FFF2-40B4-BE49-F238E27FC236}">
                <a16:creationId xmlns:a16="http://schemas.microsoft.com/office/drawing/2014/main" id="{30872038-7D0F-D28A-73AF-F55CAFAD17E8}"/>
              </a:ext>
            </a:extLst>
          </p:cNvPr>
          <p:cNvSpPr/>
          <p:nvPr/>
        </p:nvSpPr>
        <p:spPr>
          <a:xfrm>
            <a:off x="695325" y="1625073"/>
            <a:ext cx="5287479" cy="2006600"/>
          </a:xfrm>
          <a:prstGeom prst="roundRect">
            <a:avLst>
              <a:gd name="adj" fmla="val 5000"/>
            </a:avLst>
          </a:prstGeom>
          <a:solidFill>
            <a:srgbClr val="EEF5F8"/>
          </a:solidFill>
          <a:ln>
            <a:noFill/>
          </a:ln>
        </p:spPr>
        <p:txBody>
          <a:bodyPr wrap="square" lIns="152400" tIns="482600" rIns="152400" bIns="101600" anchor="t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Google ADK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b="1">
                <a:solidFill>
                  <a:srgbClr val="005176"/>
                </a:solidFill>
              </a:rPr>
              <a:t>Why: </a:t>
            </a:r>
            <a:r>
              <a:rPr lang="en-US" sz="1400">
                <a:solidFill>
                  <a:srgbClr val="3C3C3C"/>
                </a:solidFill>
              </a:rPr>
              <a:t>Native multi-agent support, tool calling &amp; session state out of the box</a:t>
            </a:r>
          </a:p>
          <a:p>
            <a:pPr algn="l">
              <a:buNone/>
            </a:pPr>
            <a:r>
              <a:rPr lang="en-US" sz="1400" b="1">
                <a:solidFill>
                  <a:srgbClr val="005176"/>
                </a:solidFill>
              </a:rPr>
              <a:t>Trade-off: </a:t>
            </a:r>
            <a:r>
              <a:rPr lang="en-US" sz="1400">
                <a:solidFill>
                  <a:srgbClr val="3C3C3C"/>
                </a:solidFill>
              </a:rPr>
              <a:t>Framework lock-in vs. raw LLM APIs</a:t>
            </a:r>
          </a:p>
        </p:txBody>
      </p:sp>
      <p:sp>
        <p:nvSpPr>
          <p:cNvPr id="275" name="ADR Chip 6">
            <a:extLst>
              <a:ext uri="{FF2B5EF4-FFF2-40B4-BE49-F238E27FC236}">
                <a16:creationId xmlns:a16="http://schemas.microsoft.com/office/drawing/2014/main" id="{26FDFB6C-59E2-F266-5AE4-4881FE2B791C}"/>
              </a:ext>
            </a:extLst>
          </p:cNvPr>
          <p:cNvSpPr/>
          <p:nvPr/>
        </p:nvSpPr>
        <p:spPr>
          <a:xfrm>
            <a:off x="831849" y="1807530"/>
            <a:ext cx="787400" cy="279400"/>
          </a:xfrm>
          <a:prstGeom prst="roundRect">
            <a:avLst>
              <a:gd name="adj" fmla="val 50000"/>
            </a:avLst>
          </a:prstGeom>
          <a:solidFill>
            <a:srgbClr val="00517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</a:rPr>
              <a:t>ADR-01</a:t>
            </a:r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00A0466-65DE-1C3C-C435-9295D7854A31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3322972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C464-19F2-5E19-926D-2CB2FC23D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E97DA-D97B-B9EE-20E8-7ECF47B5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Resolved Pain Points &amp; Business Impact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F84ED7-1477-345B-1C3B-53B4DFFE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230" name="Header Resolved pain points"/>
          <p:cNvSpPr/>
          <p:nvPr/>
        </p:nvSpPr>
        <p:spPr>
          <a:xfrm>
            <a:off x="685800" y="1752246"/>
            <a:ext cx="607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600" b="1">
                <a:solidFill>
                  <a:srgbClr val="005176"/>
                </a:solidFill>
              </a:rPr>
              <a:t>Resolved pain points</a:t>
            </a:r>
          </a:p>
        </p:txBody>
      </p:sp>
      <p:sp>
        <p:nvSpPr>
          <p:cNvPr id="231" name="Header Business impact"/>
          <p:cNvSpPr/>
          <p:nvPr/>
        </p:nvSpPr>
        <p:spPr>
          <a:xfrm>
            <a:off x="6959600" y="1752246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600" b="1">
                <a:solidFill>
                  <a:srgbClr val="005176"/>
                </a:solidFill>
              </a:rPr>
              <a:t>Business impact</a:t>
            </a:r>
          </a:p>
        </p:txBody>
      </p:sp>
      <p:sp>
        <p:nvSpPr>
          <p:cNvPr id="240" name="Pain Card 1"/>
          <p:cNvSpPr/>
          <p:nvPr/>
        </p:nvSpPr>
        <p:spPr>
          <a:xfrm>
            <a:off x="685800" y="2158646"/>
            <a:ext cx="6070600" cy="8890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584200" tIns="76200" rIns="152400" bIns="7620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Arriving late to meetings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Predictive rerouting hours before disruptions hit</a:t>
            </a:r>
          </a:p>
        </p:txBody>
      </p:sp>
      <p:sp>
        <p:nvSpPr>
          <p:cNvPr id="241" name="Pain Card 2"/>
          <p:cNvSpPr/>
          <p:nvPr/>
        </p:nvSpPr>
        <p:spPr>
          <a:xfrm>
            <a:off x="685800" y="3136546"/>
            <a:ext cx="6070600" cy="8890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584200" tIns="76200" rIns="152400" bIns="7620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Stress during delays &amp; missed transfers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Autopilot replans proactively – traveler just confirms</a:t>
            </a:r>
          </a:p>
        </p:txBody>
      </p:sp>
      <p:sp>
        <p:nvSpPr>
          <p:cNvPr id="242" name="Pain Card 3"/>
          <p:cNvSpPr/>
          <p:nvPr/>
        </p:nvSpPr>
        <p:spPr>
          <a:xfrm>
            <a:off x="685800" y="4114446"/>
            <a:ext cx="6070600" cy="8890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584200" tIns="76200" rIns="152400" bIns="7620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Manual search &amp; rebooking effort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Ranked alternatives booked across the DB ecosystem</a:t>
            </a:r>
          </a:p>
        </p:txBody>
      </p:sp>
      <p:sp>
        <p:nvSpPr>
          <p:cNvPr id="243" name="Pain Card 4"/>
          <p:cNvSpPr/>
          <p:nvPr/>
        </p:nvSpPr>
        <p:spPr>
          <a:xfrm>
            <a:off x="685800" y="5092346"/>
            <a:ext cx="6070600" cy="8890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584200" tIns="76200" rIns="152400" bIns="7620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05176"/>
                </a:solidFill>
              </a:rPr>
              <a:t>Compensation requires manual claims</a:t>
            </a:r>
          </a:p>
          <a:p>
            <a:pPr algn="l">
              <a:buNone/>
            </a:pPr>
            <a:r>
              <a:rPr lang="en-US" sz="1400">
                <a:solidFill>
                  <a:srgbClr val="3C3C3C"/>
                </a:solidFill>
              </a:rPr>
              <a:t>Passenger rights claims detected &amp; filed automatically</a:t>
            </a:r>
          </a:p>
        </p:txBody>
      </p:sp>
      <p:sp>
        <p:nvSpPr>
          <p:cNvPr id="250" name="Impact Card For DB"/>
          <p:cNvSpPr/>
          <p:nvPr/>
        </p:nvSpPr>
        <p:spPr>
          <a:xfrm>
            <a:off x="6959600" y="2158645"/>
            <a:ext cx="4686300" cy="3756025"/>
          </a:xfrm>
          <a:prstGeom prst="roundRect">
            <a:avLst>
              <a:gd name="adj" fmla="val 0"/>
            </a:avLst>
          </a:prstGeom>
          <a:solidFill>
            <a:srgbClr val="005176"/>
          </a:solidFill>
          <a:ln>
            <a:noFill/>
          </a:ln>
        </p:spPr>
        <p:txBody>
          <a:bodyPr wrap="square" lIns="177800" tIns="127000" rIns="558800" bIns="10160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FFFFFF"/>
                </a:solidFill>
              </a:rPr>
              <a:t>For DB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endParaRPr lang="en-US" sz="1400" b="1">
              <a:solidFill>
                <a:srgbClr val="FFFFFF"/>
              </a:solidFill>
            </a:endParaRP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400" b="1">
                <a:solidFill>
                  <a:srgbClr val="FFFFFF"/>
                </a:solidFill>
              </a:rPr>
              <a:t>Turn stress into loyalty – </a:t>
            </a:r>
            <a:r>
              <a:rPr lang="en-US" sz="1400">
                <a:solidFill>
                  <a:srgbClr val="FFFFFF"/>
                </a:solidFill>
              </a:rPr>
              <a:t>every solved disruption becomes a </a:t>
            </a:r>
            <a:r>
              <a:rPr lang="en-US" sz="1400" err="1">
                <a:solidFill>
                  <a:srgbClr val="FFFFFF"/>
                </a:solidFill>
              </a:rPr>
              <a:t>BahnBonus</a:t>
            </a:r>
            <a:r>
              <a:rPr lang="en-US" sz="1400">
                <a:solidFill>
                  <a:srgbClr val="FFFFFF"/>
                </a:solidFill>
              </a:rPr>
              <a:t> engagement moment</a:t>
            </a:r>
            <a:endParaRPr lang="en-US" sz="1400" b="1">
              <a:solidFill>
                <a:srgbClr val="FFFFFF"/>
              </a:solidFill>
            </a:endParaRP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b="1">
                <a:solidFill>
                  <a:srgbClr val="FFFFFF"/>
                </a:solidFill>
              </a:rPr>
              <a:t>Keep the top 1 % – </a:t>
            </a:r>
            <a:r>
              <a:rPr lang="en-US" sz="1400">
                <a:solidFill>
                  <a:srgbClr val="FFFFFF"/>
                </a:solidFill>
              </a:rPr>
              <a:t>BC100 &amp; B2B frequent travelers stay instead of defecting to plane or car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b="1">
                <a:solidFill>
                  <a:srgbClr val="FFFFFF"/>
                </a:solidFill>
              </a:rPr>
              <a:t>Own the rescue – </a:t>
            </a:r>
            <a:r>
              <a:rPr lang="en-US" sz="1400">
                <a:solidFill>
                  <a:srgbClr val="FFFFFF"/>
                </a:solidFill>
              </a:rPr>
              <a:t>rebooking via Sprinter, </a:t>
            </a:r>
            <a:r>
              <a:rPr lang="en-US" sz="1400" err="1">
                <a:solidFill>
                  <a:srgbClr val="FFFFFF"/>
                </a:solidFill>
              </a:rPr>
              <a:t>Flinkster</a:t>
            </a:r>
            <a:r>
              <a:rPr lang="en-US" sz="1400">
                <a:solidFill>
                  <a:srgbClr val="FFFFFF"/>
                </a:solidFill>
              </a:rPr>
              <a:t> &amp; partner hotels keeps every euro inside the DB ecosystem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b="1">
                <a:solidFill>
                  <a:srgbClr val="FFFFFF"/>
                </a:solidFill>
              </a:rPr>
              <a:t>Data flywheel – </a:t>
            </a:r>
            <a:r>
              <a:rPr lang="en-US" sz="1400">
                <a:solidFill>
                  <a:srgbClr val="FFFFFF"/>
                </a:solidFill>
              </a:rPr>
              <a:t>every trip sharpens prediction &amp; preference profiles competitors can’t copy</a:t>
            </a:r>
          </a:p>
        </p:txBody>
      </p:sp>
      <p:pic>
        <p:nvPicPr>
          <p:cNvPr id="252" name="Graphic 2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2450746"/>
            <a:ext cx="304800" cy="304800"/>
          </a:xfrm>
          <a:prstGeom prst="rect">
            <a:avLst/>
          </a:prstGeom>
        </p:spPr>
      </p:pic>
      <p:pic>
        <p:nvPicPr>
          <p:cNvPr id="253" name="Graphic 2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3428646"/>
            <a:ext cx="304800" cy="304800"/>
          </a:xfrm>
          <a:prstGeom prst="rect">
            <a:avLst/>
          </a:prstGeom>
        </p:spPr>
      </p:pic>
      <p:pic>
        <p:nvPicPr>
          <p:cNvPr id="254" name="Graphic 2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4406546"/>
            <a:ext cx="304800" cy="304800"/>
          </a:xfrm>
          <a:prstGeom prst="rect">
            <a:avLst/>
          </a:prstGeom>
        </p:spPr>
      </p:pic>
      <p:pic>
        <p:nvPicPr>
          <p:cNvPr id="255" name="Graphic 2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5384446"/>
            <a:ext cx="304800" cy="30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6B145AA-1F58-9900-3A11-C628E7ED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87662">
            <a:off x="11129982" y="2041290"/>
            <a:ext cx="628864" cy="440205"/>
          </a:xfrm>
          <a:prstGeom prst="rect">
            <a:avLst/>
          </a:prstGeom>
        </p:spPr>
      </p:pic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8EA4ACB3-EDE0-AF28-8B9A-723B6EC940B8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419575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78F50-ECA8-1069-34C2-19366395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chemeClr val="accent1"/>
                </a:solidFill>
              </a:rPr>
              <a:t>Naive Baseline </a:t>
            </a:r>
            <a:r>
              <a:rPr lang="de-DE" b="1" err="1">
                <a:solidFill>
                  <a:schemeClr val="accent1"/>
                </a:solidFill>
              </a:rPr>
              <a:t>Comparison</a:t>
            </a:r>
            <a:endParaRPr lang="de-DE" b="1">
              <a:solidFill>
                <a:schemeClr val="accent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FACADE-56CD-F035-77E2-1E0F7385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101" name="Prompt Header"/>
          <p:cNvSpPr/>
          <p:nvPr/>
        </p:nvSpPr>
        <p:spPr>
          <a:xfrm>
            <a:off x="685800" y="1930400"/>
            <a:ext cx="3810000" cy="431800"/>
          </a:xfrm>
          <a:prstGeom prst="roundRect">
            <a:avLst>
              <a:gd name="adj" fmla="val 4000"/>
            </a:avLst>
          </a:prstGeom>
          <a:solidFill>
            <a:srgbClr val="005176"/>
          </a:solidFill>
          <a:ln>
            <a:noFill/>
          </a:ln>
        </p:spPr>
        <p:txBody>
          <a:bodyPr wrap="square" lIns="91440" tIns="68580" rIns="91440" bIns="68580" anchor="ctr">
            <a:norm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105" name="Answer Header"/>
          <p:cNvSpPr/>
          <p:nvPr/>
        </p:nvSpPr>
        <p:spPr>
          <a:xfrm>
            <a:off x="4694238" y="1930400"/>
            <a:ext cx="6946900" cy="431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</p:spPr>
        <p:txBody>
          <a:bodyPr wrap="square" lIns="91440" tIns="68580" rIns="91440" bIns="68580" anchor="ctr">
            <a:normAutofit/>
          </a:bodyPr>
          <a:lstStyle/>
          <a:p>
            <a:r>
              <a:rPr lang="de-DE" sz="1400" b="1">
                <a:solidFill>
                  <a:srgbClr val="FFFFFF"/>
                </a:solidFill>
              </a:rPr>
              <a:t>ANSWER — CLAUDE Sonnet 4.6</a:t>
            </a:r>
          </a:p>
        </p:txBody>
      </p:sp>
      <p:sp>
        <p:nvSpPr>
          <p:cNvPr id="7" name="Impact Card For DB">
            <a:extLst>
              <a:ext uri="{FF2B5EF4-FFF2-40B4-BE49-F238E27FC236}">
                <a16:creationId xmlns:a16="http://schemas.microsoft.com/office/drawing/2014/main" id="{72683BAB-6163-8EA0-223A-E9A1CBABE730}"/>
              </a:ext>
            </a:extLst>
          </p:cNvPr>
          <p:cNvSpPr/>
          <p:nvPr/>
        </p:nvSpPr>
        <p:spPr>
          <a:xfrm>
            <a:off x="4699000" y="2560466"/>
            <a:ext cx="6946900" cy="3564633"/>
          </a:xfrm>
          <a:prstGeom prst="roundRect">
            <a:avLst>
              <a:gd name="adj" fmla="val 0"/>
            </a:avLst>
          </a:prstGeom>
          <a:solidFill>
            <a:srgbClr val="005176"/>
          </a:solidFill>
          <a:ln>
            <a:noFill/>
          </a:ln>
        </p:spPr>
        <p:txBody>
          <a:bodyPr wrap="square" lIns="177800" tIns="127000" rIns="558800" bIns="10160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de-DE" sz="1500" b="1">
                <a:solidFill>
                  <a:srgbClr val="FFFFFF"/>
                </a:solidFill>
              </a:rPr>
              <a:t>I </a:t>
            </a:r>
            <a:r>
              <a:rPr lang="de-DE" sz="1500" b="1" err="1">
                <a:solidFill>
                  <a:srgbClr val="FFFFFF"/>
                </a:solidFill>
              </a:rPr>
              <a:t>can't</a:t>
            </a:r>
            <a:r>
              <a:rPr lang="de-DE" sz="1500" b="1">
                <a:solidFill>
                  <a:srgbClr val="FFFFFF"/>
                </a:solidFill>
              </a:rPr>
              <a:t> </a:t>
            </a:r>
            <a:r>
              <a:rPr lang="de-DE" sz="1500" b="1" err="1">
                <a:solidFill>
                  <a:srgbClr val="FFFFFF"/>
                </a:solidFill>
              </a:rPr>
              <a:t>actually</a:t>
            </a:r>
            <a:r>
              <a:rPr lang="de-DE" sz="1500" b="1">
                <a:solidFill>
                  <a:srgbClr val="FFFFFF"/>
                </a:solidFill>
              </a:rPr>
              <a:t> </a:t>
            </a:r>
            <a:r>
              <a:rPr lang="de-DE" sz="1500" b="1" err="1">
                <a:solidFill>
                  <a:srgbClr val="FFFFFF"/>
                </a:solidFill>
              </a:rPr>
              <a:t>help</a:t>
            </a:r>
            <a:r>
              <a:rPr lang="de-DE" sz="1500" b="1">
                <a:solidFill>
                  <a:srgbClr val="FFFFFF"/>
                </a:solidFill>
              </a:rPr>
              <a:t> </a:t>
            </a:r>
            <a:r>
              <a:rPr lang="de-DE" sz="1500" b="1" err="1">
                <a:solidFill>
                  <a:srgbClr val="FFFFFF"/>
                </a:solidFill>
              </a:rPr>
              <a:t>with</a:t>
            </a:r>
            <a:r>
              <a:rPr lang="de-DE" sz="1500" b="1">
                <a:solidFill>
                  <a:srgbClr val="FFFFFF"/>
                </a:solidFill>
              </a:rPr>
              <a:t> </a:t>
            </a:r>
            <a:r>
              <a:rPr lang="de-DE" sz="1500" b="1" err="1">
                <a:solidFill>
                  <a:srgbClr val="FFFFFF"/>
                </a:solidFill>
              </a:rPr>
              <a:t>this</a:t>
            </a:r>
            <a:r>
              <a:rPr lang="de-DE" sz="1500" b="1">
                <a:solidFill>
                  <a:srgbClr val="FFFFFF"/>
                </a:solidFill>
              </a:rPr>
              <a:t> </a:t>
            </a:r>
            <a:r>
              <a:rPr lang="de-DE" sz="1500" b="1" err="1">
                <a:solidFill>
                  <a:srgbClr val="FFFFFF"/>
                </a:solidFill>
              </a:rPr>
              <a:t>right</a:t>
            </a:r>
            <a:r>
              <a:rPr lang="de-DE" sz="1500" b="1">
                <a:solidFill>
                  <a:srgbClr val="FFFFFF"/>
                </a:solidFill>
              </a:rPr>
              <a:t> </a:t>
            </a:r>
            <a:r>
              <a:rPr lang="de-DE" sz="1500" b="1" err="1">
                <a:solidFill>
                  <a:srgbClr val="FFFFFF"/>
                </a:solidFill>
              </a:rPr>
              <a:t>now</a:t>
            </a:r>
            <a:r>
              <a:rPr lang="de-DE" sz="1500" b="1">
                <a:solidFill>
                  <a:srgbClr val="FFFFFF"/>
                </a:solidFill>
              </a:rPr>
              <a:t>.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buNone/>
            </a:pPr>
            <a:r>
              <a:rPr lang="de-DE" sz="1200" b="1" spc="60">
                <a:solidFill>
                  <a:srgbClr val="FFE1DE"/>
                </a:solidFill>
              </a:rPr>
              <a:t>WHY — NO ACCESS TO</a:t>
            </a:r>
          </a:p>
          <a:p>
            <a:pPr marL="171450" indent="-171450" algn="l">
              <a:spcAft>
                <a:spcPts val="100"/>
              </a:spcAft>
              <a:buFont typeface="Arial"/>
              <a:buChar char="•"/>
            </a:pPr>
            <a:r>
              <a:rPr lang="de-DE" sz="1150">
                <a:solidFill>
                  <a:srgbClr val="FFFFFF"/>
                </a:solidFill>
              </a:rPr>
              <a:t>Real-time </a:t>
            </a:r>
            <a:r>
              <a:rPr lang="de-DE" sz="1150" err="1">
                <a:solidFill>
                  <a:srgbClr val="FFFFFF"/>
                </a:solidFill>
              </a:rPr>
              <a:t>train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data</a:t>
            </a:r>
            <a:r>
              <a:rPr lang="de-DE" sz="1150">
                <a:solidFill>
                  <a:srgbClr val="FFFFFF"/>
                </a:solidFill>
              </a:rPr>
              <a:t> (</a:t>
            </a:r>
            <a:r>
              <a:rPr lang="de-DE" sz="1150" err="1">
                <a:solidFill>
                  <a:srgbClr val="FFFFFF"/>
                </a:solidFill>
              </a:rPr>
              <a:t>delays</a:t>
            </a:r>
            <a:r>
              <a:rPr lang="de-DE" sz="1150">
                <a:solidFill>
                  <a:srgbClr val="FFFFFF"/>
                </a:solidFill>
              </a:rPr>
              <a:t>, live </a:t>
            </a:r>
            <a:r>
              <a:rPr lang="de-DE" sz="1150" err="1">
                <a:solidFill>
                  <a:srgbClr val="FFFFFF"/>
                </a:solidFill>
              </a:rPr>
              <a:t>schedules</a:t>
            </a:r>
            <a:r>
              <a:rPr lang="de-DE" sz="1150">
                <a:solidFill>
                  <a:srgbClr val="FFFFFF"/>
                </a:solidFill>
              </a:rPr>
              <a:t>)</a:t>
            </a:r>
          </a:p>
          <a:p>
            <a:pPr marL="171450" indent="-171450" algn="l">
              <a:spcAft>
                <a:spcPts val="100"/>
              </a:spcAft>
              <a:buFont typeface="Arial"/>
              <a:buChar char="•"/>
            </a:pPr>
            <a:r>
              <a:rPr lang="de-DE" sz="1150">
                <a:solidFill>
                  <a:srgbClr val="FFFFFF"/>
                </a:solidFill>
              </a:rPr>
              <a:t>DB (Deutsche Bahn) live </a:t>
            </a:r>
            <a:r>
              <a:rPr lang="de-DE" sz="1150" err="1">
                <a:solidFill>
                  <a:srgbClr val="FFFFFF"/>
                </a:solidFill>
              </a:rPr>
              <a:t>departures</a:t>
            </a:r>
            <a:endParaRPr lang="de-DE" sz="1150">
              <a:solidFill>
                <a:srgbClr val="FFFFFF"/>
              </a:solidFill>
            </a:endParaRPr>
          </a:p>
          <a:p>
            <a:pPr marL="171450" indent="-171450" algn="l">
              <a:spcAft>
                <a:spcPts val="100"/>
              </a:spcAft>
              <a:buFont typeface="Arial"/>
              <a:buChar char="•"/>
            </a:pPr>
            <a:r>
              <a:rPr lang="de-DE" sz="1150" err="1">
                <a:solidFill>
                  <a:srgbClr val="FFFFFF"/>
                </a:solidFill>
              </a:rPr>
              <a:t>Your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location</a:t>
            </a:r>
            <a:r>
              <a:rPr lang="de-DE" sz="1150">
                <a:solidFill>
                  <a:srgbClr val="FFFFFF"/>
                </a:solidFill>
              </a:rPr>
              <a:t>, </a:t>
            </a:r>
            <a:r>
              <a:rPr lang="de-DE" sz="1150" err="1">
                <a:solidFill>
                  <a:srgbClr val="FFFFFF"/>
                </a:solidFill>
              </a:rPr>
              <a:t>or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the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delay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length</a:t>
            </a:r>
            <a:endParaRPr lang="de-DE" sz="115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  <a:spcAft>
                <a:spcPts val="100"/>
              </a:spcAft>
              <a:buNone/>
            </a:pPr>
            <a:r>
              <a:rPr lang="de-DE" sz="1200" b="1" spc="60">
                <a:solidFill>
                  <a:srgbClr val="FFE1DE"/>
                </a:solidFill>
              </a:rPr>
              <a:t>WHAT TO DO NOW</a:t>
            </a:r>
          </a:p>
          <a:p>
            <a:pPr marL="171450" indent="-171450" algn="l">
              <a:spcAft>
                <a:spcPts val="100"/>
              </a:spcAft>
              <a:buFont typeface="Arial"/>
              <a:buChar char="•"/>
            </a:pPr>
            <a:r>
              <a:rPr lang="de-DE" sz="1150" b="1">
                <a:solidFill>
                  <a:srgbClr val="FFFFFF"/>
                </a:solidFill>
              </a:rPr>
              <a:t>Check </a:t>
            </a:r>
            <a:r>
              <a:rPr lang="de-DE" sz="1150" b="1" err="1">
                <a:solidFill>
                  <a:srgbClr val="FFFFFF"/>
                </a:solidFill>
              </a:rPr>
              <a:t>now</a:t>
            </a:r>
            <a:r>
              <a:rPr lang="de-DE" sz="1150" b="1">
                <a:solidFill>
                  <a:srgbClr val="FFFFFF"/>
                </a:solidFill>
              </a:rPr>
              <a:t>: </a:t>
            </a:r>
            <a:r>
              <a:rPr lang="de-DE" sz="1150">
                <a:solidFill>
                  <a:srgbClr val="FFFFFF"/>
                </a:solidFill>
              </a:rPr>
              <a:t>DB Navigator / bahn.de </a:t>
            </a:r>
            <a:r>
              <a:rPr lang="de-DE" sz="1150" err="1">
                <a:solidFill>
                  <a:srgbClr val="FFFFFF"/>
                </a:solidFill>
              </a:rPr>
              <a:t>for</a:t>
            </a:r>
            <a:r>
              <a:rPr lang="de-DE" sz="1150">
                <a:solidFill>
                  <a:srgbClr val="FFFFFF"/>
                </a:solidFill>
              </a:rPr>
              <a:t> live </a:t>
            </a:r>
            <a:r>
              <a:rPr lang="de-DE" sz="1150" err="1">
                <a:solidFill>
                  <a:srgbClr val="FFFFFF"/>
                </a:solidFill>
              </a:rPr>
              <a:t>connections</a:t>
            </a:r>
            <a:r>
              <a:rPr lang="de-DE" sz="1150">
                <a:solidFill>
                  <a:srgbClr val="FFFFFF"/>
                </a:solidFill>
              </a:rPr>
              <a:t>; </a:t>
            </a:r>
            <a:r>
              <a:rPr lang="de-DE" sz="1150" err="1">
                <a:solidFill>
                  <a:srgbClr val="FFFFFF"/>
                </a:solidFill>
              </a:rPr>
              <a:t>ask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staff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for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the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estimated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arrival</a:t>
            </a:r>
            <a:endParaRPr lang="de-DE" sz="1150">
              <a:solidFill>
                <a:srgbClr val="FFFFFF"/>
              </a:solidFill>
            </a:endParaRPr>
          </a:p>
          <a:p>
            <a:pPr marL="171450" indent="-171450" algn="l">
              <a:spcAft>
                <a:spcPts val="100"/>
              </a:spcAft>
              <a:buFont typeface="Arial"/>
              <a:buChar char="•"/>
            </a:pPr>
            <a:r>
              <a:rPr lang="de-DE" sz="1150" b="1">
                <a:solidFill>
                  <a:srgbClr val="FFFFFF"/>
                </a:solidFill>
              </a:rPr>
              <a:t>Call DB: </a:t>
            </a:r>
            <a:r>
              <a:rPr lang="de-DE" sz="1150">
                <a:solidFill>
                  <a:srgbClr val="FFFFFF"/>
                </a:solidFill>
              </a:rPr>
              <a:t>0800 150 7090 (</a:t>
            </a:r>
            <a:r>
              <a:rPr lang="de-DE" sz="1150" err="1">
                <a:solidFill>
                  <a:srgbClr val="FFFFFF"/>
                </a:solidFill>
              </a:rPr>
              <a:t>free</a:t>
            </a:r>
            <a:r>
              <a:rPr lang="de-DE" sz="1150">
                <a:solidFill>
                  <a:srgbClr val="FFFFFF"/>
                </a:solidFill>
              </a:rPr>
              <a:t>, 24/7) </a:t>
            </a:r>
            <a:r>
              <a:rPr lang="de-DE" sz="1150" err="1">
                <a:solidFill>
                  <a:srgbClr val="FFFFFF"/>
                </a:solidFill>
              </a:rPr>
              <a:t>to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rebook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the</a:t>
            </a:r>
            <a:r>
              <a:rPr lang="de-DE" sz="1150">
                <a:solidFill>
                  <a:srgbClr val="FFFFFF"/>
                </a:solidFill>
              </a:rPr>
              <a:t> fastest route</a:t>
            </a:r>
          </a:p>
          <a:p>
            <a:pPr marL="171450" indent="-171450" algn="l">
              <a:spcAft>
                <a:spcPts val="100"/>
              </a:spcAft>
              <a:buFont typeface="Arial"/>
              <a:buChar char="•"/>
            </a:pPr>
            <a:r>
              <a:rPr lang="de-DE" sz="1150" b="1">
                <a:solidFill>
                  <a:srgbClr val="FFFFFF"/>
                </a:solidFill>
              </a:rPr>
              <a:t>Alternatives: </a:t>
            </a:r>
            <a:r>
              <a:rPr lang="de-DE" sz="1150" err="1">
                <a:solidFill>
                  <a:srgbClr val="FFFFFF"/>
                </a:solidFill>
              </a:rPr>
              <a:t>earlier</a:t>
            </a:r>
            <a:r>
              <a:rPr lang="de-DE" sz="1150">
                <a:solidFill>
                  <a:srgbClr val="FFFFFF"/>
                </a:solidFill>
              </a:rPr>
              <a:t> ICE </a:t>
            </a:r>
            <a:r>
              <a:rPr lang="de-DE" sz="1150" err="1">
                <a:solidFill>
                  <a:srgbClr val="FFFFFF"/>
                </a:solidFill>
              </a:rPr>
              <a:t>or</a:t>
            </a:r>
            <a:r>
              <a:rPr lang="de-DE" sz="1150">
                <a:solidFill>
                  <a:srgbClr val="FFFFFF"/>
                </a:solidFill>
              </a:rPr>
              <a:t> a </a:t>
            </a:r>
            <a:r>
              <a:rPr lang="de-DE" sz="1150" err="1">
                <a:solidFill>
                  <a:srgbClr val="FFFFFF"/>
                </a:solidFill>
              </a:rPr>
              <a:t>flight</a:t>
            </a:r>
            <a:r>
              <a:rPr lang="de-DE" sz="1150">
                <a:solidFill>
                  <a:srgbClr val="FFFFFF"/>
                </a:solidFill>
              </a:rPr>
              <a:t> (</a:t>
            </a:r>
            <a:r>
              <a:rPr lang="de-DE" sz="1150" err="1">
                <a:solidFill>
                  <a:srgbClr val="FFFFFF"/>
                </a:solidFill>
              </a:rPr>
              <a:t>Munich→Berlin</a:t>
            </a:r>
            <a:r>
              <a:rPr lang="de-DE" sz="1150">
                <a:solidFill>
                  <a:srgbClr val="FFFFFF"/>
                </a:solidFill>
              </a:rPr>
              <a:t> ~1h); alert </a:t>
            </a:r>
            <a:r>
              <a:rPr lang="de-DE" sz="1150" err="1">
                <a:solidFill>
                  <a:srgbClr val="FFFFFF"/>
                </a:solidFill>
              </a:rPr>
              <a:t>your</a:t>
            </a:r>
            <a:r>
              <a:rPr lang="de-DE" sz="1150">
                <a:solidFill>
                  <a:srgbClr val="FFFFFF"/>
                </a:solidFill>
              </a:rPr>
              <a:t> Berlin </a:t>
            </a:r>
            <a:r>
              <a:rPr lang="de-DE" sz="1150" err="1">
                <a:solidFill>
                  <a:srgbClr val="FFFFFF"/>
                </a:solidFill>
              </a:rPr>
              <a:t>contact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now</a:t>
            </a:r>
            <a:endParaRPr lang="de-DE" sz="1150">
              <a:solidFill>
                <a:srgbClr val="FFFFFF"/>
              </a:solidFill>
            </a:endParaRPr>
          </a:p>
          <a:p>
            <a:pPr marL="171450" indent="-171450" algn="l">
              <a:spcAft>
                <a:spcPts val="100"/>
              </a:spcAft>
              <a:buFont typeface="Arial"/>
              <a:buChar char="•"/>
            </a:pPr>
            <a:r>
              <a:rPr lang="de-DE" sz="1150" b="1" err="1">
                <a:solidFill>
                  <a:srgbClr val="FFFFFF"/>
                </a:solidFill>
              </a:rPr>
              <a:t>Compensation</a:t>
            </a:r>
            <a:r>
              <a:rPr lang="de-DE" sz="1150" b="1">
                <a:solidFill>
                  <a:srgbClr val="FFFFFF"/>
                </a:solidFill>
              </a:rPr>
              <a:t>: </a:t>
            </a:r>
            <a:r>
              <a:rPr lang="de-DE" sz="1150" err="1">
                <a:solidFill>
                  <a:srgbClr val="FFFFFF"/>
                </a:solidFill>
              </a:rPr>
              <a:t>delay</a:t>
            </a:r>
            <a:r>
              <a:rPr lang="de-DE" sz="1150">
                <a:solidFill>
                  <a:srgbClr val="FFFFFF"/>
                </a:solidFill>
              </a:rPr>
              <a:t> &gt;60min </a:t>
            </a:r>
            <a:r>
              <a:rPr lang="de-DE" sz="1150" err="1">
                <a:solidFill>
                  <a:srgbClr val="FFFFFF"/>
                </a:solidFill>
              </a:rPr>
              <a:t>qualifies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under</a:t>
            </a:r>
            <a:r>
              <a:rPr lang="de-DE" sz="1150">
                <a:solidFill>
                  <a:srgbClr val="FFFFFF"/>
                </a:solidFill>
              </a:rPr>
              <a:t> EU </a:t>
            </a:r>
            <a:r>
              <a:rPr lang="de-DE" sz="1150" err="1">
                <a:solidFill>
                  <a:srgbClr val="FFFFFF"/>
                </a:solidFill>
              </a:rPr>
              <a:t>rail</a:t>
            </a:r>
            <a:r>
              <a:rPr lang="de-DE" sz="1150">
                <a:solidFill>
                  <a:srgbClr val="FFFFFF"/>
                </a:solidFill>
              </a:rPr>
              <a:t> </a:t>
            </a:r>
            <a:r>
              <a:rPr lang="de-DE" sz="1150" err="1">
                <a:solidFill>
                  <a:srgbClr val="FFFFFF"/>
                </a:solidFill>
              </a:rPr>
              <a:t>rules</a:t>
            </a:r>
            <a:endParaRPr lang="de-DE" sz="115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  <a:buNone/>
            </a:pPr>
            <a:r>
              <a:rPr lang="de-DE" sz="1150" b="1" i="1" err="1">
                <a:solidFill>
                  <a:srgbClr val="FFFFFF"/>
                </a:solidFill>
              </a:rPr>
              <a:t>To</a:t>
            </a:r>
            <a:r>
              <a:rPr lang="de-DE" sz="1150" b="1" i="1">
                <a:solidFill>
                  <a:srgbClr val="FFFFFF"/>
                </a:solidFill>
              </a:rPr>
              <a:t> plan </a:t>
            </a:r>
            <a:r>
              <a:rPr lang="de-DE" sz="1150" b="1" i="1" err="1">
                <a:solidFill>
                  <a:srgbClr val="FFFFFF"/>
                </a:solidFill>
              </a:rPr>
              <a:t>properly</a:t>
            </a:r>
            <a:r>
              <a:rPr lang="de-DE" sz="1150" b="1" i="1">
                <a:solidFill>
                  <a:srgbClr val="FFFFFF"/>
                </a:solidFill>
              </a:rPr>
              <a:t>: </a:t>
            </a:r>
            <a:r>
              <a:rPr lang="de-DE" sz="1150" b="1" i="1" err="1">
                <a:solidFill>
                  <a:srgbClr val="FFFFFF"/>
                </a:solidFill>
              </a:rPr>
              <a:t>what</a:t>
            </a:r>
            <a:r>
              <a:rPr lang="de-DE" sz="1150" b="1" i="1">
                <a:solidFill>
                  <a:srgbClr val="FFFFFF"/>
                </a:solidFill>
              </a:rPr>
              <a:t> time </a:t>
            </a:r>
            <a:r>
              <a:rPr lang="de-DE" sz="1150" b="1" i="1" err="1">
                <a:solidFill>
                  <a:srgbClr val="FFFFFF"/>
                </a:solidFill>
              </a:rPr>
              <a:t>is</a:t>
            </a:r>
            <a:r>
              <a:rPr lang="de-DE" sz="1150" b="1" i="1">
                <a:solidFill>
                  <a:srgbClr val="FFFFFF"/>
                </a:solidFill>
              </a:rPr>
              <a:t> </a:t>
            </a:r>
            <a:r>
              <a:rPr lang="de-DE" sz="1150" b="1" i="1" err="1">
                <a:solidFill>
                  <a:srgbClr val="FFFFFF"/>
                </a:solidFill>
              </a:rPr>
              <a:t>it</a:t>
            </a:r>
            <a:r>
              <a:rPr lang="de-DE" sz="1150" b="1" i="1">
                <a:solidFill>
                  <a:srgbClr val="FFFFFF"/>
                </a:solidFill>
              </a:rPr>
              <a:t> </a:t>
            </a:r>
            <a:r>
              <a:rPr lang="de-DE" sz="1150" b="1" i="1" err="1">
                <a:solidFill>
                  <a:srgbClr val="FFFFFF"/>
                </a:solidFill>
              </a:rPr>
              <a:t>now</a:t>
            </a:r>
            <a:r>
              <a:rPr lang="de-DE" sz="1150" b="1" i="1">
                <a:solidFill>
                  <a:srgbClr val="FFFFFF"/>
                </a:solidFill>
              </a:rPr>
              <a:t>, and </a:t>
            </a:r>
            <a:r>
              <a:rPr lang="de-DE" sz="1150" b="1" i="1" err="1">
                <a:solidFill>
                  <a:srgbClr val="FFFFFF"/>
                </a:solidFill>
              </a:rPr>
              <a:t>how</a:t>
            </a:r>
            <a:r>
              <a:rPr lang="de-DE" sz="1150" b="1" i="1">
                <a:solidFill>
                  <a:srgbClr val="FFFFFF"/>
                </a:solidFill>
              </a:rPr>
              <a:t> </a:t>
            </a:r>
            <a:r>
              <a:rPr lang="de-DE" sz="1150" b="1" i="1" err="1">
                <a:solidFill>
                  <a:srgbClr val="FFFFFF"/>
                </a:solidFill>
              </a:rPr>
              <a:t>delayed</a:t>
            </a:r>
            <a:r>
              <a:rPr lang="de-DE" sz="1150" b="1" i="1">
                <a:solidFill>
                  <a:srgbClr val="FFFFFF"/>
                </a:solidFill>
              </a:rPr>
              <a:t> </a:t>
            </a:r>
            <a:r>
              <a:rPr lang="de-DE" sz="1150" b="1" i="1" err="1">
                <a:solidFill>
                  <a:srgbClr val="FFFFFF"/>
                </a:solidFill>
              </a:rPr>
              <a:t>is</a:t>
            </a:r>
            <a:r>
              <a:rPr lang="de-DE" sz="1150" b="1" i="1">
                <a:solidFill>
                  <a:srgbClr val="FFFFFF"/>
                </a:solidFill>
              </a:rPr>
              <a:t> </a:t>
            </a:r>
            <a:r>
              <a:rPr lang="de-DE" sz="1150" b="1" i="1" err="1">
                <a:solidFill>
                  <a:srgbClr val="FFFFFF"/>
                </a:solidFill>
              </a:rPr>
              <a:t>the</a:t>
            </a:r>
            <a:r>
              <a:rPr lang="de-DE" sz="1150" b="1" i="1">
                <a:solidFill>
                  <a:srgbClr val="FFFFFF"/>
                </a:solidFill>
              </a:rPr>
              <a:t> </a:t>
            </a:r>
            <a:r>
              <a:rPr lang="de-DE" sz="1150" b="1" i="1" err="1">
                <a:solidFill>
                  <a:srgbClr val="FFFFFF"/>
                </a:solidFill>
              </a:rPr>
              <a:t>train</a:t>
            </a:r>
            <a:r>
              <a:rPr lang="de-DE" sz="1150" b="1" i="1">
                <a:solidFill>
                  <a:srgbClr val="FFFFFF"/>
                </a:solidFill>
              </a:rPr>
              <a:t>? Always </a:t>
            </a:r>
            <a:r>
              <a:rPr lang="de-DE" sz="1150" b="1" i="1" err="1">
                <a:solidFill>
                  <a:srgbClr val="FFFFFF"/>
                </a:solidFill>
              </a:rPr>
              <a:t>verify</a:t>
            </a:r>
            <a:r>
              <a:rPr lang="de-DE" sz="1150" b="1" i="1">
                <a:solidFill>
                  <a:srgbClr val="FFFFFF"/>
                </a:solidFill>
              </a:rPr>
              <a:t> </a:t>
            </a:r>
            <a:r>
              <a:rPr lang="de-DE" sz="1150" b="1" i="1" err="1">
                <a:solidFill>
                  <a:srgbClr val="FFFFFF"/>
                </a:solidFill>
              </a:rPr>
              <a:t>with</a:t>
            </a:r>
            <a:r>
              <a:rPr lang="de-DE" sz="1150" b="1" i="1">
                <a:solidFill>
                  <a:srgbClr val="FFFFFF"/>
                </a:solidFill>
              </a:rPr>
              <a:t> DB </a:t>
            </a:r>
            <a:r>
              <a:rPr lang="de-DE" sz="1150" b="1" i="1" err="1">
                <a:solidFill>
                  <a:srgbClr val="FFFFFF"/>
                </a:solidFill>
              </a:rPr>
              <a:t>for</a:t>
            </a:r>
            <a:r>
              <a:rPr lang="de-DE" sz="1150" b="1" i="1">
                <a:solidFill>
                  <a:srgbClr val="FFFFFF"/>
                </a:solidFill>
              </a:rPr>
              <a:t> live </a:t>
            </a:r>
            <a:r>
              <a:rPr lang="de-DE" sz="1150" b="1" i="1" err="1">
                <a:solidFill>
                  <a:srgbClr val="FFFFFF"/>
                </a:solidFill>
              </a:rPr>
              <a:t>data</a:t>
            </a:r>
            <a:r>
              <a:rPr lang="de-DE" sz="1150" b="1" i="1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" name="Pain Card 1">
            <a:extLst>
              <a:ext uri="{FF2B5EF4-FFF2-40B4-BE49-F238E27FC236}">
                <a16:creationId xmlns:a16="http://schemas.microsoft.com/office/drawing/2014/main" id="{BA0BA361-E9A8-C1BD-BEE0-194F55A25FCF}"/>
              </a:ext>
            </a:extLst>
          </p:cNvPr>
          <p:cNvSpPr/>
          <p:nvPr/>
        </p:nvSpPr>
        <p:spPr>
          <a:xfrm>
            <a:off x="685800" y="1930400"/>
            <a:ext cx="3810000" cy="431800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584200" tIns="76200" rIns="152400" bIns="7620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>
                <a:solidFill>
                  <a:srgbClr val="3C3C3C"/>
                </a:solidFill>
              </a:rPr>
              <a:t>PROMPT</a:t>
            </a:r>
          </a:p>
        </p:txBody>
      </p:sp>
      <p:sp>
        <p:nvSpPr>
          <p:cNvPr id="11" name="Pain Card 1">
            <a:extLst>
              <a:ext uri="{FF2B5EF4-FFF2-40B4-BE49-F238E27FC236}">
                <a16:creationId xmlns:a16="http://schemas.microsoft.com/office/drawing/2014/main" id="{63DCFD9F-7FCD-04D0-8B34-54012AA18824}"/>
              </a:ext>
            </a:extLst>
          </p:cNvPr>
          <p:cNvSpPr/>
          <p:nvPr/>
        </p:nvSpPr>
        <p:spPr>
          <a:xfrm>
            <a:off x="685800" y="2560466"/>
            <a:ext cx="3810000" cy="3564632"/>
          </a:xfrm>
          <a:prstGeom prst="roundRect">
            <a:avLst>
              <a:gd name="adj" fmla="val 0"/>
            </a:avLst>
          </a:prstGeom>
          <a:solidFill>
            <a:srgbClr val="EEF5F8"/>
          </a:solidFill>
          <a:ln>
            <a:noFill/>
          </a:ln>
        </p:spPr>
        <p:txBody>
          <a:bodyPr wrap="square" lIns="584200" tIns="76200" rIns="152400" bIns="76200" anchor="ctr">
            <a:normAutofit/>
          </a:bodyPr>
          <a:lstStyle/>
          <a:p>
            <a:r>
              <a:rPr lang="en-US" i="1">
                <a:solidFill>
                  <a:schemeClr val="tx1">
                    <a:lumMod val="65000"/>
                    <a:lumOff val="35000"/>
                  </a:schemeClr>
                </a:solidFill>
              </a:rPr>
              <a:t>My ICE 1006 from Munich to Berlin is heavily delayed, and I have an important on-site meeting in Berlin at 14:00. Please assess the situation, find the best alternative, and tell me what I should do.</a:t>
            </a:r>
            <a:endParaRPr lang="de-DE" sz="1400" i="1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A5B08FE-E019-5A7E-50AC-53F694C53542}"/>
              </a:ext>
            </a:extLst>
          </p:cNvPr>
          <p:cNvGrpSpPr>
            <a:grpSpLocks noChangeAspect="1"/>
          </p:cNvGrpSpPr>
          <p:nvPr/>
        </p:nvGrpSpPr>
        <p:grpSpPr>
          <a:xfrm>
            <a:off x="10623909" y="1582796"/>
            <a:ext cx="1308920" cy="1310536"/>
            <a:chOff x="3282696" y="809244"/>
            <a:chExt cx="713232" cy="71323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378CDBA-C907-0AB9-FA74-8D78CB259515}"/>
                </a:ext>
              </a:extLst>
            </p:cNvPr>
            <p:cNvSpPr/>
            <p:nvPr/>
          </p:nvSpPr>
          <p:spPr>
            <a:xfrm>
              <a:off x="3282696" y="809244"/>
              <a:ext cx="713232" cy="713232"/>
            </a:xfrm>
            <a:prstGeom prst="ellipse">
              <a:avLst/>
            </a:prstGeom>
            <a:solidFill>
              <a:srgbClr val="F0F1F3"/>
            </a:solidFill>
            <a:ln w="15875">
              <a:solidFill>
                <a:srgbClr val="DB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b="1">
                <a:latin typeface="Albert Sans Black" pitchFamily="2" charset="77"/>
              </a:endParaRPr>
            </a:p>
          </p:txBody>
        </p:sp>
        <p:pic>
          <p:nvPicPr>
            <p:cNvPr id="6" name="Picture 78" descr="claude.png">
              <a:extLst>
                <a:ext uri="{FF2B5EF4-FFF2-40B4-BE49-F238E27FC236}">
                  <a16:creationId xmlns:a16="http://schemas.microsoft.com/office/drawing/2014/main" id="{94B550B5-D301-4D1A-A99D-B9D27A0FD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8144" y="964692"/>
              <a:ext cx="402336" cy="402336"/>
            </a:xfrm>
            <a:prstGeom prst="rect">
              <a:avLst/>
            </a:prstGeom>
          </p:spPr>
        </p:pic>
      </p:grp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09818EF2-3F3A-2986-DF39-BDFC25E0A5F5}"/>
              </a:ext>
            </a:extLst>
          </p:cNvPr>
          <p:cNvSpPr txBox="1">
            <a:spLocks/>
          </p:cNvSpPr>
          <p:nvPr/>
        </p:nvSpPr>
        <p:spPr>
          <a:xfrm>
            <a:off x="10079335" y="6318361"/>
            <a:ext cx="79387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22.07.2026</a:t>
            </a:r>
          </a:p>
        </p:txBody>
      </p:sp>
    </p:spTree>
    <p:extLst>
      <p:ext uri="{BB962C8B-B14F-4D97-AF65-F5344CB8AC3E}">
        <p14:creationId xmlns:p14="http://schemas.microsoft.com/office/powerpoint/2010/main" val="15868238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</p:tagLst>
</file>

<file path=ppt/theme/theme1.xml><?xml version="1.0" encoding="utf-8"?>
<a:theme xmlns:a="http://schemas.openxmlformats.org/drawingml/2006/main" name="Office">
  <a:themeElements>
    <a:clrScheme name="Benutzerdefiniert 2">
      <a:dk1>
        <a:srgbClr val="000000"/>
      </a:dk1>
      <a:lt1>
        <a:srgbClr val="FFFFFF"/>
      </a:lt1>
      <a:dk2>
        <a:srgbClr val="005176"/>
      </a:dk2>
      <a:lt2>
        <a:srgbClr val="005176"/>
      </a:lt2>
      <a:accent1>
        <a:srgbClr val="005176"/>
      </a:accent1>
      <a:accent2>
        <a:srgbClr val="00A1C0"/>
      </a:accent2>
      <a:accent3>
        <a:srgbClr val="00A1C0"/>
      </a:accent3>
      <a:accent4>
        <a:srgbClr val="E05A52"/>
      </a:accent4>
      <a:accent5>
        <a:srgbClr val="E05A52"/>
      </a:accent5>
      <a:accent6>
        <a:srgbClr val="E05A52"/>
      </a:accent6>
      <a:hlink>
        <a:srgbClr val="00A1C0"/>
      </a:hlink>
      <a:folHlink>
        <a:srgbClr val="E05A52"/>
      </a:folHlink>
    </a:clrScheme>
    <a:fontScheme name="UzK 2023">
      <a:majorFont>
        <a:latin typeface="Albert Sans"/>
        <a:ea typeface=""/>
        <a:cs typeface=""/>
      </a:majorFont>
      <a:minorFont>
        <a:latin typeface="Alber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zK_PPT-Master_230201" id="{B5418ECA-8C0A-8F41-8796-9ECF9392E09D}" vid="{F9A25019-F941-2746-8D73-6550E2F1187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ACDAC6C-6418-6247-9873-6A917D23FD6C}">
  <we:reference id="wa200010725" version="1.0.0.1" store="de-DE" storeType="OMEX"/>
  <we:alternateReferences>
    <we:reference id="WA200010725" version="1.0.0.1" store="" storeType="OMEX"/>
  </we:alternateReferences>
  <we:properties>
    <we:property name="claude.fileId" value="&quot;e3444d62-4a09-452d-a216-021e28a826b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3B574CF-10D1-44DC-A478-EC92A3D3743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63c1bbf-ae06-4d9f-a05a-e14da8ef3b2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1450</Words>
  <Application>Microsoft Macintosh PowerPoint</Application>
  <PresentationFormat>Breitbild</PresentationFormat>
  <Paragraphs>326</Paragraphs>
  <Slides>18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Arial</vt:lpstr>
      <vt:lpstr>Albert Sans SemiBold</vt:lpstr>
      <vt:lpstr>Albert Sans Black</vt:lpstr>
      <vt:lpstr>Calibri</vt:lpstr>
      <vt:lpstr>Albert Sans Medium</vt:lpstr>
      <vt:lpstr>Office</vt:lpstr>
      <vt:lpstr>Project Presentation</vt:lpstr>
      <vt:lpstr>The Team</vt:lpstr>
      <vt:lpstr>RECAP &amp; PLAN</vt:lpstr>
      <vt:lpstr>Our vision across 6 dimensions</vt:lpstr>
      <vt:lpstr>Project Plan across 6 Feature Streams and 1 Tech Stream</vt:lpstr>
      <vt:lpstr>OUR Solution</vt:lpstr>
      <vt:lpstr>Our Architecture employs a Multi-Agent-Setup</vt:lpstr>
      <vt:lpstr>Our Architecture employs a Multi-Agent-Setup</vt:lpstr>
      <vt:lpstr>Deep Dive Data Sources</vt:lpstr>
      <vt:lpstr>DEMO</vt:lpstr>
      <vt:lpstr>Demo</vt:lpstr>
      <vt:lpstr>OUTLOOK</vt:lpstr>
      <vt:lpstr>Outlook</vt:lpstr>
      <vt:lpstr>Thank you!</vt:lpstr>
      <vt:lpstr>Backup</vt:lpstr>
      <vt:lpstr>Architectural Decisions</vt:lpstr>
      <vt:lpstr>Resolved Pain Points &amp; Business Impact</vt:lpstr>
      <vt:lpstr>Naive Baseline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Sophia Bernhöft</dc:creator>
  <cp:lastModifiedBy>Hendrik Mehl</cp:lastModifiedBy>
  <cp:revision>4</cp:revision>
  <dcterms:created xsi:type="dcterms:W3CDTF">2023-01-31T13:16:58Z</dcterms:created>
  <dcterms:modified xsi:type="dcterms:W3CDTF">2026-08-06T08:22:35Z</dcterms:modified>
</cp:coreProperties>
</file>